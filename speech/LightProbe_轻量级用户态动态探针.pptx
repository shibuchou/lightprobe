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57" r:id="rId7"/>
    <p:sldId id="258" r:id="rId8"/>
    <p:sldId id="259" r:id="rId9"/>
    <p:sldId id="274"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本页是项目的标题页，展示了项目名称“LightProbe”以及核心定位“轻量级用户态动态探针”。</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设计上采用了明亮的科技风格，背景使用浅灰色渐变，营造专业、现代的视觉感受。标题使用深蓝色突出重点，副标题使用中蓝色呼应，核心价值描述简洁明了，突出了“无侵入、动态采集”的技术优势。</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底部标注了参赛队伍和赛题方向，整体布局平衡，辅以科技感的图标和渐变装饰元素，增强了页面的层次感和视觉吸引力。</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这一页主要介绍了项目的背景和当前面临的核心痛点。</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我们从四个维度进行了分析：</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 </a:t>
            </a:r>
            <a:r>
              <a:rPr lang="en-US" sz="1400" b="0" i="0" u="none" strike="noStrike">
                <a:solidFill>
                  <a:srgbClr val="000000"/>
                </a:solidFill>
              </a:rPr>
              <a:t>性能开销方面：传统的内核探针技术在高并发场景下会显著放大</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CPU</a:t>
            </a:r>
            <a:r>
              <a:rPr lang="en-US" sz="1400" b="0" i="0" u="none" strike="noStrike">
                <a:solidFill>
                  <a:srgbClr val="000000"/>
                </a:solidFill>
              </a:rPr>
              <a:t>和尾延迟压力。</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 </a:t>
            </a:r>
            <a:r>
              <a:rPr lang="en-US" sz="1400" b="0" i="0" u="none" strike="noStrike">
                <a:solidFill>
                  <a:srgbClr val="000000"/>
                </a:solidFill>
              </a:rPr>
              <a:t>调试信息方面：日志只能看到表面现象，缺乏函数入参、返回值等关键现场信息，故障复现难。</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3. </a:t>
            </a:r>
            <a:r>
              <a:rPr lang="en-US" sz="1400" b="0" i="0" u="none" strike="noStrike">
                <a:solidFill>
                  <a:srgbClr val="000000"/>
                </a:solidFill>
              </a:rPr>
              <a:t>生产变更方面：线上环境无法随意修改代码或重启服务，排查手段受限。</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4. </a:t>
            </a:r>
            <a:r>
              <a:rPr lang="en-US" sz="1400" b="0" i="0" u="none" strike="noStrike">
                <a:solidFill>
                  <a:srgbClr val="000000"/>
                </a:solidFill>
              </a:rPr>
              <a:t>观测深度方面：现有的监控只能告诉我们哪里慢，但无法解释为什么慢，缺乏根因分析的依据。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本页介绍了项目的核心目标与价值。</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左侧是我们的四大核心目标：首先是技术上不依赖内核 uprobe，避免内核兼容性问题；其次是降低门槛，无需编写 BPF 程序；第三是实现了纯用户态的动态探针，保证了系统的安全性；最后是提供了全维度的数据采集，包括参数、返回值和耗时。</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右侧展示了项目带来的三大核心价值：更低的系统开销，减少了CPU压力；更快的问题定位，通过完整的现场数据直击根源；以及更低的实施风险，做到了对业务代码零侵入、观测无残留。</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这一页我们来详细对比传统排查方式与LightProbe智能方案的排障链路。</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左侧是大家熟悉的传统方式，流程非常被动：告警来了，只有干巴巴的指标，日志往往不全；想复现，偶发问题很难稳定重现；只能去改代码加日志，这个过程需要走评审、等发布窗口，周期很长；等发布完了，故障现场早就丢失了，排查陷入死循环。</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而右侧使用LightProbe的方案，实现了根本性的变革：告警发生时，我们可以直接锁定目标进程和函数；通过动态Attach技术，在不重启服务的情况下安全注入探针；实时采集函数的入参、返回值和堆栈上下文，完整还原现场；采集完成后Detach，业务自动恢复，没有任何侵入和残留。</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总结来说，LightProbe帮助我们保全了故障现场，省去了繁琐的部署动作，极大地缩短了从告警到根因的定位路径，真正做到了分钟级排障。</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本页展示了系统的核心架构设计。</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我们采用了面向用户的简化架构思维，将底层复杂的 Controller、Injector 和 Runtime 逻辑进行了抽象封装，合并为用户可直观理解的能力层。</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页面中央的架构图清晰展示了从“企业用户与业务系统”的输入，经过“观测与自动化”的处理，再到“轻量 Runtime”的执行，最终实现“企业观测价值”输出的完整流程。</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底部总结了架构的三大核心优势：极简的接入层设计降低了使用门槛；轻量的运行时引擎保证了系统的低侵入性；全链路的价值输出则直接为业务提供了决策依据。</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本页PPT通过左右对比的方式，清晰展示了企业在传统观测方式下的六大核心痛点，以及LightProbe技术带来的针对性解决方案。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左侧痛点主要集中在效率低（如定位难、发版繁琐）、成本高（如CPU损耗、存储膨胀）以及风险不可控（如操作无治理）等方面。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右侧解决方案则一一对应，通过动态探针、零侵入注入、高性能路径、按需采集、全上下文关联以及系统化治理，全面解决了传统方式的弊端，实现了高效、轻量、安全的系统观测与治理。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这一页展示了LightProbe为企业带来的五大核心商业价值，涵盖了效率、成本、风险控制等多个维度。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缩短MTTR：这是最直观的收益，通过减少故障排查的循环，直接挽回业务损失。</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降低CPU成本：技术层面的优化，减少内核态切换，实实在在节省服务器资源。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减少发版风险：这是中间最核心的价值点，将“诊断发版”转化为“动态采集”，从根本上规避了变更风险。</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4. 压缩日志成本：按需采集代替全量日志，显著降低存储和运维成本。</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5. 提升人力效率：解放研发和SRE的精力，让他们能专注于更有价值的工作。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总结来说，无论是中型企业还是大型核心系统，LightProbe都能带来可观的年化收益和风险规避价值。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这一页我们来详细介绍 LightProbe 的六大核心应用场景，这些场景覆盖了从开发、测试到运维、安全的全生命周期。</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**线上故障定位**：这是最直接的应用。在业务出现异常时，不需要重启服务，就能实时采集关键函数的参数和返回值，快速定位问题，而不是盲目查看日志。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**灰度发布验证**：新版本上线时，我们可以只对少量机器开启探针，观测核心逻辑的执行情况，用数据说话，确保新版本稳定后再放量。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**性能压测分析**：在压测期间，我们可以深入到函数内部，分析参数分布对性能的影响，找到真正的性能瓶颈。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4. **第三方 SDK 黑盒观测**：对于闭源的 SDK 或中间件，我们无法看到源码，但通过 LightProbe 可以在动态调用层观测其行为，解决“黑盒”依赖的排查难题。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5. **安全应急取证**：在发生疑似安全事件时，我们可以通过探针低侵入地获取关键函数的调用证据，而不会破坏现场。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6. **容量和成本优化**：最后，我们还可以利用探针来评估监控系统本身带来的开销，或者分析热点业务的真实负载，从而优化资源配置，降低成本。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这一页主要展示了不同规模企业引入 lightprobe 后的综合 ROI 收益测算。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我们将企业分为三类：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研发效率型（小型团队）：主要收益在于减少无效发版和缩短故障定位时间，年化收益在10-50万，适合快速落地。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中型互联/金融科技企业：收益来源更全面，包括MTTR、资源成本、日志成本等，年化收益在100-500万，通常首年就能回本。</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大型交易/核心系统企业：这类企业故障成本极高，收益主要体现在止损和规模效应上，年化收益可达500万以上，甚至数千万。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需要注意的是，这是基于模型的测算，实际收益需要结合企业自身的POC数据来验证。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这一页展示了系统的核心执行流程，这是一个典型的动态插桩技术的生命周期管理。</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首先是上方的7个关键步骤：从Attach进程开始，我们首先冻结线程以确保环境稳定，然后进行符号解析定位目标函数。接着注入我们的代理逻辑（Trampoline），并Patch目标函数入口实现指令劫持。在运行时，我们通过代理逻辑采集关键事件数据，最后在完成监控后，Detach并恢复进程的原始指令，确保系统无残留运行。</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在页面下方，我们将执行路径分为了三类：</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 </a:t>
            </a:r>
            <a:r>
              <a:rPr lang="en-US" sz="1400" b="0" i="0" u="none" strike="noStrike">
                <a:solidFill>
                  <a:srgbClr val="000000"/>
                </a:solidFill>
              </a:rPr>
              <a:t>冷路径：这是初始化阶段，开销是一次性的。</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 </a:t>
            </a:r>
            <a:r>
              <a:rPr lang="en-US" sz="1400" b="0" i="0" u="none" strike="noStrike">
                <a:solidFill>
                  <a:srgbClr val="000000"/>
                </a:solidFill>
              </a:rPr>
              <a:t>热路径：这是用户态的核心执行流，我们做了极致的优化以减少性能损耗。</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3. </a:t>
            </a:r>
            <a:r>
              <a:rPr lang="en-US" sz="1400" b="0" i="0" u="none" strike="noStrike">
                <a:solidFill>
                  <a:srgbClr val="000000"/>
                </a:solidFill>
              </a:rPr>
              <a:t>事件路径：完全异步的数据处理，确保不影响主业务。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本页展示了LightProbe工具的CLI功能设计。</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左侧模拟了真实的终端操作界面，展示了核心命令的使用方式，包括attach（挂载）、detach（卸载）、enable/disable（探针启停）、events（事件查看）以及list（探针列表）。这些命令设计简洁直观，符合Linux用户的操作习惯。</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右侧列出了F1-F7的核心功能特性：</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 F1-F4 </a:t>
            </a:r>
            <a:r>
              <a:rPr lang="en-US" sz="1400" b="0" i="0" u="none" strike="noStrike">
                <a:solidFill>
                  <a:srgbClr val="000000"/>
                </a:solidFill>
              </a:rPr>
              <a:t>关注基础能力：动态插入、参数采集、返回探针和安全清理，确保了探针的可用性和安全性。</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 F5-F7 </a:t>
            </a:r>
            <a:r>
              <a:rPr lang="en-US" sz="1400" b="0" i="0" u="none" strike="noStrike">
                <a:solidFill>
                  <a:srgbClr val="000000"/>
                </a:solidFill>
              </a:rPr>
              <a:t>关注高级特性：动态开关、多探针聚合和多线程感知，满足复杂业务场景的调试需求。</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Songti SC"/>
                <a:ea typeface="Songti SC"/>
                <a:cs typeface="Songti SC"/>
                <a:sym typeface="Songti SC"/>
              </a:rPr>
              <a:t>整体设计强调了工具的易用性、安全性和轻量级特性。</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这一页主要介绍了 Entry Probe 的核心实现机制。</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在左侧，我们列出了三个关键的技术点：</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 </a:t>
            </a:r>
            <a:r>
              <a:rPr lang="en-US" sz="1400" b="0" i="0" u="none" strike="noStrike">
                <a:solidFill>
                  <a:srgbClr val="000000"/>
                </a:solidFill>
              </a:rPr>
              <a:t>遵循</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ABI </a:t>
            </a:r>
            <a:r>
              <a:rPr lang="en-US" sz="1400" b="0" i="0" u="none" strike="noStrike">
                <a:solidFill>
                  <a:srgbClr val="000000"/>
                </a:solidFill>
              </a:rPr>
              <a:t>规范捕获参数：我们严格按照</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x86_64 System V </a:t>
            </a:r>
            <a:r>
              <a:rPr lang="en-US" sz="1400" b="0" i="0" u="none" strike="noStrike">
                <a:solidFill>
                  <a:srgbClr val="000000"/>
                </a:solidFill>
              </a:rPr>
              <a:t>调用约定，从寄存器中直接获取前</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6 </a:t>
            </a:r>
            <a:r>
              <a:rPr lang="en-US" sz="1400" b="0" i="0" u="none" strike="noStrike">
                <a:solidFill>
                  <a:srgbClr val="000000"/>
                </a:solidFill>
              </a:rPr>
              <a:t>个参数，保证了参数获取的准确性和完整性。</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 </a:t>
            </a:r>
            <a:r>
              <a:rPr lang="en-US" sz="1400" b="0" i="0" u="none" strike="noStrike">
                <a:solidFill>
                  <a:srgbClr val="000000"/>
                </a:solidFill>
              </a:rPr>
              <a:t>全链路元数据记录：在探针触发的那一刻，我们会同步记录下进程</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ID</a:t>
            </a:r>
            <a:r>
              <a:rPr lang="en-US" sz="1400" b="0" i="0" u="none" strike="noStrike">
                <a:solidFill>
                  <a:srgbClr val="000000"/>
                </a:solidFill>
              </a:rPr>
              <a:t>、线程</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ID </a:t>
            </a:r>
            <a:r>
              <a:rPr lang="en-US" sz="1400" b="0" i="0" u="none" strike="noStrike">
                <a:solidFill>
                  <a:srgbClr val="000000"/>
                </a:solidFill>
              </a:rPr>
              <a:t>以及高精度的时间戳，这为后续的问题排查提供了完整的上下文。</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3. </a:t>
            </a:r>
            <a:r>
              <a:rPr lang="en-US" sz="1400" b="0" i="0" u="none" strike="noStrike">
                <a:solidFill>
                  <a:srgbClr val="000000"/>
                </a:solidFill>
              </a:rPr>
              <a:t>高效写入</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Ring Buffer</a:t>
            </a:r>
            <a:r>
              <a:rPr lang="en-US" sz="1400" b="0" i="0" u="none" strike="noStrike">
                <a:solidFill>
                  <a:srgbClr val="000000"/>
                </a:solidFill>
              </a:rPr>
              <a:t>：为了减少对业务性能的影响，我们采用了无锁的环形缓冲区机制，将数据直接写入共享内存，避免了昂贵的内核态与用户态数据拷贝。</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Songti SC"/>
                <a:ea typeface="Songti SC"/>
                <a:cs typeface="Songti SC"/>
                <a:sym typeface="Songti SC"/>
              </a:rPr>
              <a:t>在右侧，上方是 Ring Buffer 的工作示意图，展示了读写指针如何协同工作，实现无锁的并发读写。下方是核心的汇编伪代码，展示了如何在 Entry Stub 中高效地完成参数捕获和数据写入的逻辑。</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这一页我们详细讲解Return Probe（返回探针）的核心实现机制。</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首先看左侧的三个关键技术点：</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 </a:t>
            </a:r>
            <a:r>
              <a:rPr lang="en-US" sz="1400" b="0" i="0" u="none" strike="noStrike">
                <a:solidFill>
                  <a:srgbClr val="000000"/>
                </a:solidFill>
              </a:rPr>
              <a:t>捕获返回值：利用</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x86_64</a:t>
            </a:r>
            <a:r>
              <a:rPr lang="en-US" sz="1400" b="0" i="0" u="none" strike="noStrike">
                <a:solidFill>
                  <a:srgbClr val="000000"/>
                </a:solidFill>
              </a:rPr>
              <a:t>架构特性，函数返回值默认保存在</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RAX</a:t>
            </a:r>
            <a:r>
              <a:rPr lang="en-US" sz="1400" b="0" i="0" u="none" strike="noStrike">
                <a:solidFill>
                  <a:srgbClr val="000000"/>
                </a:solidFill>
              </a:rPr>
              <a:t>寄存器中，探针在返回时拦截该寄存器即可获取数据。</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 </a:t>
            </a:r>
            <a:r>
              <a:rPr lang="en-US" sz="1400" b="0" i="0" u="none" strike="noStrike">
                <a:solidFill>
                  <a:srgbClr val="000000"/>
                </a:solidFill>
              </a:rPr>
              <a:t>计算耗时：通过在</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Entry</a:t>
            </a:r>
            <a:r>
              <a:rPr lang="en-US" sz="1400" b="0" i="0" u="none" strike="noStrike">
                <a:solidFill>
                  <a:srgbClr val="000000"/>
                </a:solidFill>
              </a:rPr>
              <a:t>（进入函数）时记录</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T1</a:t>
            </a:r>
            <a:r>
              <a:rPr lang="en-US" sz="1400" b="0" i="0" u="none" strike="noStrike">
                <a:solidFill>
                  <a:srgbClr val="000000"/>
                </a:solidFill>
              </a:rPr>
              <a:t>，</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Return</a:t>
            </a:r>
            <a:r>
              <a:rPr lang="en-US" sz="1400" b="0" i="0" u="none" strike="noStrike">
                <a:solidFill>
                  <a:srgbClr val="000000"/>
                </a:solidFill>
              </a:rPr>
              <a:t>（返回）时记录</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T2</a:t>
            </a:r>
            <a:r>
              <a:rPr lang="en-US" sz="1400" b="0" i="0" u="none" strike="noStrike">
                <a:solidFill>
                  <a:srgbClr val="000000"/>
                </a:solidFill>
              </a:rPr>
              <a:t>，利用</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TSC</a:t>
            </a:r>
            <a:r>
              <a:rPr lang="en-US" sz="1400" b="0" i="0" u="none" strike="noStrike">
                <a:solidFill>
                  <a:srgbClr val="000000"/>
                </a:solidFill>
              </a:rPr>
              <a:t>计数器计算差值，得到纳秒级的精确耗时。</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3. Shadow Stack</a:t>
            </a:r>
            <a:r>
              <a:rPr lang="en-US" sz="1400" b="0" i="0" u="none" strike="noStrike">
                <a:solidFill>
                  <a:srgbClr val="000000"/>
                </a:solidFill>
              </a:rPr>
              <a:t>（影子栈）：这是安全的关键。我们维护一个独立的影子栈，</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Entry</a:t>
            </a:r>
            <a:r>
              <a:rPr lang="en-US" sz="1400" b="0" i="0" u="none" strike="noStrike">
                <a:solidFill>
                  <a:srgbClr val="000000"/>
                </a:solidFill>
              </a:rPr>
              <a:t>时</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Push</a:t>
            </a:r>
            <a:r>
              <a:rPr lang="en-US" sz="1400" b="0" i="0" u="none" strike="noStrike">
                <a:solidFill>
                  <a:srgbClr val="000000"/>
                </a:solidFill>
              </a:rPr>
              <a:t>，</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Return</a:t>
            </a:r>
            <a:r>
              <a:rPr lang="en-US" sz="1400" b="0" i="0" u="none" strike="noStrike">
                <a:solidFill>
                  <a:srgbClr val="000000"/>
                </a:solidFill>
              </a:rPr>
              <a:t>时</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Pop</a:t>
            </a:r>
            <a:r>
              <a:rPr lang="en-US" sz="1400" b="0" i="0" u="none" strike="noStrike">
                <a:solidFill>
                  <a:srgbClr val="000000"/>
                </a:solidFill>
              </a:rPr>
              <a:t>并强制校验，有效防止栈溢出攻击和</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ROP</a:t>
            </a:r>
            <a:r>
              <a:rPr lang="en-US" sz="1400" b="0" i="0" u="none" strike="noStrike">
                <a:solidFill>
                  <a:srgbClr val="000000"/>
                </a:solidFill>
              </a:rPr>
              <a:t>攻击。</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Songti SC"/>
                <a:ea typeface="Songti SC"/>
                <a:cs typeface="Songti SC"/>
                <a:sym typeface="Songti SC"/>
              </a:rPr>
              <a:t>中间部分展示了时序计算模型，通过两个时间戳的减法，消除了探针自身的开销影响。</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右侧展示了影子栈的工作原理，它像一个忠诚的守护者，确保每一次的返回都与进入严格配对，保障了调用链路的完整性和安全性。</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这一页主要介绍了多线程环境下保障系统稳定性的四个核心设计要点。</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 </a:t>
            </a:r>
            <a:r>
              <a:rPr lang="en-US" sz="1400" b="0" i="0" u="none" strike="noStrike">
                <a:solidFill>
                  <a:srgbClr val="000000"/>
                </a:solidFill>
              </a:rPr>
              <a:t>暂停所有线程后</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Patch</a:t>
            </a:r>
            <a:r>
              <a:rPr lang="en-US" sz="1400" b="0" i="0" u="none" strike="noStrike">
                <a:solidFill>
                  <a:srgbClr val="000000"/>
                </a:solidFill>
              </a:rPr>
              <a:t>：这是为了确保原子性，避免在</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Patch</a:t>
            </a:r>
            <a:r>
              <a:rPr lang="en-US" sz="1400" b="0" i="0" u="none" strike="noStrike">
                <a:solidFill>
                  <a:srgbClr val="000000"/>
                </a:solidFill>
              </a:rPr>
              <a:t>过程中，线程执行到一半指令被替换，导致程序崩溃或逻辑混乱。</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 </a:t>
            </a:r>
            <a:r>
              <a:rPr lang="en-US" sz="1400" b="0" i="0" u="none" strike="noStrike">
                <a:solidFill>
                  <a:srgbClr val="000000"/>
                </a:solidFill>
              </a:rPr>
              <a:t>每线程</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Shadow Stack</a:t>
            </a:r>
            <a:r>
              <a:rPr lang="en-US" sz="1400" b="0" i="0" u="none" strike="noStrike">
                <a:solidFill>
                  <a:srgbClr val="000000"/>
                </a:solidFill>
              </a:rPr>
              <a:t>：通过影子栈技术，隔离了每个线程的调用栈数据，有效防御了栈溢出攻击，同时也避免了多线程间的栈数据干扰。</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3. </a:t>
            </a:r>
            <a:r>
              <a:rPr lang="en-US" sz="1400" b="0" i="0" u="none" strike="noStrike">
                <a:solidFill>
                  <a:srgbClr val="000000"/>
                </a:solidFill>
              </a:rPr>
              <a:t>信号压力测试：我们通过主动注入高频信号来模拟恶劣的运行环境，以此来检验系统的鲁棒性，确保在信号风暴下系统依然能够稳定响应。</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4. Detach</a:t>
            </a:r>
            <a:r>
              <a:rPr lang="en-US" sz="1400" b="0" i="0" u="none" strike="noStrike">
                <a:solidFill>
                  <a:srgbClr val="000000"/>
                </a:solidFill>
              </a:rPr>
              <a:t>后恢复原始指令：这是为了保证系统的可逆性。在动态调试或插桩结束后，必须将指令恢复原样，确保后续程序的执行完全符合预期，没有副作用。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这一页展示了我们在项目研发过程中遇到的五大核心技术难点，以及我们最终都成功攻克了这些挑战。</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 **ASLR/PIE </a:t>
            </a:r>
            <a:r>
              <a:rPr lang="en-US" sz="1400" b="0" i="0" u="none" strike="noStrike">
                <a:solidFill>
                  <a:srgbClr val="000000"/>
                </a:solidFill>
              </a:rPr>
              <a:t>地址解析</a:t>
            </a:r>
            <a:r>
              <a:rPr lang="en-US" sz="1400" b="0" i="0" u="none" strike="noStrike">
                <a:solidFill>
                  <a:srgbClr val="000000"/>
                </a:solidFill>
              </a:rPr>
              <a:t>：我们通过精准的基址定位算法，突破了现代操作系统的地址随机化保护机制。</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 **ELF </a:t>
            </a:r>
            <a:r>
              <a:rPr lang="en-US" sz="1400" b="0" i="0" u="none" strike="noStrike">
                <a:solidFill>
                  <a:srgbClr val="000000"/>
                </a:solidFill>
              </a:rPr>
              <a:t>符号解析</a:t>
            </a:r>
            <a:r>
              <a:rPr lang="en-US" sz="1400" b="0" i="0" u="none" strike="noStrike">
                <a:solidFill>
                  <a:srgbClr val="000000"/>
                </a:solidFill>
              </a:rPr>
              <a:t>：我们处理了复杂的</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ELF</a:t>
            </a:r>
            <a:r>
              <a:rPr lang="en-US" sz="1400" b="0" i="0" u="none" strike="noStrike">
                <a:solidFill>
                  <a:srgbClr val="000000"/>
                </a:solidFill>
              </a:rPr>
              <a:t>文件结构，包括静态与动态链接的各种边界情况。</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3. **</a:t>
            </a:r>
            <a:r>
              <a:rPr lang="en-US" sz="1400" b="0" i="0" u="none" strike="noStrike">
                <a:solidFill>
                  <a:srgbClr val="000000"/>
                </a:solidFill>
              </a:rPr>
              <a:t>远程</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mmap**</a:t>
            </a:r>
            <a:r>
              <a:rPr lang="en-US" sz="1400" b="0" i="0" u="none" strike="noStrike">
                <a:solidFill>
                  <a:srgbClr val="000000"/>
                </a:solidFill>
              </a:rPr>
              <a:t>：解决了跨进程内存映射的权限和一致性问题，确保了数据交互的稳定性。</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4. **x86_64 </a:t>
            </a:r>
            <a:r>
              <a:rPr lang="en-US" sz="1400" b="0" i="0" u="none" strike="noStrike">
                <a:solidFill>
                  <a:srgbClr val="000000"/>
                </a:solidFill>
              </a:rPr>
              <a:t>指令长度解析</a:t>
            </a:r>
            <a:r>
              <a:rPr lang="en-US" sz="1400" b="0" i="0" u="none" strike="noStrike">
                <a:solidFill>
                  <a:srgbClr val="000000"/>
                </a:solidFill>
              </a:rPr>
              <a:t>：实现了对变长指令集的精准解码，有效应对了指令混淆技术。</a:t>
            </a:r>
            <a:endParaRPr lang="en-US" sz="1400" b="0" i="0" u="none" strike="noStrike">
              <a:solidFill>
                <a:srgbClr val="000000"/>
              </a:solidFill>
            </a:endParaRPr>
          </a:p>
          <a:p>
            <a:pPr marL="0"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5. **IFUNC </a:t>
            </a:r>
            <a:r>
              <a:rPr lang="en-US" sz="1400" b="0" i="0" u="none" strike="noStrike">
                <a:solidFill>
                  <a:srgbClr val="000000"/>
                </a:solidFill>
              </a:rPr>
              <a:t>函数处理</a:t>
            </a:r>
            <a:r>
              <a:rPr lang="en-US" sz="1400" b="0" i="0" u="none" strike="noStrike">
                <a:solidFill>
                  <a:srgbClr val="000000"/>
                </a:solidFill>
              </a:rPr>
              <a:t>：成功适配了动态函数解析机制，解决了运行时地址绑定的难题。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本页展示了系统的测试验证情况，整体采用了明亮的科技风格。</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左侧分为四个测试维度：基础函数测试确保了核心系统调用的准确性；多线程测试验证了线程安全机制；并发压力测试通过16路探针验证了系统的高负载处理能力；特殊场景测试则覆盖了边界条件与异常恢复，确保系统鲁棒性。</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右侧的统计结果显示，系统在逻辑正确性、运行稳定性和功能覆盖率三个关键指标上均表现优异，特别是在7*24小时的稳定性测试中无任何崩溃或内存泄漏，功能覆盖率达到100%。</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这一页展示了 LightProbe 的核心性能结果，整体表现非常优异。</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首先看上方的两个关键数据：在 WSL2 环境下，entry-only 的单次调用开销仅为 293 纳秒；而包含完整生命周期（entry+return）的开销也控制在 563 纳秒，这说明我们的方案在底层开销上做到了极致。</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再看下方的对比图表，我们将 LightProbe 与 Base 和 Kernel Uprobe 方案进行了对比。可以看到，LightProbe 的耗时柱体最短。在 VM 环境下，相比传统的 uprobe entry 方案，我们的性能提升了约 57%。</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此外，在并发测试中，我们成功实现了 16 个探针的并发挂载与执行，系统依然保持稳定，证明了方案的高并发处理能力。</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本页是对整个项目的总结与未来展望。</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首先是核心创新点，我们成功实现了纯用户态的动态探针，无需内核模块，消除了安全风险。</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在功能完成度上，我们覆盖了Entry/Return拦截、多线程、IFUNC解析等关键技术点，功能完善。</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工程性方面，我们构建了模块化架构、CLI工具链和完整的自动化测试与基准测试体系，保证了工具的可用性。</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未来，我们将致力于优化延迟、解决并发问题，并扩展对ARM等架构的支持，让工具更通用、更高效。</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AutoShape 2"/>
          <p:cNvSpPr/>
          <p:nvPr>
            <p:ph type="body" sz="quarter" idx="6" hasCustomPrompt="1"/>
          </p:nvPr>
        </p:nvSpPr>
        <p:spPr>
          <a:xfrm>
            <a:off x="1143000" y="841772"/>
            <a:ext cx="6858000" cy="1790700"/>
          </a:xfrm>
          <a:prstGeom prst="rect">
            <a:avLst/>
          </a:prstGeom>
          <a:noFill/>
          <a:ln w="12700">
            <a:noFill/>
            <a:prstDash val="solid"/>
          </a:ln>
        </p:spPr>
        <p:txBody>
          <a:bodyPr wrap="square" lIns="68575" tIns="34275" rIns="68575" bIns="34275" anchor="b">
            <a:normAutofit/>
          </a:bodyPr>
          <a:lstStyle>
            <a:lvl1pPr algn="ctr">
              <a:lnSpc>
                <a:spcPct val="92000"/>
              </a:lnSpc>
              <a:defRPr sz="4500" b="1" i="0" u="none" strike="noStrike" spc="0">
                <a:solidFill>
                  <a:srgbClr val="1F2329">
                    <a:alpha val="100000"/>
                  </a:srgbClr>
                </a:solidFill>
                <a:latin typeface="Noto Sans SC" panose="020B0200000000000000" charset="-122"/>
              </a:defRPr>
            </a:lvl1pPr>
          </a:lstStyle>
          <a:p>
            <a:pPr marL="0" indent="0" algn="ctr">
              <a:lnSpc>
                <a:spcPct val="92000"/>
              </a:lnSpc>
            </a:pPr>
            <a:r>
              <a:rPr lang="en-US" sz="45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45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7" hasCustomPrompt="1"/>
          </p:nvPr>
        </p:nvSpPr>
        <p:spPr>
          <a:xfrm>
            <a:off x="1143000" y="2701528"/>
            <a:ext cx="6858000" cy="1241821"/>
          </a:xfrm>
          <a:prstGeom prst="rect">
            <a:avLst/>
          </a:prstGeom>
          <a:noFill/>
          <a:ln w="12700">
            <a:noFill/>
            <a:prstDash val="solid"/>
          </a:ln>
        </p:spPr>
        <p:txBody>
          <a:bodyPr wrap="square" lIns="68575" tIns="34275" rIns="68575" bIns="34275" anchor="t">
            <a:normAutofit/>
          </a:bodyPr>
          <a:lstStyle>
            <a:lvl1pPr algn="ctr">
              <a:lnSpc>
                <a:spcPct val="92000"/>
              </a:lnSpc>
              <a:defRPr sz="1800" b="1" i="0" u="none" strike="noStrike" spc="0">
                <a:solidFill>
                  <a:srgbClr val="1F2329">
                    <a:alpha val="100000"/>
                  </a:srgbClr>
                </a:solidFill>
                <a:latin typeface="Noto Sans SC" panose="020B0200000000000000" charset="-122"/>
              </a:defRPr>
            </a:lvl1pPr>
          </a:lstStyle>
          <a:p>
            <a:pPr marL="457200" indent="-361950" algn="ctr">
              <a:lnSpc>
                <a:spcPct val="92000"/>
              </a:lnSpc>
              <a:spcBef>
                <a:spcPts val="800"/>
              </a:spcBef>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单击此处添加副标题</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6" name="AutoShape 6"/>
          <p:cNvSpPr/>
          <p:nvPr>
            <p:ph type="body" sz="quarter" idx="10"/>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OBJECT">
    <p:spTree>
      <p:nvGrpSpPr>
        <p:cNvPr id="1" name=""/>
        <p:cNvGrpSpPr/>
        <p:nvPr/>
      </p:nvGrpSpPr>
      <p:grpSpPr>
        <a:xfrm>
          <a:off x="0" y="0"/>
          <a:ext cx="0" cy="0"/>
          <a:chOff x="0" y="0"/>
          <a:chExt cx="0" cy="0"/>
        </a:xfrm>
      </p:grpSpPr>
      <p:sp>
        <p:nvSpPr>
          <p:cNvPr id="2" name="AutoShape 2"/>
          <p:cNvSpPr/>
          <p:nvPr>
            <p:ph type="body" sz="quarter" idx="1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2000"/>
              </a:lnSpc>
              <a:defRPr sz="3300" b="1" i="0" u="none" strike="noStrike" spc="0">
                <a:solidFill>
                  <a:srgbClr val="1F2329">
                    <a:alpha val="100000"/>
                  </a:srgbClr>
                </a:solidFill>
                <a:latin typeface="Noto Sans SC" panose="020B0200000000000000" charset="-122"/>
              </a:defRPr>
            </a:lvl1pPr>
          </a:lstStyle>
          <a:p>
            <a:pPr marL="0" indent="0" algn="l">
              <a:lnSpc>
                <a:spcPct val="92000"/>
              </a:lnSpc>
            </a:pPr>
            <a:r>
              <a:rPr lang="en-US" sz="33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33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12" hasCustomPrompt="1"/>
          </p:nvPr>
        </p:nvSpPr>
        <p:spPr>
          <a:xfrm>
            <a:off x="628650" y="1369219"/>
            <a:ext cx="7886700" cy="3263504"/>
          </a:xfrm>
          <a:prstGeom prst="rect">
            <a:avLst/>
          </a:prstGeom>
          <a:noFill/>
          <a:ln w="12700">
            <a:noFill/>
            <a:prstDash val="solid"/>
          </a:ln>
        </p:spPr>
        <p:txBody>
          <a:bodyPr wrap="square" lIns="68575" tIns="34275" rIns="68575" bIns="34275" anchor="t">
            <a:normAutofit/>
          </a:bodyPr>
          <a:lstStyle>
            <a:lvl1pPr algn="l">
              <a:lnSpc>
                <a:spcPct val="92000"/>
              </a:lnSpc>
              <a:defRPr sz="2100" b="0" i="0" u="none" strike="noStrike" spc="0">
                <a:solidFill>
                  <a:srgbClr val="1F2329">
                    <a:alpha val="100000"/>
                  </a:srgbClr>
                </a:solidFill>
                <a:latin typeface="Noto Sans SC" panose="020B0200000000000000" charset="-122"/>
              </a:defRPr>
            </a:lvl1pPr>
          </a:lstStyle>
          <a:p>
            <a:pPr marL="457200" indent="-317500" algn="l">
              <a:lnSpc>
                <a:spcPct val="92000"/>
              </a:lnSpc>
              <a:spcBef>
                <a:spcPts val="800"/>
              </a:spcBef>
            </a:pPr>
            <a:r>
              <a:rPr lang="en-US" sz="21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21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13"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14"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6" name="AutoShape 6"/>
          <p:cNvSpPr/>
          <p:nvPr>
            <p:ph type="body" sz="quarter" idx="15"/>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_HEADER">
    <p:spTree>
      <p:nvGrpSpPr>
        <p:cNvPr id="1" name=""/>
        <p:cNvGrpSpPr/>
        <p:nvPr/>
      </p:nvGrpSpPr>
      <p:grpSpPr>
        <a:xfrm>
          <a:off x="0" y="0"/>
          <a:ext cx="0" cy="0"/>
          <a:chOff x="0" y="0"/>
          <a:chExt cx="0" cy="0"/>
        </a:xfrm>
      </p:grpSpPr>
      <p:sp>
        <p:nvSpPr>
          <p:cNvPr id="2" name="AutoShape 2"/>
          <p:cNvSpPr/>
          <p:nvPr>
            <p:ph type="body" sz="quarter" idx="16" hasCustomPrompt="1"/>
          </p:nvPr>
        </p:nvSpPr>
        <p:spPr>
          <a:xfrm>
            <a:off x="623888" y="1282304"/>
            <a:ext cx="7886700" cy="2139553"/>
          </a:xfrm>
          <a:prstGeom prst="rect">
            <a:avLst/>
          </a:prstGeom>
          <a:noFill/>
          <a:ln w="12700">
            <a:noFill/>
            <a:prstDash val="solid"/>
          </a:ln>
        </p:spPr>
        <p:txBody>
          <a:bodyPr wrap="square" lIns="68575" tIns="34275" rIns="68575" bIns="34275" anchor="b">
            <a:normAutofit/>
          </a:bodyPr>
          <a:lstStyle>
            <a:lvl1pPr algn="l">
              <a:lnSpc>
                <a:spcPct val="92000"/>
              </a:lnSpc>
              <a:defRPr sz="4500" b="1" i="0" u="none" strike="noStrike" spc="0">
                <a:solidFill>
                  <a:srgbClr val="1F2329">
                    <a:alpha val="100000"/>
                  </a:srgbClr>
                </a:solidFill>
                <a:latin typeface="Noto Sans SC" panose="020B0200000000000000" charset="-122"/>
              </a:defRPr>
            </a:lvl1pPr>
          </a:lstStyle>
          <a:p>
            <a:pPr marL="0" indent="0" algn="l">
              <a:lnSpc>
                <a:spcPct val="92000"/>
              </a:lnSpc>
            </a:pPr>
            <a:r>
              <a:rPr lang="en-US" sz="45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45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17" hasCustomPrompt="1"/>
          </p:nvPr>
        </p:nvSpPr>
        <p:spPr>
          <a:xfrm>
            <a:off x="623888" y="3442097"/>
            <a:ext cx="7886700" cy="1125140"/>
          </a:xfrm>
          <a:prstGeom prst="rect">
            <a:avLst/>
          </a:prstGeom>
          <a:noFill/>
          <a:ln w="12700">
            <a:noFill/>
            <a:prstDash val="solid"/>
          </a:ln>
        </p:spPr>
        <p:txBody>
          <a:bodyPr wrap="square" lIns="68575" tIns="34275" rIns="68575" bIns="34275" anchor="t">
            <a:normAutofit/>
          </a:bodyPr>
          <a:lstStyle>
            <a:lvl1pPr algn="l">
              <a:lnSpc>
                <a:spcPct val="92000"/>
              </a:lnSpc>
              <a:defRPr sz="1800" b="0" i="0" u="none" strike="noStrike" spc="0">
                <a:solidFill>
                  <a:srgbClr val="1F2329">
                    <a:alpha val="100000"/>
                  </a:srgbClr>
                </a:solidFill>
                <a:latin typeface="Noto Sans SC" panose="020B0200000000000000" charset="-122"/>
              </a:defRPr>
            </a:lvl1pPr>
          </a:lstStyle>
          <a:p>
            <a:pPr marL="457200" indent="-228600" algn="l">
              <a:lnSpc>
                <a:spcPct val="92000"/>
              </a:lnSpc>
              <a:spcBef>
                <a:spcPts val="800"/>
              </a:spcBef>
            </a:pPr>
            <a:r>
              <a:rPr lang="en-US" sz="1800" b="0" i="0" u="none" strike="noStrike">
                <a:solidFill>
                  <a:srgbClr val="888888"/>
                </a:solidFill>
                <a:latin typeface="Arial" panose="020B0604020202020204"/>
                <a:ea typeface="Arial" panose="020B0604020202020204"/>
                <a:cs typeface="Arial" panose="020B0604020202020204"/>
                <a:sym typeface="Arial" panose="020B0604020202020204"/>
              </a:rPr>
              <a:t>单击此处添加文本</a:t>
            </a:r>
            <a:endParaRPr lang="en-US" sz="18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1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1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6" name="AutoShape 6"/>
          <p:cNvSpPr/>
          <p:nvPr>
            <p:ph type="body" sz="quarter" idx="20"/>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_OBJECTS">
    <p:spTree>
      <p:nvGrpSpPr>
        <p:cNvPr id="1" name=""/>
        <p:cNvGrpSpPr/>
        <p:nvPr/>
      </p:nvGrpSpPr>
      <p:grpSpPr>
        <a:xfrm>
          <a:off x="0" y="0"/>
          <a:ext cx="0" cy="0"/>
          <a:chOff x="0" y="0"/>
          <a:chExt cx="0" cy="0"/>
        </a:xfrm>
      </p:grpSpPr>
      <p:sp>
        <p:nvSpPr>
          <p:cNvPr id="2" name="AutoShape 2"/>
          <p:cNvSpPr/>
          <p:nvPr>
            <p:ph type="body" sz="quarter" idx="2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2000"/>
              </a:lnSpc>
              <a:defRPr sz="3300" b="1" i="0" u="none" strike="noStrike" spc="0">
                <a:solidFill>
                  <a:srgbClr val="1F2329">
                    <a:alpha val="100000"/>
                  </a:srgbClr>
                </a:solidFill>
                <a:latin typeface="Noto Sans SC" panose="020B0200000000000000" charset="-122"/>
              </a:defRPr>
            </a:lvl1pPr>
          </a:lstStyle>
          <a:p>
            <a:pPr marL="0" indent="0" algn="l">
              <a:lnSpc>
                <a:spcPct val="92000"/>
              </a:lnSpc>
            </a:pPr>
            <a:r>
              <a:rPr lang="en-US" sz="33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33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22" hasCustomPrompt="1"/>
          </p:nvPr>
        </p:nvSpPr>
        <p:spPr>
          <a:xfrm>
            <a:off x="628650" y="1369219"/>
            <a:ext cx="3886200" cy="3263504"/>
          </a:xfrm>
          <a:prstGeom prst="rect">
            <a:avLst/>
          </a:prstGeom>
          <a:noFill/>
          <a:ln w="12700">
            <a:noFill/>
            <a:prstDash val="solid"/>
          </a:ln>
        </p:spPr>
        <p:txBody>
          <a:bodyPr wrap="square" lIns="68575" tIns="34275" rIns="68575" bIns="34275" anchor="t">
            <a:normAutofit/>
          </a:bodyPr>
          <a:lstStyle>
            <a:lvl1pPr algn="l">
              <a:lnSpc>
                <a:spcPct val="92000"/>
              </a:lnSpc>
              <a:defRPr sz="2100" b="0" i="0" u="none" strike="noStrike" spc="0">
                <a:solidFill>
                  <a:srgbClr val="1F2329">
                    <a:alpha val="100000"/>
                  </a:srgbClr>
                </a:solidFill>
                <a:latin typeface="Noto Sans SC" panose="020B0200000000000000" charset="-122"/>
              </a:defRPr>
            </a:lvl1pPr>
          </a:lstStyle>
          <a:p>
            <a:pPr marL="457200" indent="-317500" algn="l">
              <a:lnSpc>
                <a:spcPct val="92000"/>
              </a:lnSpc>
              <a:spcBef>
                <a:spcPts val="800"/>
              </a:spcBef>
            </a:pPr>
            <a:r>
              <a:rPr lang="en-US" sz="21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21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23" hasCustomPrompt="1"/>
          </p:nvPr>
        </p:nvSpPr>
        <p:spPr>
          <a:xfrm>
            <a:off x="4629150" y="1369219"/>
            <a:ext cx="3886200" cy="3263504"/>
          </a:xfrm>
          <a:prstGeom prst="rect">
            <a:avLst/>
          </a:prstGeom>
          <a:noFill/>
          <a:ln w="12700">
            <a:noFill/>
            <a:prstDash val="solid"/>
          </a:ln>
        </p:spPr>
        <p:txBody>
          <a:bodyPr wrap="square" lIns="68575" tIns="34275" rIns="68575" bIns="34275" anchor="t">
            <a:normAutofit/>
          </a:bodyPr>
          <a:lstStyle>
            <a:lvl1pPr algn="l">
              <a:lnSpc>
                <a:spcPct val="92000"/>
              </a:lnSpc>
              <a:defRPr sz="2100" b="0" i="0" u="none" strike="noStrike" spc="0">
                <a:solidFill>
                  <a:srgbClr val="1F2329">
                    <a:alpha val="100000"/>
                  </a:srgbClr>
                </a:solidFill>
                <a:latin typeface="Noto Sans SC" panose="020B0200000000000000" charset="-122"/>
              </a:defRPr>
            </a:lvl1pPr>
          </a:lstStyle>
          <a:p>
            <a:pPr marL="457200" indent="-317500" algn="l">
              <a:lnSpc>
                <a:spcPct val="92000"/>
              </a:lnSpc>
              <a:spcBef>
                <a:spcPts val="800"/>
              </a:spcBef>
            </a:pPr>
            <a:r>
              <a:rPr lang="en-US" sz="21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21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24"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6" name="AutoShape 6"/>
          <p:cNvSpPr/>
          <p:nvPr>
            <p:ph type="body" sz="quarter" idx="25"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7" name="AutoShape 7"/>
          <p:cNvSpPr/>
          <p:nvPr>
            <p:ph type="body" sz="quarter" idx="26"/>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WO_OBJECTS_WITH_TEXT">
    <p:spTree>
      <p:nvGrpSpPr>
        <p:cNvPr id="1" name=""/>
        <p:cNvGrpSpPr/>
        <p:nvPr/>
      </p:nvGrpSpPr>
      <p:grpSpPr>
        <a:xfrm>
          <a:off x="0" y="0"/>
          <a:ext cx="0" cy="0"/>
          <a:chOff x="0" y="0"/>
          <a:chExt cx="0" cy="0"/>
        </a:xfrm>
      </p:grpSpPr>
      <p:sp>
        <p:nvSpPr>
          <p:cNvPr id="2" name="AutoShape 2"/>
          <p:cNvSpPr/>
          <p:nvPr>
            <p:ph type="body" sz="quarter" idx="27" hasCustomPrompt="1"/>
          </p:nvPr>
        </p:nvSpPr>
        <p:spPr>
          <a:xfrm>
            <a:off x="629841" y="273844"/>
            <a:ext cx="7886700" cy="994172"/>
          </a:xfrm>
          <a:prstGeom prst="rect">
            <a:avLst/>
          </a:prstGeom>
          <a:noFill/>
          <a:ln w="12700">
            <a:noFill/>
            <a:prstDash val="solid"/>
          </a:ln>
        </p:spPr>
        <p:txBody>
          <a:bodyPr wrap="square" lIns="68575" tIns="34275" rIns="68575" bIns="34275" anchor="ctr">
            <a:normAutofit/>
          </a:bodyPr>
          <a:lstStyle>
            <a:lvl1pPr algn="l">
              <a:lnSpc>
                <a:spcPct val="92000"/>
              </a:lnSpc>
              <a:defRPr sz="3300" b="1" i="0" u="none" strike="noStrike" spc="0">
                <a:solidFill>
                  <a:srgbClr val="1F2329">
                    <a:alpha val="100000"/>
                  </a:srgbClr>
                </a:solidFill>
                <a:latin typeface="Noto Sans SC" panose="020B0200000000000000" charset="-122"/>
              </a:defRPr>
            </a:lvl1pPr>
          </a:lstStyle>
          <a:p>
            <a:pPr marL="0" indent="0" algn="l">
              <a:lnSpc>
                <a:spcPct val="92000"/>
              </a:lnSpc>
            </a:pPr>
            <a:r>
              <a:rPr lang="en-US" sz="33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33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28" hasCustomPrompt="1"/>
          </p:nvPr>
        </p:nvSpPr>
        <p:spPr>
          <a:xfrm>
            <a:off x="629841" y="1260872"/>
            <a:ext cx="3868340" cy="617934"/>
          </a:xfrm>
          <a:prstGeom prst="rect">
            <a:avLst/>
          </a:prstGeom>
          <a:noFill/>
          <a:ln w="12700">
            <a:noFill/>
            <a:prstDash val="solid"/>
          </a:ln>
        </p:spPr>
        <p:txBody>
          <a:bodyPr wrap="square" lIns="68575" tIns="34275" rIns="68575" bIns="34275" anchor="b">
            <a:normAutofit/>
          </a:bodyPr>
          <a:lstStyle>
            <a:lvl1pPr algn="l">
              <a:lnSpc>
                <a:spcPct val="92000"/>
              </a:lnSpc>
              <a:defRPr sz="1800" b="0" i="0" u="none" strike="noStrike" spc="0">
                <a:solidFill>
                  <a:srgbClr val="1F2329">
                    <a:alpha val="100000"/>
                  </a:srgbClr>
                </a:solidFill>
                <a:latin typeface="Noto Sans SC" panose="020B0200000000000000" charset="-122"/>
              </a:defRPr>
            </a:lvl1pPr>
          </a:lstStyle>
          <a:p>
            <a:pPr marL="457200" indent="-228600" algn="l">
              <a:lnSpc>
                <a:spcPct val="92000"/>
              </a:lnSpc>
              <a:spcBef>
                <a:spcPts val="800"/>
              </a:spcBef>
            </a:pPr>
            <a:r>
              <a:rPr lang="en-US" sz="1800" b="1"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18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29" hasCustomPrompt="1"/>
          </p:nvPr>
        </p:nvSpPr>
        <p:spPr>
          <a:xfrm>
            <a:off x="629841" y="1878806"/>
            <a:ext cx="3868340" cy="2763441"/>
          </a:xfrm>
          <a:prstGeom prst="rect">
            <a:avLst/>
          </a:prstGeom>
          <a:noFill/>
          <a:ln w="12700">
            <a:noFill/>
            <a:prstDash val="solid"/>
          </a:ln>
        </p:spPr>
        <p:txBody>
          <a:bodyPr wrap="square" lIns="68575" tIns="34275" rIns="68575" bIns="34275" anchor="t">
            <a:normAutofit/>
          </a:bodyPr>
          <a:lstStyle>
            <a:lvl1pPr algn="l">
              <a:lnSpc>
                <a:spcPct val="92000"/>
              </a:lnSpc>
              <a:defRPr sz="2100" b="0" i="0" u="none" strike="noStrike" spc="0">
                <a:solidFill>
                  <a:srgbClr val="1F2329">
                    <a:alpha val="100000"/>
                  </a:srgbClr>
                </a:solidFill>
                <a:latin typeface="Noto Sans SC" panose="020B0200000000000000" charset="-122"/>
              </a:defRPr>
            </a:lvl1pPr>
          </a:lstStyle>
          <a:p>
            <a:pPr marL="457200" indent="-317500" algn="l">
              <a:lnSpc>
                <a:spcPct val="92000"/>
              </a:lnSpc>
              <a:spcBef>
                <a:spcPts val="800"/>
              </a:spcBef>
            </a:pPr>
            <a:r>
              <a:rPr lang="en-US" sz="21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21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30" hasCustomPrompt="1"/>
          </p:nvPr>
        </p:nvSpPr>
        <p:spPr>
          <a:xfrm>
            <a:off x="4629150" y="1260872"/>
            <a:ext cx="3887391" cy="617934"/>
          </a:xfrm>
          <a:prstGeom prst="rect">
            <a:avLst/>
          </a:prstGeom>
          <a:noFill/>
          <a:ln w="12700">
            <a:noFill/>
            <a:prstDash val="solid"/>
          </a:ln>
        </p:spPr>
        <p:txBody>
          <a:bodyPr wrap="square" lIns="68575" tIns="34275" rIns="68575" bIns="34275" anchor="b">
            <a:normAutofit/>
          </a:bodyPr>
          <a:lstStyle>
            <a:lvl1pPr algn="l">
              <a:lnSpc>
                <a:spcPct val="92000"/>
              </a:lnSpc>
              <a:defRPr sz="1800" b="0" i="0" u="none" strike="noStrike" spc="0">
                <a:solidFill>
                  <a:srgbClr val="1F2329">
                    <a:alpha val="100000"/>
                  </a:srgbClr>
                </a:solidFill>
                <a:latin typeface="Noto Sans SC" panose="020B0200000000000000" charset="-122"/>
              </a:defRPr>
            </a:lvl1pPr>
          </a:lstStyle>
          <a:p>
            <a:pPr marL="457200" indent="-228600" algn="l">
              <a:lnSpc>
                <a:spcPct val="92000"/>
              </a:lnSpc>
              <a:spcBef>
                <a:spcPts val="800"/>
              </a:spcBef>
            </a:pPr>
            <a:r>
              <a:rPr lang="en-US" sz="1800" b="1"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18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AutoShape 6"/>
          <p:cNvSpPr/>
          <p:nvPr>
            <p:ph type="body" sz="quarter" idx="31" hasCustomPrompt="1"/>
          </p:nvPr>
        </p:nvSpPr>
        <p:spPr>
          <a:xfrm>
            <a:off x="4629150" y="1878806"/>
            <a:ext cx="3887391" cy="2763441"/>
          </a:xfrm>
          <a:prstGeom prst="rect">
            <a:avLst/>
          </a:prstGeom>
          <a:noFill/>
          <a:ln w="12700">
            <a:noFill/>
            <a:prstDash val="solid"/>
          </a:ln>
        </p:spPr>
        <p:txBody>
          <a:bodyPr wrap="square" lIns="68575" tIns="34275" rIns="68575" bIns="34275" anchor="t">
            <a:normAutofit/>
          </a:bodyPr>
          <a:lstStyle>
            <a:lvl1pPr algn="l">
              <a:lnSpc>
                <a:spcPct val="92000"/>
              </a:lnSpc>
              <a:defRPr sz="2100" b="0" i="0" u="none" strike="noStrike" spc="0">
                <a:solidFill>
                  <a:srgbClr val="1F2329">
                    <a:alpha val="100000"/>
                  </a:srgbClr>
                </a:solidFill>
                <a:latin typeface="Noto Sans SC" panose="020B0200000000000000" charset="-122"/>
              </a:defRPr>
            </a:lvl1pPr>
          </a:lstStyle>
          <a:p>
            <a:pPr marL="457200" indent="-317500" algn="l">
              <a:lnSpc>
                <a:spcPct val="92000"/>
              </a:lnSpc>
              <a:spcBef>
                <a:spcPts val="800"/>
              </a:spcBef>
            </a:pPr>
            <a:r>
              <a:rPr lang="en-US" sz="21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21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ph type="body" sz="quarter" idx="32"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8" name="AutoShape 8"/>
          <p:cNvSpPr/>
          <p:nvPr>
            <p:ph type="body" sz="quarter" idx="33"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9" name="AutoShape 9"/>
          <p:cNvSpPr/>
          <p:nvPr>
            <p:ph type="body" sz="quarter" idx="34"/>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_ONLY">
    <p:spTree>
      <p:nvGrpSpPr>
        <p:cNvPr id="1" name=""/>
        <p:cNvGrpSpPr/>
        <p:nvPr/>
      </p:nvGrpSpPr>
      <p:grpSpPr>
        <a:xfrm>
          <a:off x="0" y="0"/>
          <a:ext cx="0" cy="0"/>
          <a:chOff x="0" y="0"/>
          <a:chExt cx="0" cy="0"/>
        </a:xfrm>
      </p:grpSpPr>
      <p:sp>
        <p:nvSpPr>
          <p:cNvPr id="2" name="AutoShape 2"/>
          <p:cNvSpPr/>
          <p:nvPr>
            <p:ph type="body" sz="quarter" idx="35"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2000"/>
              </a:lnSpc>
              <a:defRPr sz="3300" b="1" i="0" u="none" strike="noStrike" spc="0">
                <a:solidFill>
                  <a:srgbClr val="1F2329">
                    <a:alpha val="100000"/>
                  </a:srgbClr>
                </a:solidFill>
                <a:latin typeface="Noto Sans SC" panose="020B0200000000000000" charset="-122"/>
              </a:defRPr>
            </a:lvl1pPr>
          </a:lstStyle>
          <a:p>
            <a:pPr marL="0" indent="0" algn="l">
              <a:lnSpc>
                <a:spcPct val="92000"/>
              </a:lnSpc>
            </a:pPr>
            <a:r>
              <a:rPr lang="en-US" sz="33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33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3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3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38"/>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p:nvPr>
            <p:ph type="body" sz="quarter" idx="39"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40"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4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OBJECT_WITH_CAPTION_TEXT">
    <p:spTree>
      <p:nvGrpSpPr>
        <p:cNvPr id="1" name=""/>
        <p:cNvGrpSpPr/>
        <p:nvPr/>
      </p:nvGrpSpPr>
      <p:grpSpPr>
        <a:xfrm>
          <a:off x="0" y="0"/>
          <a:ext cx="0" cy="0"/>
          <a:chOff x="0" y="0"/>
          <a:chExt cx="0" cy="0"/>
        </a:xfrm>
      </p:grpSpPr>
      <p:sp>
        <p:nvSpPr>
          <p:cNvPr id="2" name="AutoShape 2"/>
          <p:cNvSpPr/>
          <p:nvPr>
            <p:ph type="body" sz="quarter" idx="42"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2000"/>
              </a:lnSpc>
              <a:defRPr sz="2400" b="1" i="0" u="none" strike="noStrike" spc="0">
                <a:solidFill>
                  <a:srgbClr val="1F2329">
                    <a:alpha val="100000"/>
                  </a:srgbClr>
                </a:solidFill>
                <a:latin typeface="Noto Sans SC" panose="020B0200000000000000" charset="-122"/>
              </a:defRPr>
            </a:lvl1pPr>
          </a:lstStyle>
          <a:p>
            <a:pPr marL="0" indent="0" algn="l">
              <a:lnSpc>
                <a:spcPct val="92000"/>
              </a:lnSpc>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2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43" hasCustomPrompt="1"/>
          </p:nvPr>
        </p:nvSpPr>
        <p:spPr>
          <a:xfrm>
            <a:off x="3887391" y="740569"/>
            <a:ext cx="4629150" cy="3655219"/>
          </a:xfrm>
          <a:prstGeom prst="rect">
            <a:avLst/>
          </a:prstGeom>
          <a:noFill/>
          <a:ln w="12700">
            <a:noFill/>
            <a:prstDash val="solid"/>
          </a:ln>
        </p:spPr>
        <p:txBody>
          <a:bodyPr wrap="square" lIns="68575" tIns="34275" rIns="68575" bIns="34275" anchor="t">
            <a:normAutofit/>
          </a:bodyPr>
          <a:lstStyle>
            <a:lvl1pPr algn="l">
              <a:lnSpc>
                <a:spcPct val="92000"/>
              </a:lnSpc>
              <a:defRPr sz="2400" b="0" i="0" u="none" strike="noStrike" spc="0">
                <a:solidFill>
                  <a:srgbClr val="1F2329">
                    <a:alpha val="100000"/>
                  </a:srgbClr>
                </a:solidFill>
                <a:latin typeface="Noto Sans SC" panose="020B0200000000000000" charset="-122"/>
              </a:defRPr>
            </a:lvl1pPr>
          </a:lstStyle>
          <a:p>
            <a:pPr marL="457200" indent="-381000" algn="l">
              <a:lnSpc>
                <a:spcPct val="92000"/>
              </a:lnSpc>
              <a:spcBef>
                <a:spcPts val="800"/>
              </a:spcBef>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2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44"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2000"/>
              </a:lnSpc>
              <a:defRPr sz="1200" b="0" i="0" u="none" strike="noStrike" spc="0">
                <a:solidFill>
                  <a:srgbClr val="1F2329">
                    <a:alpha val="100000"/>
                  </a:srgbClr>
                </a:solidFill>
                <a:latin typeface="Noto Sans SC" panose="020B0200000000000000" charset="-122"/>
              </a:defRPr>
            </a:lvl1pPr>
          </a:lstStyle>
          <a:p>
            <a:pPr marL="457200" indent="-228600" algn="l">
              <a:lnSpc>
                <a:spcPct val="92000"/>
              </a:lnSpc>
              <a:spcBef>
                <a:spcPts val="800"/>
              </a:spcBef>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45"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6" name="AutoShape 6"/>
          <p:cNvSpPr/>
          <p:nvPr>
            <p:ph type="body" sz="quarter" idx="46"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7" name="AutoShape 7"/>
          <p:cNvSpPr/>
          <p:nvPr>
            <p:ph type="body" sz="quarter" idx="47"/>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_WITH_CAPTION_TEXT">
    <p:spTree>
      <p:nvGrpSpPr>
        <p:cNvPr id="1" name=""/>
        <p:cNvGrpSpPr/>
        <p:nvPr/>
      </p:nvGrpSpPr>
      <p:grpSpPr>
        <a:xfrm>
          <a:off x="0" y="0"/>
          <a:ext cx="0" cy="0"/>
          <a:chOff x="0" y="0"/>
          <a:chExt cx="0" cy="0"/>
        </a:xfrm>
      </p:grpSpPr>
      <p:sp>
        <p:nvSpPr>
          <p:cNvPr id="2" name="AutoShape 2"/>
          <p:cNvSpPr/>
          <p:nvPr>
            <p:ph type="body" sz="quarter" idx="48"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2000"/>
              </a:lnSpc>
              <a:defRPr sz="2400" b="1" i="0" u="none" strike="noStrike" spc="0">
                <a:solidFill>
                  <a:srgbClr val="1F2329">
                    <a:alpha val="100000"/>
                  </a:srgbClr>
                </a:solidFill>
                <a:latin typeface="Noto Sans SC" panose="020B0200000000000000" charset="-122"/>
              </a:defRPr>
            </a:lvl1pPr>
          </a:lstStyle>
          <a:p>
            <a:pPr marL="0" indent="0" algn="l">
              <a:lnSpc>
                <a:spcPct val="92000"/>
              </a:lnSpc>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2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pic" sz="quarter" idx="49"/>
          </p:nvPr>
        </p:nvSpPr>
        <p:spPr>
          <a:xfrm>
            <a:off x="3887391" y="740569"/>
            <a:ext cx="4629150" cy="3655219"/>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4" name="AutoShape 4"/>
          <p:cNvSpPr/>
          <p:nvPr>
            <p:ph type="body" sz="quarter" idx="50"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2000"/>
              </a:lnSpc>
              <a:defRPr sz="1200" b="0" i="0" u="none" strike="noStrike" spc="0">
                <a:solidFill>
                  <a:srgbClr val="1F2329">
                    <a:alpha val="100000"/>
                  </a:srgbClr>
                </a:solidFill>
                <a:latin typeface="Noto Sans SC" panose="020B0200000000000000" charset="-122"/>
              </a:defRPr>
            </a:lvl1pPr>
          </a:lstStyle>
          <a:p>
            <a:pPr marL="457200" indent="-228600" algn="l">
              <a:lnSpc>
                <a:spcPct val="92000"/>
              </a:lnSpc>
              <a:spcBef>
                <a:spcPts val="800"/>
              </a:spcBef>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5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6" name="AutoShape 6"/>
          <p:cNvSpPr/>
          <p:nvPr>
            <p:ph type="body" sz="quarter" idx="5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7" name="AutoShape 7"/>
          <p:cNvSpPr/>
          <p:nvPr>
            <p:ph type="body" sz="quarter" idx="53"/>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VERTICAL_TEXT">
    <p:spTree>
      <p:nvGrpSpPr>
        <p:cNvPr id="1" name=""/>
        <p:cNvGrpSpPr/>
        <p:nvPr/>
      </p:nvGrpSpPr>
      <p:grpSpPr>
        <a:xfrm>
          <a:off x="0" y="0"/>
          <a:ext cx="0" cy="0"/>
          <a:chOff x="0" y="0"/>
          <a:chExt cx="0" cy="0"/>
        </a:xfrm>
      </p:grpSpPr>
      <p:sp>
        <p:nvSpPr>
          <p:cNvPr id="2" name="AutoShape 2"/>
          <p:cNvSpPr/>
          <p:nvPr>
            <p:ph type="body" sz="quarter" idx="54"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2000"/>
              </a:lnSpc>
              <a:defRPr sz="3300" b="1" i="0" u="none" strike="noStrike" spc="0">
                <a:solidFill>
                  <a:srgbClr val="1F2329">
                    <a:alpha val="100000"/>
                  </a:srgbClr>
                </a:solidFill>
                <a:latin typeface="Noto Sans SC" panose="020B0200000000000000" charset="-122"/>
              </a:defRPr>
            </a:lvl1pPr>
          </a:lstStyle>
          <a:p>
            <a:pPr marL="0" indent="0" algn="l">
              <a:lnSpc>
                <a:spcPct val="92000"/>
              </a:lnSpc>
            </a:pPr>
            <a:r>
              <a:rPr lang="en-US" sz="33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33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55" hasCustomPrompt="1"/>
          </p:nvPr>
        </p:nvSpPr>
        <p:spPr>
          <a:xfrm rot="5400000">
            <a:off x="2940248" y="-942379"/>
            <a:ext cx="3263504" cy="7886700"/>
          </a:xfrm>
          <a:prstGeom prst="rect">
            <a:avLst/>
          </a:prstGeom>
          <a:noFill/>
          <a:ln w="12700">
            <a:noFill/>
            <a:prstDash val="solid"/>
          </a:ln>
        </p:spPr>
        <p:txBody>
          <a:bodyPr wrap="square" lIns="68575" tIns="34275" rIns="68575" bIns="34275" anchor="t">
            <a:normAutofit/>
          </a:bodyPr>
          <a:lstStyle>
            <a:lvl1pPr algn="l">
              <a:lnSpc>
                <a:spcPct val="92000"/>
              </a:lnSpc>
              <a:defRPr sz="2100" b="0" i="0" u="none" strike="noStrike" spc="0">
                <a:solidFill>
                  <a:srgbClr val="1F2329">
                    <a:alpha val="100000"/>
                  </a:srgbClr>
                </a:solidFill>
                <a:latin typeface="Noto Sans SC" panose="020B0200000000000000" charset="-122"/>
              </a:defRPr>
            </a:lvl1pPr>
          </a:lstStyle>
          <a:p>
            <a:pPr marL="457200" indent="-317500" algn="l">
              <a:lnSpc>
                <a:spcPct val="92000"/>
              </a:lnSpc>
              <a:spcBef>
                <a:spcPts val="800"/>
              </a:spcBef>
            </a:pPr>
            <a:r>
              <a:rPr lang="en-US" sz="21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21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5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5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6" name="AutoShape 6"/>
          <p:cNvSpPr/>
          <p:nvPr>
            <p:ph type="body" sz="quarter" idx="58"/>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_TITLE_AND_VERTICAL_TEXT">
    <p:spTree>
      <p:nvGrpSpPr>
        <p:cNvPr id="1" name=""/>
        <p:cNvGrpSpPr/>
        <p:nvPr/>
      </p:nvGrpSpPr>
      <p:grpSpPr>
        <a:xfrm>
          <a:off x="0" y="0"/>
          <a:ext cx="0" cy="0"/>
          <a:chOff x="0" y="0"/>
          <a:chExt cx="0" cy="0"/>
        </a:xfrm>
      </p:grpSpPr>
      <p:sp>
        <p:nvSpPr>
          <p:cNvPr id="2" name="AutoShape 2"/>
          <p:cNvSpPr/>
          <p:nvPr>
            <p:ph type="body" sz="quarter" idx="59" hasCustomPrompt="1"/>
          </p:nvPr>
        </p:nvSpPr>
        <p:spPr>
          <a:xfrm rot="5400000">
            <a:off x="5350073" y="1467445"/>
            <a:ext cx="4358879" cy="1971675"/>
          </a:xfrm>
          <a:prstGeom prst="rect">
            <a:avLst/>
          </a:prstGeom>
          <a:noFill/>
          <a:ln w="12700">
            <a:noFill/>
            <a:prstDash val="solid"/>
          </a:ln>
        </p:spPr>
        <p:txBody>
          <a:bodyPr wrap="square" lIns="68575" tIns="34275" rIns="68575" bIns="34275" anchor="ctr">
            <a:normAutofit/>
          </a:bodyPr>
          <a:lstStyle>
            <a:lvl1pPr algn="l">
              <a:lnSpc>
                <a:spcPct val="92000"/>
              </a:lnSpc>
              <a:defRPr sz="3300" b="1" i="0" u="none" strike="noStrike" spc="0">
                <a:solidFill>
                  <a:srgbClr val="1F2329">
                    <a:alpha val="100000"/>
                  </a:srgbClr>
                </a:solidFill>
                <a:latin typeface="Noto Sans SC" panose="020B0200000000000000" charset="-122"/>
              </a:defRPr>
            </a:lvl1pPr>
          </a:lstStyle>
          <a:p>
            <a:pPr marL="0" indent="0" algn="l">
              <a:lnSpc>
                <a:spcPct val="92000"/>
              </a:lnSpc>
            </a:pPr>
            <a:r>
              <a:rPr lang="en-US" sz="33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单击此处添加标题</a:t>
            </a:r>
            <a:endParaRPr lang="en-US" sz="33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60" hasCustomPrompt="1"/>
          </p:nvPr>
        </p:nvSpPr>
        <p:spPr>
          <a:xfrm rot="5400000">
            <a:off x="1349573" y="-447080"/>
            <a:ext cx="4358879" cy="5800725"/>
          </a:xfrm>
          <a:prstGeom prst="rect">
            <a:avLst/>
          </a:prstGeom>
          <a:noFill/>
          <a:ln w="12700">
            <a:noFill/>
            <a:prstDash val="solid"/>
          </a:ln>
        </p:spPr>
        <p:txBody>
          <a:bodyPr wrap="square" lIns="68575" tIns="34275" rIns="68575" bIns="34275" anchor="t">
            <a:normAutofit/>
          </a:bodyPr>
          <a:lstStyle>
            <a:lvl1pPr algn="l">
              <a:lnSpc>
                <a:spcPct val="92000"/>
              </a:lnSpc>
              <a:defRPr sz="2100" b="0" i="0" u="none" strike="noStrike" spc="0">
                <a:solidFill>
                  <a:srgbClr val="1F2329">
                    <a:alpha val="100000"/>
                  </a:srgbClr>
                </a:solidFill>
                <a:latin typeface="Noto Sans SC" panose="020B0200000000000000" charset="-122"/>
              </a:defRPr>
            </a:lvl1pPr>
          </a:lstStyle>
          <a:p>
            <a:pPr marL="457200" indent="-317500" algn="l">
              <a:lnSpc>
                <a:spcPct val="92000"/>
              </a:lnSpc>
              <a:spcBef>
                <a:spcPts val="800"/>
              </a:spcBef>
            </a:pPr>
            <a:r>
              <a:rPr lang="en-US" sz="2100" b="0" i="0" u="none" strike="noStrike">
                <a:solidFill>
                  <a:srgbClr val="000000"/>
                </a:solidFill>
                <a:latin typeface="Arial" panose="020B0604020202020204"/>
                <a:ea typeface="Arial" panose="020B0604020202020204"/>
                <a:cs typeface="Arial" panose="020B0604020202020204"/>
                <a:sym typeface="Arial" panose="020B0604020202020204"/>
              </a:rPr>
              <a:t>单击此处添加文本</a:t>
            </a:r>
            <a:endParaRPr lang="en-US" sz="21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ph type="body" sz="quarter" idx="6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panose="020B0200000000000000" charset="-122"/>
              </a:defRPr>
            </a:lvl1pPr>
          </a:lstStyle>
          <a:p>
            <a:pPr marL="0" indent="0" algn="l">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日期</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AutoShape 5"/>
          <p:cNvSpPr/>
          <p:nvPr>
            <p:ph type="body" sz="quarter" idx="6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panose="020B0200000000000000" charset="-122"/>
              </a:defRPr>
            </a:lvl1pPr>
          </a:lstStyle>
          <a:p>
            <a:pPr marL="0" indent="0" algn="ctr">
              <a:lnSpc>
                <a:spcPct val="100000"/>
              </a:lnSpc>
            </a:pPr>
            <a:r>
              <a:rPr lang="en-US" sz="900" b="0" i="0" u="none" strike="noStrike">
                <a:solidFill>
                  <a:srgbClr val="888888"/>
                </a:solidFill>
                <a:latin typeface="Arial" panose="020B0604020202020204"/>
                <a:ea typeface="Arial" panose="020B0604020202020204"/>
                <a:cs typeface="Arial" panose="020B0604020202020204"/>
                <a:sym typeface="Arial" panose="020B0604020202020204"/>
              </a:rPr>
              <a:t>页脚</a:t>
            </a:r>
            <a:endParaRPr lang="en-US" sz="900" b="0" i="0" u="none" strike="noStrike">
              <a:solidFill>
                <a:srgbClr val="888888"/>
              </a:solidFill>
              <a:latin typeface="Arial" panose="020B0604020202020204"/>
              <a:ea typeface="Arial" panose="020B0604020202020204"/>
              <a:cs typeface="Arial" panose="020B0604020202020204"/>
              <a:sym typeface="Arial" panose="020B0604020202020204"/>
            </a:endParaRPr>
          </a:p>
        </p:txBody>
      </p:sp>
      <p:sp>
        <p:nvSpPr>
          <p:cNvPr id="6" name="AutoShape 6"/>
          <p:cNvSpPr/>
          <p:nvPr>
            <p:ph type="body" sz="quarter" idx="63"/>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panose="020B0604020202020204"/>
              </a:defRPr>
            </a:lvl1pPr>
          </a:lstStyle>
          <a:p>
            <a:pPr algn="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3.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15.png"/><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notesSlide" Target="../notesSlides/notesSlide5.xml"/><Relationship Id="rId17" Type="http://schemas.openxmlformats.org/officeDocument/2006/relationships/slideLayout" Target="../slideLayouts/slideLayout12.xml"/><Relationship Id="rId16" Type="http://schemas.openxmlformats.org/officeDocument/2006/relationships/image" Target="../media/image18.png"/><Relationship Id="rId15" Type="http://schemas.openxmlformats.org/officeDocument/2006/relationships/tags" Target="../tags/tag12.xml"/><Relationship Id="rId14" Type="http://schemas.openxmlformats.org/officeDocument/2006/relationships/image" Target="../media/image17.png"/><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6" Type="http://schemas.openxmlformats.org/officeDocument/2006/relationships/notesSlide" Target="../notesSlides/notesSlide6.xml"/><Relationship Id="rId25" Type="http://schemas.openxmlformats.org/officeDocument/2006/relationships/slideLayout" Target="../slideLayouts/slideLayout12.xml"/><Relationship Id="rId24" Type="http://schemas.openxmlformats.org/officeDocument/2006/relationships/image" Target="../media/image42.svg"/><Relationship Id="rId23" Type="http://schemas.openxmlformats.org/officeDocument/2006/relationships/image" Target="../media/image41.png"/><Relationship Id="rId22" Type="http://schemas.openxmlformats.org/officeDocument/2006/relationships/image" Target="../media/image40.svg"/><Relationship Id="rId21" Type="http://schemas.openxmlformats.org/officeDocument/2006/relationships/image" Target="../media/image39.png"/><Relationship Id="rId20" Type="http://schemas.openxmlformats.org/officeDocument/2006/relationships/image" Target="../media/image38.svg"/><Relationship Id="rId2" Type="http://schemas.openxmlformats.org/officeDocument/2006/relationships/image" Target="../media/image20.svg"/><Relationship Id="rId19" Type="http://schemas.openxmlformats.org/officeDocument/2006/relationships/image" Target="../media/image37.png"/><Relationship Id="rId18" Type="http://schemas.openxmlformats.org/officeDocument/2006/relationships/image" Target="../media/image36.svg"/><Relationship Id="rId17" Type="http://schemas.openxmlformats.org/officeDocument/2006/relationships/image" Target="../media/image35.png"/><Relationship Id="rId16" Type="http://schemas.openxmlformats.org/officeDocument/2006/relationships/image" Target="../media/image34.svg"/><Relationship Id="rId15" Type="http://schemas.openxmlformats.org/officeDocument/2006/relationships/image" Target="../media/image33.png"/><Relationship Id="rId14" Type="http://schemas.openxmlformats.org/officeDocument/2006/relationships/image" Target="../media/image32.svg"/><Relationship Id="rId13" Type="http://schemas.openxmlformats.org/officeDocument/2006/relationships/image" Target="../media/image31.png"/><Relationship Id="rId12" Type="http://schemas.openxmlformats.org/officeDocument/2006/relationships/image" Target="../media/image30.svg"/><Relationship Id="rId11" Type="http://schemas.openxmlformats.org/officeDocument/2006/relationships/image" Target="../media/image29.png"/><Relationship Id="rId10" Type="http://schemas.openxmlformats.org/officeDocument/2006/relationships/image" Target="../media/image28.svg"/><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image" Target="../media/image50.svg"/><Relationship Id="rId7" Type="http://schemas.openxmlformats.org/officeDocument/2006/relationships/image" Target="../media/image49.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44.svg"/><Relationship Id="rId12" Type="http://schemas.openxmlformats.org/officeDocument/2006/relationships/notesSlide" Target="../notesSlides/notesSlide7.xml"/><Relationship Id="rId11" Type="http://schemas.openxmlformats.org/officeDocument/2006/relationships/slideLayout" Target="../slideLayouts/slideLayout12.xml"/><Relationship Id="rId10" Type="http://schemas.openxmlformats.org/officeDocument/2006/relationships/image" Target="../media/image52.svg"/><Relationship Id="rId1" Type="http://schemas.openxmlformats.org/officeDocument/2006/relationships/image" Target="../media/image43.png"/></Relationships>
</file>

<file path=ppt/slides/_rels/slide8.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svg"/><Relationship Id="rId7" Type="http://schemas.openxmlformats.org/officeDocument/2006/relationships/image" Target="../media/image57.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48.svg"/><Relationship Id="rId3" Type="http://schemas.openxmlformats.org/officeDocument/2006/relationships/image" Target="../media/image47.png"/><Relationship Id="rId2" Type="http://schemas.openxmlformats.org/officeDocument/2006/relationships/image" Target="../media/image54.svg"/><Relationship Id="rId14" Type="http://schemas.openxmlformats.org/officeDocument/2006/relationships/notesSlide" Target="../notesSlides/notesSlide8.xml"/><Relationship Id="rId13" Type="http://schemas.openxmlformats.org/officeDocument/2006/relationships/slideLayout" Target="../slideLayouts/slideLayout12.xml"/><Relationship Id="rId12" Type="http://schemas.openxmlformats.org/officeDocument/2006/relationships/image" Target="../media/image62.svg"/><Relationship Id="rId11" Type="http://schemas.openxmlformats.org/officeDocument/2006/relationships/image" Target="../media/image61.png"/><Relationship Id="rId10" Type="http://schemas.openxmlformats.org/officeDocument/2006/relationships/image" Target="../media/image60.svg"/><Relationship Id="rId1" Type="http://schemas.openxmlformats.org/officeDocument/2006/relationships/image" Target="../media/image53.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66.svg"/><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6.png"/><Relationship Id="rId7" Type="http://schemas.openxmlformats.org/officeDocument/2006/relationships/image" Target="../media/image75.png"/><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0" Type="http://schemas.openxmlformats.org/officeDocument/2006/relationships/notesSlide" Target="../notesSlides/notesSlide11.xml"/><Relationship Id="rId1" Type="http://schemas.openxmlformats.org/officeDocument/2006/relationships/image" Target="../media/image69.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7.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86.png"/><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image" Target="../media/image83.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2.xml"/><Relationship Id="rId5" Type="http://schemas.openxmlformats.org/officeDocument/2006/relationships/image" Target="../media/image91.png"/><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image" Target="../media/image87.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image" Target="../media/image94.png"/><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69.png"/><Relationship Id="rId2" Type="http://schemas.openxmlformats.org/officeDocument/2006/relationships/image" Target="../media/image96.png"/><Relationship Id="rId1" Type="http://schemas.openxmlformats.org/officeDocument/2006/relationships/image" Target="../media/image95.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2.xml"/><Relationship Id="rId5" Type="http://schemas.openxmlformats.org/officeDocument/2006/relationships/image" Target="../media/image100.png"/><Relationship Id="rId4" Type="http://schemas.openxmlformats.org/officeDocument/2006/relationships/image" Target="../media/image99.png"/><Relationship Id="rId3" Type="http://schemas.openxmlformats.org/officeDocument/2006/relationships/image" Target="../media/image98.png"/><Relationship Id="rId2" Type="http://schemas.openxmlformats.org/officeDocument/2006/relationships/image" Target="../media/image7.png"/><Relationship Id="rId1" Type="http://schemas.openxmlformats.org/officeDocument/2006/relationships/image" Target="../media/image9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5F7FA">
                <a:alpha val="100000"/>
              </a:srgbClr>
            </a:gs>
            <a:gs pos="100000">
              <a:srgbClr val="E8ECF1">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8255000" y="-1270000"/>
            <a:ext cx="5080000" cy="5080000"/>
          </a:xfrm>
          <a:prstGeom prst="ellipse">
            <a:avLst/>
          </a:prstGeom>
          <a:solidFill>
            <a:srgbClr val="06B6D4">
              <a:alpha val="8000"/>
            </a:srgbClr>
          </a:solidFill>
          <a:ln w="12700" cap="flat" cmpd="sng">
            <a:solidFill>
              <a:srgbClr val="009FBB">
                <a:alpha val="8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9144000" y="3810000"/>
            <a:ext cx="3810000" cy="3810000"/>
          </a:xfrm>
          <a:prstGeom prst="ellipse">
            <a:avLst/>
          </a:prstGeom>
          <a:solidFill>
            <a:srgbClr val="3B82F6">
              <a:alpha val="8000"/>
            </a:srgbClr>
          </a:solidFill>
          <a:ln w="12700" cap="flat" cmpd="sng">
            <a:solidFill>
              <a:srgbClr val="1F67DD">
                <a:alpha val="8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10668000" y="1905000"/>
            <a:ext cx="762000" cy="50800"/>
          </a:xfrm>
          <a:prstGeom prst="roundRect">
            <a:avLst>
              <a:gd name="adj" fmla="val 0"/>
            </a:avLst>
          </a:prstGeom>
          <a:solidFill>
            <a:srgbClr val="06B6D4">
              <a:alpha val="6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10922000" y="2159000"/>
            <a:ext cx="508000" cy="50800"/>
          </a:xfrm>
          <a:prstGeom prst="roundRect">
            <a:avLst>
              <a:gd name="adj" fmla="val 0"/>
            </a:avLst>
          </a:prstGeom>
          <a:solidFill>
            <a:srgbClr val="3B82F6">
              <a:alpha val="6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10414000" y="5334000"/>
            <a:ext cx="1016000" cy="50800"/>
          </a:xfrm>
          <a:prstGeom prst="roundRect">
            <a:avLst>
              <a:gd name="adj" fmla="val 0"/>
            </a:avLst>
          </a:prstGeom>
          <a:solidFill>
            <a:srgbClr val="1A365D">
              <a:alpha val="4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0" y="2286000"/>
            <a:ext cx="12192000" cy="1143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6000" b="1" i="0" u="none" strike="noStrike">
                <a:solidFill>
                  <a:srgbClr val="1A365D"/>
                </a:solidFill>
                <a:latin typeface="Noto Sans SC" panose="020B0200000000000000" charset="-122"/>
                <a:ea typeface="Noto Sans SC" panose="020B0200000000000000" charset="-122"/>
                <a:cs typeface="Noto Sans SC" panose="020B0200000000000000" charset="-122"/>
                <a:sym typeface="Noto Sans SC" panose="020B0200000000000000" charset="-122"/>
              </a:rPr>
              <a:t>LightProbe</a:t>
            </a:r>
            <a:endParaRPr lang="en-US" sz="1100"/>
          </a:p>
        </p:txBody>
      </p:sp>
      <p:cxnSp>
        <p:nvCxnSpPr>
          <p:cNvPr id="8" name="Connector 8"/>
          <p:cNvCxnSpPr/>
          <p:nvPr/>
        </p:nvCxnSpPr>
        <p:spPr>
          <a:xfrm rot="-34376">
            <a:off x="5461032" y="3676650"/>
            <a:ext cx="1270000" cy="12700"/>
          </a:xfrm>
          <a:prstGeom prst="straightConnector1">
            <a:avLst/>
          </a:prstGeom>
          <a:solidFill>
            <a:srgbClr val="DEE0E3">
              <a:alpha val="100000"/>
            </a:srgbClr>
          </a:solidFill>
          <a:ln w="38100" cap="flat" cmpd="sng">
            <a:gradFill rotWithShape="1">
              <a:gsLst>
                <a:gs pos="0">
                  <a:srgbClr val="06B6D4">
                    <a:alpha val="100000"/>
                  </a:srgbClr>
                </a:gs>
                <a:gs pos="100000">
                  <a:srgbClr val="3B82F6">
                    <a:alpha val="100000"/>
                  </a:srgbClr>
                </a:gs>
              </a:gsLst>
              <a:lin ang="0"/>
            </a:gradFill>
            <a:prstDash val="solid"/>
            <a:round/>
            <a:headEnd type="none" w="lg" len="lg"/>
            <a:tailEnd type="none" w="lg" len="lg"/>
          </a:ln>
        </p:spPr>
      </p:cxnSp>
      <p:sp>
        <p:nvSpPr>
          <p:cNvPr id="9" name="AutoShape 9"/>
          <p:cNvSpPr/>
          <p:nvPr/>
        </p:nvSpPr>
        <p:spPr>
          <a:xfrm>
            <a:off x="0" y="4064000"/>
            <a:ext cx="12192000" cy="635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2400" b="0" i="0" u="none" strike="noStrike">
                <a:solidFill>
                  <a:srgbClr val="4A6FA5"/>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轻量级用户态动态探针</a:t>
            </a:r>
            <a:endParaRPr lang="en-US" sz="1100"/>
          </a:p>
        </p:txBody>
      </p:sp>
      <p:sp>
        <p:nvSpPr>
          <p:cNvPr id="10" name="AutoShape 10"/>
          <p:cNvSpPr/>
          <p:nvPr/>
        </p:nvSpPr>
        <p:spPr>
          <a:xfrm>
            <a:off x="1016000" y="5080000"/>
            <a:ext cx="10160000" cy="762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17000"/>
              </a:lnSpc>
              <a:defRPr/>
            </a:pPr>
            <a:r>
              <a:rPr lang="en-US" sz="1500" b="0" i="0" u="none" strike="noStrike">
                <a:solidFill>
                  <a:srgbClr val="525C69"/>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无需修改业务代码或重启进程，在函数级动态采集参数、返回值与耗时，实现对应用运行时的无损观测与深度剖析。</a:t>
            </a:r>
            <a:endParaRPr lang="en-US" sz="1100"/>
          </a:p>
        </p:txBody>
      </p:sp>
      <p:sp>
        <p:nvSpPr>
          <p:cNvPr id="11" name="AutoShape 11"/>
          <p:cNvSpPr/>
          <p:nvPr/>
        </p:nvSpPr>
        <p:spPr>
          <a:xfrm>
            <a:off x="0" y="6159500"/>
            <a:ext cx="12192000" cy="508000"/>
          </a:xfrm>
          <a:prstGeom prst="roundRect">
            <a:avLst>
              <a:gd name="adj" fmla="val 0"/>
            </a:avLst>
          </a:prstGeom>
          <a:solidFill>
            <a:srgbClr val="1A365D">
              <a:alpha val="5000"/>
            </a:srgbClr>
          </a:solidFill>
          <a:ln w="12700" cap="flat" cmpd="sng">
            <a:solidFill>
              <a:srgbClr val="0C2344">
                <a:alpha val="5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08000" y="6248400"/>
            <a:ext cx="5715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A365D"/>
                </a:solidFill>
                <a:latin typeface="Noto Sans SC" panose="020B0200000000000000" charset="-122"/>
                <a:ea typeface="Noto Sans SC" panose="020B0200000000000000" charset="-122"/>
                <a:cs typeface="Noto Sans SC" panose="020B0200000000000000" charset="-122"/>
                <a:sym typeface="Noto Sans SC" panose="020B0200000000000000" charset="-122"/>
              </a:rPr>
              <a:t>队伍：</a:t>
            </a:r>
            <a:r>
              <a:rPr lang="en-US" sz="1400" b="0" i="0" u="none" strike="noStrike">
                <a:solidFill>
                  <a:srgbClr val="3C4B5F"/>
                </a:solidFill>
                <a:latin typeface="Noto Sans SC" panose="020B0200000000000000" charset="-122"/>
                <a:ea typeface="Noto Sans SC" panose="020B0200000000000000" charset="-122"/>
                <a:cs typeface="Noto Sans SC" panose="020B0200000000000000" charset="-122"/>
                <a:sym typeface="Noto Sans SC" panose="020B0200000000000000" charset="-122"/>
              </a:rPr>
              <a:t>原神启动</a:t>
            </a:r>
            <a:endParaRPr lang="en-US" sz="1100"/>
          </a:p>
        </p:txBody>
      </p:sp>
      <p:cxnSp>
        <p:nvCxnSpPr>
          <p:cNvPr id="13" name="Connector 13"/>
          <p:cNvCxnSpPr/>
          <p:nvPr/>
        </p:nvCxnSpPr>
        <p:spPr>
          <a:xfrm rot="5262563">
            <a:off x="5937250" y="6375527"/>
            <a:ext cx="317500" cy="12700"/>
          </a:xfrm>
          <a:prstGeom prst="straightConnector1">
            <a:avLst/>
          </a:prstGeom>
          <a:solidFill>
            <a:srgbClr val="DEE0E3">
              <a:alpha val="100000"/>
            </a:srgbClr>
          </a:solidFill>
          <a:ln w="12700" cap="flat" cmpd="sng">
            <a:solidFill>
              <a:srgbClr val="1A365D">
                <a:alpha val="20000"/>
              </a:srgbClr>
            </a:solidFill>
            <a:prstDash val="solid"/>
            <a:round/>
            <a:headEnd type="none" w="med" len="med"/>
            <a:tailEnd type="none" w="med" len="med"/>
          </a:ln>
        </p:spPr>
      </p:cxnSp>
      <p:sp>
        <p:nvSpPr>
          <p:cNvPr id="14" name="AutoShape 14"/>
          <p:cNvSpPr/>
          <p:nvPr/>
        </p:nvSpPr>
        <p:spPr>
          <a:xfrm>
            <a:off x="6223000" y="6248400"/>
            <a:ext cx="5715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A365D"/>
                </a:solidFill>
                <a:latin typeface="Noto Sans SC" panose="020B0200000000000000" charset="-122"/>
                <a:ea typeface="Noto Sans SC" panose="020B0200000000000000" charset="-122"/>
                <a:cs typeface="Noto Sans SC" panose="020B0200000000000000" charset="-122"/>
                <a:sym typeface="Noto Sans SC" panose="020B0200000000000000" charset="-122"/>
              </a:rPr>
              <a:t>赛题方向：</a:t>
            </a:r>
            <a:r>
              <a:rPr lang="en-US" sz="1400" b="0" i="0" u="none" strike="noStrike">
                <a:solidFill>
                  <a:srgbClr val="3C4B5F"/>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轻量级用户态动态探针技术研发与应用</a:t>
            </a:r>
            <a:endParaRPr lang="en-US" sz="1100"/>
          </a:p>
        </p:txBody>
      </p:sp>
      <p:pic>
        <p:nvPicPr>
          <p:cNvPr id="15" name="Picture 15"/>
          <p:cNvPicPr>
            <a:picLocks noChangeAspect="1"/>
          </p:cNvPicPr>
          <p:nvPr/>
        </p:nvPicPr>
        <p:blipFill>
          <a:blip r:embed="rId1"/>
          <a:srcRect/>
          <a:stretch>
            <a:fillRect/>
          </a:stretch>
        </p:blipFill>
        <p:spPr>
          <a:xfrm>
            <a:off x="11303000" y="1524000"/>
            <a:ext cx="304800" cy="304800"/>
          </a:xfrm>
          <a:prstGeom prst="rect">
            <a:avLst/>
          </a:prstGeom>
          <a:ln w="12700">
            <a:noFill/>
            <a:prstDash val="solid"/>
          </a:ln>
        </p:spPr>
      </p:pic>
      <p:pic>
        <p:nvPicPr>
          <p:cNvPr id="16" name="Picture 16"/>
          <p:cNvPicPr>
            <a:picLocks noChangeAspect="1"/>
          </p:cNvPicPr>
          <p:nvPr/>
        </p:nvPicPr>
        <p:blipFill>
          <a:blip r:embed="rId2"/>
          <a:srcRect/>
          <a:stretch>
            <a:fillRect/>
          </a:stretch>
        </p:blipFill>
        <p:spPr>
          <a:xfrm>
            <a:off x="10414000" y="4826000"/>
            <a:ext cx="254000" cy="254000"/>
          </a:xfrm>
          <a:prstGeom prst="rect">
            <a:avLst/>
          </a:prstGeom>
          <a:ln w="12700">
            <a:noFill/>
            <a:prstDash val="soli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635000" y="5080000"/>
            <a:ext cx="2540000" cy="2540000"/>
          </a:xfrm>
          <a:prstGeom prst="ellipse">
            <a:avLst/>
          </a:prstGeom>
          <a:solidFill>
            <a:srgbClr val="06B6D4">
              <a:alpha val="5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172B4D"/>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a:t>
            </a:r>
            <a:endParaRPr lang="en-US" sz="1100"/>
          </a:p>
        </p:txBody>
      </p:sp>
      <p:sp>
        <p:nvSpPr>
          <p:cNvPr id="5" name="AutoShape 5"/>
          <p:cNvSpPr/>
          <p:nvPr/>
        </p:nvSpPr>
        <p:spPr>
          <a:xfrm>
            <a:off x="508000" y="1270000"/>
            <a:ext cx="762000" cy="50800"/>
          </a:xfrm>
          <a:prstGeom prst="roundRect">
            <a:avLst>
              <a:gd name="adj" fmla="val 0"/>
            </a:avLst>
          </a:prstGeom>
          <a:solidFill>
            <a:srgbClr val="3B82F6">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8000" y="2032000"/>
            <a:ext cx="2667000" cy="4064000"/>
          </a:xfrm>
          <a:prstGeom prst="roundRect">
            <a:avLst>
              <a:gd name="adj" fmla="val 0"/>
            </a:avLst>
          </a:prstGeom>
          <a:solidFill>
            <a:srgbClr val="FFFFFF">
              <a:alpha val="100000"/>
            </a:srgbClr>
          </a:solidFill>
          <a:ln w="12700" cap="flat" cmpd="sng">
            <a:solidFill>
              <a:srgbClr val="3B82F6">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508000" y="2032000"/>
            <a:ext cx="2667000" cy="76200"/>
          </a:xfrm>
          <a:prstGeom prst="roundRect">
            <a:avLst>
              <a:gd name="adj" fmla="val 0"/>
            </a:avLst>
          </a:prstGeom>
          <a:solidFill>
            <a:srgbClr val="3B82F6">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8" name="Picture 8"/>
          <p:cNvPicPr>
            <a:picLocks noChangeAspect="1"/>
          </p:cNvPicPr>
          <p:nvPr/>
        </p:nvPicPr>
        <p:blipFill>
          <a:blip r:embed="rId1"/>
          <a:srcRect/>
          <a:stretch>
            <a:fillRect/>
          </a:stretch>
        </p:blipFill>
        <p:spPr>
          <a:xfrm>
            <a:off x="698500" y="2349500"/>
            <a:ext cx="457200" cy="457200"/>
          </a:xfrm>
          <a:prstGeom prst="rect">
            <a:avLst/>
          </a:prstGeom>
          <a:ln w="12700">
            <a:noFill/>
            <a:prstDash val="solid"/>
          </a:ln>
        </p:spPr>
      </p:pic>
      <p:sp>
        <p:nvSpPr>
          <p:cNvPr id="9" name="AutoShape 9"/>
          <p:cNvSpPr/>
          <p:nvPr/>
        </p:nvSpPr>
        <p:spPr>
          <a:xfrm>
            <a:off x="1270000" y="2311400"/>
            <a:ext cx="177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72B4D"/>
                </a:solidFill>
                <a:latin typeface="Noto Sans SC" panose="020B0200000000000000" charset="-122"/>
                <a:ea typeface="Noto Sans SC" panose="020B0200000000000000" charset="-122"/>
                <a:cs typeface="Noto Sans SC" panose="020B0200000000000000" charset="-122"/>
                <a:sym typeface="Noto Sans SC" panose="020B0200000000000000" charset="-122"/>
              </a:rPr>
              <a:t>探针放大性能开销</a:t>
            </a:r>
            <a:endParaRPr lang="en-US" sz="1100"/>
          </a:p>
        </p:txBody>
      </p:sp>
      <p:cxnSp>
        <p:nvCxnSpPr>
          <p:cNvPr id="10" name="Connector 10"/>
          <p:cNvCxnSpPr/>
          <p:nvPr/>
        </p:nvCxnSpPr>
        <p:spPr>
          <a:xfrm rot="-19098">
            <a:off x="698518" y="3168650"/>
            <a:ext cx="2286000" cy="12700"/>
          </a:xfrm>
          <a:prstGeom prst="line">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11" name="AutoShape 11"/>
          <p:cNvSpPr/>
          <p:nvPr/>
        </p:nvSpPr>
        <p:spPr>
          <a:xfrm>
            <a:off x="698500" y="3429000"/>
            <a:ext cx="2286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4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高频触发放大CPU与尾延迟压力</a:t>
            </a:r>
            <a:endParaRPr lang="en-US" sz="1100"/>
          </a:p>
        </p:txBody>
      </p:sp>
      <p:sp>
        <p:nvSpPr>
          <p:cNvPr id="12" name="AutoShape 12"/>
          <p:cNvSpPr/>
          <p:nvPr/>
        </p:nvSpPr>
        <p:spPr>
          <a:xfrm>
            <a:off x="698500" y="4572000"/>
            <a:ext cx="2286000" cy="1270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 uprobe 每次触发都会陷入内核态执行逻辑，在高 QPS 核心链路场景下，微小的单次开销会被指数级放大，直接影响服务稳定性。</a:t>
            </a:r>
            <a:endParaRPr lang="en-US" sz="1100"/>
          </a:p>
        </p:txBody>
      </p:sp>
      <p:sp>
        <p:nvSpPr>
          <p:cNvPr id="13" name="AutoShape 13"/>
          <p:cNvSpPr/>
          <p:nvPr/>
        </p:nvSpPr>
        <p:spPr>
          <a:xfrm>
            <a:off x="3365500" y="2032000"/>
            <a:ext cx="2667000" cy="4064000"/>
          </a:xfrm>
          <a:prstGeom prst="roundRect">
            <a:avLst>
              <a:gd name="adj" fmla="val 0"/>
            </a:avLst>
          </a:prstGeom>
          <a:solidFill>
            <a:srgbClr val="FFFFFF">
              <a:alpha val="100000"/>
            </a:srgbClr>
          </a:solidFill>
          <a:ln w="12700" cap="flat" cmpd="sng">
            <a:solidFill>
              <a:srgbClr val="06B6D4">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3365500" y="2032000"/>
            <a:ext cx="2667000" cy="76200"/>
          </a:xfrm>
          <a:prstGeom prst="roundRect">
            <a:avLst>
              <a:gd name="adj" fmla="val 0"/>
            </a:avLst>
          </a:prstGeom>
          <a:solidFill>
            <a:srgbClr val="06B6D4">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5" name="Picture 15"/>
          <p:cNvPicPr>
            <a:picLocks noChangeAspect="1"/>
          </p:cNvPicPr>
          <p:nvPr/>
        </p:nvPicPr>
        <p:blipFill>
          <a:blip r:embed="rId2"/>
          <a:srcRect/>
          <a:stretch>
            <a:fillRect/>
          </a:stretch>
        </p:blipFill>
        <p:spPr>
          <a:xfrm>
            <a:off x="3556000" y="2349500"/>
            <a:ext cx="457200" cy="457200"/>
          </a:xfrm>
          <a:prstGeom prst="rect">
            <a:avLst/>
          </a:prstGeom>
          <a:ln w="12700">
            <a:noFill/>
            <a:prstDash val="solid"/>
          </a:ln>
        </p:spPr>
      </p:pic>
      <p:sp>
        <p:nvSpPr>
          <p:cNvPr id="16" name="AutoShape 16"/>
          <p:cNvSpPr/>
          <p:nvPr/>
        </p:nvSpPr>
        <p:spPr>
          <a:xfrm>
            <a:off x="4127500" y="2311400"/>
            <a:ext cx="177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72B4D"/>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缺失函数现场信息</a:t>
            </a:r>
            <a:endParaRPr lang="en-US" sz="1100"/>
          </a:p>
        </p:txBody>
      </p:sp>
      <p:cxnSp>
        <p:nvCxnSpPr>
          <p:cNvPr id="17" name="Connector 17"/>
          <p:cNvCxnSpPr/>
          <p:nvPr/>
        </p:nvCxnSpPr>
        <p:spPr>
          <a:xfrm rot="-19098">
            <a:off x="3556018" y="3168650"/>
            <a:ext cx="2286000" cy="12700"/>
          </a:xfrm>
          <a:prstGeom prst="line">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18" name="AutoShape 18"/>
          <p:cNvSpPr/>
          <p:nvPr/>
        </p:nvSpPr>
        <p:spPr>
          <a:xfrm>
            <a:off x="3556000" y="3429000"/>
            <a:ext cx="2286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4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日志只见现象，难寻故障根因</a:t>
            </a:r>
            <a:endParaRPr lang="en-US" sz="1100"/>
          </a:p>
        </p:txBody>
      </p:sp>
      <p:sp>
        <p:nvSpPr>
          <p:cNvPr id="19" name="AutoShape 19"/>
          <p:cNvSpPr/>
          <p:nvPr/>
        </p:nvSpPr>
        <p:spPr>
          <a:xfrm>
            <a:off x="3556000" y="4572000"/>
            <a:ext cx="2286000" cy="1270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传统日志往往缺少真实的入参、返回值和内部执行耗时。面对偶发性的复杂业务故障，排查人员难以复现现场，定位周期被无限拉长。</a:t>
            </a:r>
            <a:endParaRPr lang="en-US" sz="1100"/>
          </a:p>
        </p:txBody>
      </p:sp>
      <p:sp>
        <p:nvSpPr>
          <p:cNvPr id="20" name="AutoShape 20"/>
          <p:cNvSpPr/>
          <p:nvPr/>
        </p:nvSpPr>
        <p:spPr>
          <a:xfrm>
            <a:off x="6223000" y="2032000"/>
            <a:ext cx="2667000" cy="4064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1" name="AutoShape 21"/>
          <p:cNvSpPr/>
          <p:nvPr/>
        </p:nvSpPr>
        <p:spPr>
          <a:xfrm>
            <a:off x="6223000" y="2032000"/>
            <a:ext cx="2667000" cy="762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2" name="Picture 22"/>
          <p:cNvPicPr>
            <a:picLocks noChangeAspect="1"/>
          </p:cNvPicPr>
          <p:nvPr/>
        </p:nvPicPr>
        <p:blipFill>
          <a:blip r:embed="rId3"/>
          <a:srcRect/>
          <a:stretch>
            <a:fillRect/>
          </a:stretch>
        </p:blipFill>
        <p:spPr>
          <a:xfrm>
            <a:off x="6413500" y="2349500"/>
            <a:ext cx="457200" cy="457200"/>
          </a:xfrm>
          <a:prstGeom prst="rect">
            <a:avLst/>
          </a:prstGeom>
          <a:ln w="12700">
            <a:noFill/>
            <a:prstDash val="solid"/>
          </a:ln>
        </p:spPr>
      </p:pic>
      <p:sp>
        <p:nvSpPr>
          <p:cNvPr id="23" name="AutoShape 23"/>
          <p:cNvSpPr/>
          <p:nvPr/>
        </p:nvSpPr>
        <p:spPr>
          <a:xfrm>
            <a:off x="6985000" y="2311400"/>
            <a:ext cx="177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72B4D"/>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生产环境变更受限</a:t>
            </a:r>
            <a:endParaRPr lang="en-US" sz="1100"/>
          </a:p>
        </p:txBody>
      </p:sp>
      <p:cxnSp>
        <p:nvCxnSpPr>
          <p:cNvPr id="24" name="Connector 24"/>
          <p:cNvCxnSpPr/>
          <p:nvPr/>
        </p:nvCxnSpPr>
        <p:spPr>
          <a:xfrm rot="-19098">
            <a:off x="6413518" y="3168650"/>
            <a:ext cx="2286000" cy="12700"/>
          </a:xfrm>
          <a:prstGeom prst="line">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5" name="AutoShape 25"/>
          <p:cNvSpPr/>
          <p:nvPr/>
        </p:nvSpPr>
        <p:spPr>
          <a:xfrm>
            <a:off x="6413500" y="3429000"/>
            <a:ext cx="2286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4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无法随意改代码或重启服务</a:t>
            </a:r>
            <a:endParaRPr lang="en-US" sz="1100"/>
          </a:p>
        </p:txBody>
      </p:sp>
      <p:sp>
        <p:nvSpPr>
          <p:cNvPr id="26" name="AutoShape 26"/>
          <p:cNvSpPr/>
          <p:nvPr/>
        </p:nvSpPr>
        <p:spPr>
          <a:xfrm>
            <a:off x="6413500" y="4572000"/>
            <a:ext cx="2286000" cy="1270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为排查问题而增加日志、重新部署版本，需要严格的变更窗口审批，不仅效率低下，还可能引入代码回滚的风险，影响线上SLA。</a:t>
            </a:r>
            <a:endParaRPr lang="en-US" sz="1100"/>
          </a:p>
        </p:txBody>
      </p:sp>
      <p:sp>
        <p:nvSpPr>
          <p:cNvPr id="27" name="AutoShape 27"/>
          <p:cNvSpPr/>
          <p:nvPr/>
        </p:nvSpPr>
        <p:spPr>
          <a:xfrm>
            <a:off x="9080500" y="2032000"/>
            <a:ext cx="2667000" cy="4064000"/>
          </a:xfrm>
          <a:prstGeom prst="roundRect">
            <a:avLst>
              <a:gd name="adj" fmla="val 0"/>
            </a:avLst>
          </a:prstGeom>
          <a:solidFill>
            <a:srgbClr val="FFFFFF">
              <a:alpha val="100000"/>
            </a:srgbClr>
          </a:solidFill>
          <a:ln w="12700" cap="flat" cmpd="sng">
            <a:solidFill>
              <a:srgbClr val="F97316">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8" name="AutoShape 28"/>
          <p:cNvSpPr/>
          <p:nvPr/>
        </p:nvSpPr>
        <p:spPr>
          <a:xfrm>
            <a:off x="9080500" y="2032000"/>
            <a:ext cx="2667000" cy="76200"/>
          </a:xfrm>
          <a:prstGeom prst="roundRect">
            <a:avLst>
              <a:gd name="adj" fmla="val 0"/>
            </a:avLst>
          </a:prstGeom>
          <a:solidFill>
            <a:srgbClr val="F97316">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9" name="Picture 29"/>
          <p:cNvPicPr>
            <a:picLocks noChangeAspect="1"/>
          </p:cNvPicPr>
          <p:nvPr/>
        </p:nvPicPr>
        <p:blipFill>
          <a:blip r:embed="rId4"/>
          <a:srcRect/>
          <a:stretch>
            <a:fillRect/>
          </a:stretch>
        </p:blipFill>
        <p:spPr>
          <a:xfrm>
            <a:off x="9271000" y="2349500"/>
            <a:ext cx="457200" cy="457200"/>
          </a:xfrm>
          <a:prstGeom prst="rect">
            <a:avLst/>
          </a:prstGeom>
          <a:ln w="12700">
            <a:noFill/>
            <a:prstDash val="solid"/>
          </a:ln>
        </p:spPr>
      </p:pic>
      <p:sp>
        <p:nvSpPr>
          <p:cNvPr id="30" name="AutoShape 30"/>
          <p:cNvSpPr/>
          <p:nvPr/>
        </p:nvSpPr>
        <p:spPr>
          <a:xfrm>
            <a:off x="9842500" y="2311400"/>
            <a:ext cx="177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72B4D"/>
                </a:solidFill>
                <a:latin typeface="Noto Sans SC" panose="020B0200000000000000" charset="-122"/>
                <a:ea typeface="Noto Sans SC" panose="020B0200000000000000" charset="-122"/>
                <a:cs typeface="Noto Sans SC" panose="020B0200000000000000" charset="-122"/>
                <a:sym typeface="Noto Sans SC" panose="020B0200000000000000" charset="-122"/>
              </a:rPr>
              <a:t>观测与根因存在断层</a:t>
            </a:r>
            <a:endParaRPr lang="en-US" sz="1100"/>
          </a:p>
        </p:txBody>
      </p:sp>
      <p:cxnSp>
        <p:nvCxnSpPr>
          <p:cNvPr id="31" name="Connector 31"/>
          <p:cNvCxnSpPr/>
          <p:nvPr/>
        </p:nvCxnSpPr>
        <p:spPr>
          <a:xfrm rot="-19098">
            <a:off x="9271018" y="3168650"/>
            <a:ext cx="2286000" cy="12700"/>
          </a:xfrm>
          <a:prstGeom prst="line">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32" name="AutoShape 32"/>
          <p:cNvSpPr/>
          <p:nvPr/>
        </p:nvSpPr>
        <p:spPr>
          <a:xfrm>
            <a:off x="9271000" y="3429000"/>
            <a:ext cx="2286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4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知道“哪里慢”，不知“为什么慢”</a:t>
            </a:r>
            <a:endParaRPr lang="en-US" sz="1100"/>
          </a:p>
        </p:txBody>
      </p:sp>
      <p:sp>
        <p:nvSpPr>
          <p:cNvPr id="33" name="AutoShape 33"/>
          <p:cNvSpPr/>
          <p:nvPr/>
        </p:nvSpPr>
        <p:spPr>
          <a:xfrm>
            <a:off x="9271000" y="4572000"/>
            <a:ext cx="2286000" cy="1270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现有的监控指标只能指出异常的表象，却无法穿透业务逻辑黑盒，无法解释性能瓶颈产生的根本原因，形成了数据孤岛。</a:t>
            </a:r>
            <a:endParaRPr lang="en-US" sz="1100"/>
          </a:p>
        </p:txBody>
      </p:sp>
      <p:sp>
        <p:nvSpPr>
          <p:cNvPr id="34" name="AutoShape 34"/>
          <p:cNvSpPr/>
          <p:nvPr/>
        </p:nvSpPr>
        <p:spPr>
          <a:xfrm>
            <a:off x="508000" y="6350000"/>
            <a:ext cx="11239500" cy="508000"/>
          </a:xfrm>
          <a:prstGeom prst="roundRect">
            <a:avLst>
              <a:gd name="adj" fmla="val 0"/>
            </a:avLst>
          </a:prstGeom>
          <a:solidFill>
            <a:srgbClr val="172B4D">
              <a:alpha val="3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5" name="AutoShape 35"/>
          <p:cNvSpPr/>
          <p:nvPr/>
        </p:nvSpPr>
        <p:spPr>
          <a:xfrm>
            <a:off x="508000" y="6451600"/>
            <a:ext cx="112395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核心诉求：构建低侵入、高保真、零停机的全链路业务现场还原能力，填补从观测指标到根因分析的认知空白。</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项目目标</a:t>
            </a:r>
            <a:endParaRPr lang="en-US" sz="1100"/>
          </a:p>
        </p:txBody>
      </p:sp>
      <p:cxnSp>
        <p:nvCxnSpPr>
          <p:cNvPr id="3" name="Connector 3"/>
          <p:cNvCxnSpPr/>
          <p:nvPr/>
        </p:nvCxnSpPr>
        <p:spPr>
          <a:xfrm rot="-3906">
            <a:off x="508004" y="1263650"/>
            <a:ext cx="11176000" cy="12700"/>
          </a:xfrm>
          <a:prstGeom prst="straightConnector1">
            <a:avLst/>
          </a:prstGeom>
          <a:solidFill>
            <a:srgbClr val="DEE0E3">
              <a:alpha val="100000"/>
            </a:srgbClr>
          </a:solidFill>
          <a:ln w="12700" cap="flat" cmpd="sng">
            <a:solidFill>
              <a:srgbClr val="165DFF">
                <a:alpha val="20000"/>
              </a:srgbClr>
            </a:solidFill>
            <a:prstDash val="solid"/>
            <a:round/>
            <a:headEnd type="none" w="med" len="med"/>
            <a:tailEnd type="none" w="med" len="med"/>
          </a:ln>
        </p:spPr>
      </p:cxnSp>
      <p:cxnSp>
        <p:nvCxnSpPr>
          <p:cNvPr id="4" name="Connector 4"/>
          <p:cNvCxnSpPr/>
          <p:nvPr/>
        </p:nvCxnSpPr>
        <p:spPr>
          <a:xfrm rot="5390450">
            <a:off x="3873500" y="4057659"/>
            <a:ext cx="4572000" cy="12700"/>
          </a:xfrm>
          <a:prstGeom prst="straightConnector1">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5" name="AutoShape 5"/>
          <p:cNvSpPr/>
          <p:nvPr/>
        </p:nvSpPr>
        <p:spPr>
          <a:xfrm>
            <a:off x="508000" y="1778000"/>
            <a:ext cx="5334000" cy="1079500"/>
          </a:xfrm>
          <a:prstGeom prst="roundRect">
            <a:avLst>
              <a:gd name="adj" fmla="val 0"/>
            </a:avLst>
          </a:prstGeom>
          <a:solidFill>
            <a:srgbClr val="FFFFFF">
              <a:alpha val="100000"/>
            </a:srgbClr>
          </a:solidFill>
          <a:ln w="12700" cap="flat" cmpd="sng">
            <a:solidFill>
              <a:srgbClr val="E6CFCF">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8000" y="1778000"/>
            <a:ext cx="76200" cy="10795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1"/>
          <a:srcRect/>
          <a:stretch>
            <a:fillRect/>
          </a:stretch>
        </p:blipFill>
        <p:spPr>
          <a:xfrm>
            <a:off x="762000" y="1968500"/>
            <a:ext cx="304800" cy="304800"/>
          </a:xfrm>
          <a:prstGeom prst="rect">
            <a:avLst/>
          </a:prstGeom>
          <a:ln w="12700">
            <a:noFill/>
            <a:prstDash val="solid"/>
          </a:ln>
        </p:spPr>
      </p:pic>
      <p:sp>
        <p:nvSpPr>
          <p:cNvPr id="8" name="AutoShape 8"/>
          <p:cNvSpPr/>
          <p:nvPr/>
        </p:nvSpPr>
        <p:spPr>
          <a:xfrm>
            <a:off x="1206500" y="1841500"/>
            <a:ext cx="44450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不依赖 kernel uprobe 机制</a:t>
            </a:r>
            <a:endParaRPr lang="en-US" sz="1100"/>
          </a:p>
          <a:p>
            <a:pPr marL="0" indent="0" algn="l">
              <a:lnSpc>
                <a:spcPct val="108000"/>
              </a:lnSpc>
            </a:pPr>
            <a:r>
              <a:rPr lang="en-US" sz="12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彻底摒弃对内核探针机制的强依赖，规避不同内核版本的兼容性限制，消除内核层操作可能引发的系统稳定性隐患。</a:t>
            </a:r>
            <a:endParaRPr lang="en-US" sz="12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08000" y="3048000"/>
            <a:ext cx="5334000" cy="1079500"/>
          </a:xfrm>
          <a:prstGeom prst="roundRect">
            <a:avLst>
              <a:gd name="adj" fmla="val 0"/>
            </a:avLst>
          </a:prstGeom>
          <a:solidFill>
            <a:srgbClr val="FFFFFF">
              <a:alpha val="100000"/>
            </a:srgbClr>
          </a:solidFill>
          <a:ln w="12700" cap="flat" cmpd="sng">
            <a:solidFill>
              <a:srgbClr val="E6CFCF">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508000" y="3048000"/>
            <a:ext cx="76200" cy="10795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1"/>
          <a:srcRect/>
          <a:stretch>
            <a:fillRect/>
          </a:stretch>
        </p:blipFill>
        <p:spPr>
          <a:xfrm>
            <a:off x="762000" y="3238500"/>
            <a:ext cx="304800" cy="304800"/>
          </a:xfrm>
          <a:prstGeom prst="rect">
            <a:avLst/>
          </a:prstGeom>
          <a:ln w="12700">
            <a:noFill/>
            <a:prstDash val="solid"/>
          </a:ln>
        </p:spPr>
      </p:pic>
      <p:sp>
        <p:nvSpPr>
          <p:cNvPr id="12" name="AutoShape 12"/>
          <p:cNvSpPr/>
          <p:nvPr/>
        </p:nvSpPr>
        <p:spPr>
          <a:xfrm>
            <a:off x="1206500" y="3111500"/>
            <a:ext cx="44450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零 BPF 程序开发门槛</a:t>
            </a:r>
            <a:endParaRPr lang="en-US" sz="1100"/>
          </a:p>
          <a:p>
            <a:pPr marL="0" indent="0" algn="l">
              <a:lnSpc>
                <a:spcPct val="108000"/>
              </a:lnSpc>
            </a:pPr>
            <a:r>
              <a:rPr lang="en-US" sz="12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无需编写复杂的 BPF 字节码或内核模块，降低技术准入门槛，让业务研发人员也能轻松配置和使用动态观测能力。</a:t>
            </a:r>
            <a:endParaRPr lang="en-US" sz="12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508000" y="4191000"/>
            <a:ext cx="5334000" cy="1079500"/>
          </a:xfrm>
          <a:prstGeom prst="roundRect">
            <a:avLst>
              <a:gd name="adj" fmla="val 0"/>
            </a:avLst>
          </a:prstGeom>
          <a:solidFill>
            <a:srgbClr val="FFFFFF">
              <a:alpha val="100000"/>
            </a:srgbClr>
          </a:solidFill>
          <a:ln w="12700" cap="flat" cmpd="sng">
            <a:solidFill>
              <a:srgbClr val="E6CFCF">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508000" y="4191000"/>
            <a:ext cx="76200" cy="10795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5" name="Picture 15"/>
          <p:cNvPicPr>
            <a:picLocks noChangeAspect="1"/>
          </p:cNvPicPr>
          <p:nvPr/>
        </p:nvPicPr>
        <p:blipFill>
          <a:blip r:embed="rId1"/>
          <a:srcRect/>
          <a:stretch>
            <a:fillRect/>
          </a:stretch>
        </p:blipFill>
        <p:spPr>
          <a:xfrm>
            <a:off x="762000" y="4381500"/>
            <a:ext cx="304800" cy="304800"/>
          </a:xfrm>
          <a:prstGeom prst="rect">
            <a:avLst/>
          </a:prstGeom>
          <a:ln w="12700">
            <a:noFill/>
            <a:prstDash val="solid"/>
          </a:ln>
        </p:spPr>
      </p:pic>
      <p:sp>
        <p:nvSpPr>
          <p:cNvPr id="16" name="AutoShape 16"/>
          <p:cNvSpPr/>
          <p:nvPr/>
        </p:nvSpPr>
        <p:spPr>
          <a:xfrm>
            <a:off x="1206500" y="4254500"/>
            <a:ext cx="44450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纯用户态的动态探针实现</a:t>
            </a:r>
            <a:endParaRPr lang="en-US" sz="1100"/>
          </a:p>
          <a:p>
            <a:pPr marL="0" indent="0" algn="l">
              <a:lnSpc>
                <a:spcPct val="108000"/>
              </a:lnSpc>
            </a:pPr>
            <a:r>
              <a:rPr lang="en-US" sz="12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所有探针逻辑完全运行在用户态空间，隔离内核干扰，既保证了系统的安全性，又避免了内核级调试带来的复杂性。</a:t>
            </a:r>
            <a:endParaRPr lang="en-US" sz="12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508000" y="5334000"/>
            <a:ext cx="5334000" cy="1079500"/>
          </a:xfrm>
          <a:prstGeom prst="roundRect">
            <a:avLst>
              <a:gd name="adj" fmla="val 0"/>
            </a:avLst>
          </a:prstGeom>
          <a:solidFill>
            <a:srgbClr val="FFFFFF">
              <a:alpha val="100000"/>
            </a:srgbClr>
          </a:solidFill>
          <a:ln w="12700" cap="flat" cmpd="sng">
            <a:solidFill>
              <a:srgbClr val="E6CFCF">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508000" y="5334000"/>
            <a:ext cx="76200" cy="10795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9" name="Picture 19"/>
          <p:cNvPicPr>
            <a:picLocks noChangeAspect="1"/>
          </p:cNvPicPr>
          <p:nvPr/>
        </p:nvPicPr>
        <p:blipFill>
          <a:blip r:embed="rId1"/>
          <a:srcRect/>
          <a:stretch>
            <a:fillRect/>
          </a:stretch>
        </p:blipFill>
        <p:spPr>
          <a:xfrm>
            <a:off x="762000" y="5524500"/>
            <a:ext cx="304800" cy="304800"/>
          </a:xfrm>
          <a:prstGeom prst="rect">
            <a:avLst/>
          </a:prstGeom>
          <a:ln w="12700">
            <a:noFill/>
            <a:prstDash val="solid"/>
          </a:ln>
        </p:spPr>
      </p:pic>
      <p:sp>
        <p:nvSpPr>
          <p:cNvPr id="20" name="AutoShape 20"/>
          <p:cNvSpPr/>
          <p:nvPr/>
        </p:nvSpPr>
        <p:spPr>
          <a:xfrm>
            <a:off x="1206500" y="5397500"/>
            <a:ext cx="44450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全维度数据精准采集能力</a:t>
            </a:r>
            <a:endParaRPr lang="en-US" sz="1100"/>
          </a:p>
          <a:p>
            <a:pPr marL="0" indent="0" algn="l">
              <a:lnSpc>
                <a:spcPct val="108000"/>
              </a:lnSpc>
            </a:pPr>
            <a:r>
              <a:rPr lang="en-US" sz="12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不仅捕获函数调用，更支持参数、返回值、调用耗时的完整采集，提供业务视角的全链路观测数据支撑。</a:t>
            </a:r>
            <a:endParaRPr lang="en-US" sz="12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6477000" y="1778000"/>
            <a:ext cx="5207000" cy="1397000"/>
          </a:xfrm>
          <a:prstGeom prst="roundRect">
            <a:avLst>
              <a:gd name="adj" fmla="val 0"/>
            </a:avLst>
          </a:prstGeom>
          <a:solidFill>
            <a:srgbClr val="3B82F6">
              <a:alpha val="8000"/>
            </a:srgbClr>
          </a:solidFill>
          <a:ln w="12700" cap="flat" cmpd="sng">
            <a:solidFill>
              <a:srgbClr val="3B82F6">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6667500" y="1968500"/>
            <a:ext cx="762000" cy="762000"/>
          </a:xfrm>
          <a:prstGeom prst="ellipse">
            <a:avLst/>
          </a:prstGeom>
          <a:solidFill>
            <a:srgbClr val="3B82F6">
              <a:alpha val="15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3" name="Picture 23"/>
          <p:cNvPicPr>
            <a:picLocks noChangeAspect="1"/>
          </p:cNvPicPr>
          <p:nvPr/>
        </p:nvPicPr>
        <p:blipFill>
          <a:blip r:embed="rId2"/>
          <a:srcRect/>
          <a:stretch>
            <a:fillRect/>
          </a:stretch>
        </p:blipFill>
        <p:spPr>
          <a:xfrm>
            <a:off x="6819900" y="2120900"/>
            <a:ext cx="457200" cy="457200"/>
          </a:xfrm>
          <a:prstGeom prst="rect">
            <a:avLst/>
          </a:prstGeom>
          <a:ln w="12700">
            <a:noFill/>
            <a:prstDash val="solid"/>
          </a:ln>
        </p:spPr>
      </p:pic>
      <p:sp>
        <p:nvSpPr>
          <p:cNvPr id="24" name="AutoShape 24"/>
          <p:cNvSpPr/>
          <p:nvPr/>
        </p:nvSpPr>
        <p:spPr>
          <a:xfrm>
            <a:off x="7683500" y="1879600"/>
            <a:ext cx="3873500" cy="1206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更低开销：极致轻量化架构</a:t>
            </a:r>
            <a:endParaRPr lang="en-US" sz="1100"/>
          </a:p>
          <a:p>
            <a:pPr marL="0" indent="0" algn="l">
              <a:lnSpc>
                <a:spcPct val="108000"/>
              </a:lnSpc>
            </a:pPr>
            <a:r>
              <a:rPr lang="en-US" sz="13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通过纯用户态实现减少了内核态与用户态的频繁上下文切换，大幅降低热点函数探针运行时的CPU占用，保障核心业务性能不受影响。</a:t>
            </a:r>
            <a:endParaRPr lang="en-US" sz="13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477000" y="3429000"/>
            <a:ext cx="5207000" cy="1397000"/>
          </a:xfrm>
          <a:prstGeom prst="roundRect">
            <a:avLst>
              <a:gd name="adj" fmla="val 0"/>
            </a:avLst>
          </a:prstGeom>
          <a:solidFill>
            <a:srgbClr val="F97316">
              <a:alpha val="8000"/>
            </a:srgbClr>
          </a:solidFill>
          <a:ln w="12700" cap="flat" cmpd="sng">
            <a:solidFill>
              <a:srgbClr val="F97316">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6" name="AutoShape 26"/>
          <p:cNvSpPr/>
          <p:nvPr/>
        </p:nvSpPr>
        <p:spPr>
          <a:xfrm>
            <a:off x="6667500" y="3619500"/>
            <a:ext cx="762000" cy="762000"/>
          </a:xfrm>
          <a:prstGeom prst="ellipse">
            <a:avLst/>
          </a:prstGeom>
          <a:solidFill>
            <a:srgbClr val="F97316">
              <a:alpha val="15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7" name="Picture 27"/>
          <p:cNvPicPr>
            <a:picLocks noChangeAspect="1"/>
          </p:cNvPicPr>
          <p:nvPr/>
        </p:nvPicPr>
        <p:blipFill>
          <a:blip r:embed="rId3"/>
          <a:srcRect/>
          <a:stretch>
            <a:fillRect/>
          </a:stretch>
        </p:blipFill>
        <p:spPr>
          <a:xfrm>
            <a:off x="6819900" y="3771900"/>
            <a:ext cx="457200" cy="457200"/>
          </a:xfrm>
          <a:prstGeom prst="rect">
            <a:avLst/>
          </a:prstGeom>
          <a:ln w="12700">
            <a:noFill/>
            <a:prstDash val="solid"/>
          </a:ln>
        </p:spPr>
      </p:pic>
      <p:sp>
        <p:nvSpPr>
          <p:cNvPr id="28" name="AutoShape 28"/>
          <p:cNvSpPr/>
          <p:nvPr/>
        </p:nvSpPr>
        <p:spPr>
          <a:xfrm>
            <a:off x="7683500" y="3530600"/>
            <a:ext cx="3873500" cy="1206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更快定位：直击故障根源</a:t>
            </a:r>
            <a:endParaRPr lang="en-US" sz="1100"/>
          </a:p>
          <a:p>
            <a:pPr marL="0" indent="0" algn="l">
              <a:lnSpc>
                <a:spcPct val="108000"/>
              </a:lnSpc>
            </a:pPr>
            <a:r>
              <a:rPr lang="en-US" sz="13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无需复杂的日志埋点，直接获取函数调用的实际参数、返回值及执行耗时，故障现场信息完整留存，将排查时间从小时级缩短至分钟级。</a:t>
            </a:r>
            <a:endParaRPr lang="en-US" sz="13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6477000" y="5080000"/>
            <a:ext cx="5207000" cy="13970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0" name="AutoShape 30"/>
          <p:cNvSpPr/>
          <p:nvPr/>
        </p:nvSpPr>
        <p:spPr>
          <a:xfrm>
            <a:off x="6667500" y="5270500"/>
            <a:ext cx="762000" cy="762000"/>
          </a:xfrm>
          <a:prstGeom prst="ellipse">
            <a:avLst/>
          </a:prstGeom>
          <a:solidFill>
            <a:srgbClr val="10B981">
              <a:alpha val="15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1" name="Picture 31"/>
          <p:cNvPicPr>
            <a:picLocks noChangeAspect="1"/>
          </p:cNvPicPr>
          <p:nvPr/>
        </p:nvPicPr>
        <p:blipFill>
          <a:blip r:embed="rId4"/>
          <a:srcRect/>
          <a:stretch>
            <a:fillRect/>
          </a:stretch>
        </p:blipFill>
        <p:spPr>
          <a:xfrm>
            <a:off x="6819900" y="5422900"/>
            <a:ext cx="457200" cy="457200"/>
          </a:xfrm>
          <a:prstGeom prst="rect">
            <a:avLst/>
          </a:prstGeom>
          <a:ln w="12700">
            <a:noFill/>
            <a:prstDash val="solid"/>
          </a:ln>
        </p:spPr>
      </p:pic>
      <p:sp>
        <p:nvSpPr>
          <p:cNvPr id="32" name="AutoShape 32"/>
          <p:cNvSpPr/>
          <p:nvPr/>
        </p:nvSpPr>
        <p:spPr>
          <a:xfrm>
            <a:off x="7683500" y="5181600"/>
            <a:ext cx="3873500" cy="1206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更低风险：无损业务侵入</a:t>
            </a:r>
            <a:endParaRPr lang="en-US" sz="1100"/>
          </a:p>
          <a:p>
            <a:pPr marL="0" indent="0" algn="l">
              <a:lnSpc>
                <a:spcPct val="108000"/>
              </a:lnSpc>
            </a:pPr>
            <a:r>
              <a:rPr lang="en-US" sz="13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观测过程无需修改业务代码、无需重启服务。探针支持即时注入与清理，无任何残留，完美契合生产环境的稳定性要求。</a:t>
            </a:r>
            <a:endParaRPr lang="en-US" sz="13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整体方案</a:t>
            </a:r>
            <a:endParaRPr lang="en-US" sz="1100"/>
          </a:p>
        </p:txBody>
      </p:sp>
      <p:cxnSp>
        <p:nvCxnSpPr>
          <p:cNvPr id="3" name="Connector 3"/>
          <p:cNvCxnSpPr/>
          <p:nvPr/>
        </p:nvCxnSpPr>
        <p:spPr>
          <a:xfrm rot="-3906">
            <a:off x="508004" y="1136650"/>
            <a:ext cx="11176000" cy="12700"/>
          </a:xfrm>
          <a:prstGeom prst="line">
            <a:avLst/>
          </a:prstGeom>
          <a:solidFill>
            <a:srgbClr val="DEE0E3">
              <a:alpha val="100000"/>
            </a:srgbClr>
          </a:solidFill>
          <a:ln w="12700" cap="flat" cmpd="sng">
            <a:solidFill>
              <a:srgbClr val="165DFF">
                <a:alpha val="20000"/>
              </a:srgbClr>
            </a:solidFill>
            <a:prstDash val="solid"/>
            <a:round/>
            <a:headEnd type="none" w="med" len="med"/>
            <a:tailEnd type="none" w="med" len="med"/>
          </a:ln>
        </p:spPr>
      </p:cxnSp>
      <p:sp>
        <p:nvSpPr>
          <p:cNvPr id="4" name="AutoShape 4"/>
          <p:cNvSpPr/>
          <p:nvPr/>
        </p:nvSpPr>
        <p:spPr>
          <a:xfrm>
            <a:off x="508000" y="1524000"/>
            <a:ext cx="5397500" cy="3683000"/>
          </a:xfrm>
          <a:prstGeom prst="roundRect">
            <a:avLst>
              <a:gd name="adj" fmla="val 0"/>
            </a:avLst>
          </a:prstGeom>
          <a:solidFill>
            <a:srgbClr val="EBEDF0">
              <a:alpha val="50000"/>
            </a:srgbClr>
          </a:solidFill>
          <a:ln w="12700" cap="flat" cmpd="sng">
            <a:solidFill>
              <a:srgbClr val="BDC7D6">
                <a:alpha val="5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508000" y="1524000"/>
            <a:ext cx="5397500" cy="508000"/>
          </a:xfrm>
          <a:prstGeom prst="roundRect">
            <a:avLst>
              <a:gd name="adj" fmla="val 0"/>
            </a:avLst>
          </a:prstGeom>
          <a:solidFill>
            <a:srgbClr val="6E7191">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635000" y="1625600"/>
            <a:ext cx="304800" cy="304800"/>
          </a:xfrm>
          <a:prstGeom prst="rect">
            <a:avLst/>
          </a:prstGeom>
          <a:ln w="12700">
            <a:noFill/>
            <a:prstDash val="solid"/>
          </a:ln>
        </p:spPr>
      </p:pic>
      <p:sp>
        <p:nvSpPr>
          <p:cNvPr id="7" name="AutoShape 7"/>
          <p:cNvSpPr/>
          <p:nvPr/>
        </p:nvSpPr>
        <p:spPr>
          <a:xfrm>
            <a:off x="1016000" y="1600200"/>
            <a:ext cx="4445000" cy="3556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6E7191"/>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传统故障排查链路：被动且低效</a:t>
            </a:r>
            <a:endParaRPr lang="en-US" sz="1100"/>
          </a:p>
        </p:txBody>
      </p:sp>
      <p:sp>
        <p:nvSpPr>
          <p:cNvPr id="8" name="AutoShape 8"/>
          <p:cNvSpPr/>
          <p:nvPr/>
        </p:nvSpPr>
        <p:spPr>
          <a:xfrm>
            <a:off x="635000" y="2286000"/>
            <a:ext cx="2476500" cy="1206500"/>
          </a:xfrm>
          <a:prstGeom prst="roundRect">
            <a:avLst>
              <a:gd name="adj" fmla="val 0"/>
            </a:avLst>
          </a:prstGeom>
          <a:solidFill>
            <a:srgbClr val="FFFFFF">
              <a:alpha val="100000"/>
            </a:srgbClr>
          </a:solidFill>
          <a:ln w="12700" cap="flat" cmpd="sng">
            <a:solidFill>
              <a:srgbClr val="6E7191">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762000" y="2413000"/>
            <a:ext cx="2222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告警触发，信息缺失</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仅能获取基础监控指标，缺乏核心业务日志，故障现场信息极度匮乏，难以定位方向。</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3302000" y="2286000"/>
            <a:ext cx="2476500" cy="1206500"/>
          </a:xfrm>
          <a:prstGeom prst="roundRect">
            <a:avLst>
              <a:gd name="adj" fmla="val 0"/>
            </a:avLst>
          </a:prstGeom>
          <a:solidFill>
            <a:srgbClr val="FFFFFF">
              <a:alpha val="100000"/>
            </a:srgbClr>
          </a:solidFill>
          <a:ln w="12700" cap="flat" cmpd="sng">
            <a:solidFill>
              <a:srgbClr val="6E7191">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3429000" y="2413000"/>
            <a:ext cx="2222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尝试复现，困难重重</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生产环境偶发故障受流量、时序影响大，本地或测试环境难以稳定复现，排查陷入僵局。</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35000" y="3810000"/>
            <a:ext cx="2476500" cy="1206500"/>
          </a:xfrm>
          <a:prstGeom prst="roundRect">
            <a:avLst>
              <a:gd name="adj" fmla="val 0"/>
            </a:avLst>
          </a:prstGeom>
          <a:solidFill>
            <a:srgbClr val="FFFFFF">
              <a:alpha val="100000"/>
            </a:srgbClr>
          </a:solidFill>
          <a:ln w="12700" cap="flat" cmpd="sng">
            <a:solidFill>
              <a:srgbClr val="6E7191">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762000" y="3937000"/>
            <a:ext cx="2222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加日志/改代码，周期长</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需要编写代码、提交评审、等待发布窗口，流程繁琐，极大拉长了故障排查的时间周期。</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3302000" y="3810000"/>
            <a:ext cx="2476500" cy="1206500"/>
          </a:xfrm>
          <a:prstGeom prst="roundRect">
            <a:avLst>
              <a:gd name="adj" fmla="val 0"/>
            </a:avLst>
          </a:prstGeom>
          <a:solidFill>
            <a:srgbClr val="FFFFFF">
              <a:alpha val="100000"/>
            </a:srgbClr>
          </a:solidFill>
          <a:ln w="12700" cap="flat" cmpd="sng">
            <a:solidFill>
              <a:srgbClr val="6E7191">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3429000" y="3937000"/>
            <a:ext cx="2222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重新观察，现场丢失</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变更发布后，原始故障现场早已被覆盖或消失，即使加上日志也无法回溯当时的真实上下文。</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6" name="Connector 16"/>
          <p:cNvCxnSpPr/>
          <p:nvPr/>
        </p:nvCxnSpPr>
        <p:spPr>
          <a:xfrm rot="5386777">
            <a:off x="4445000" y="3422662"/>
            <a:ext cx="33020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7" name="AutoShape 17"/>
          <p:cNvSpPr/>
          <p:nvPr/>
        </p:nvSpPr>
        <p:spPr>
          <a:xfrm>
            <a:off x="6286500" y="1524000"/>
            <a:ext cx="5397500" cy="3683000"/>
          </a:xfrm>
          <a:prstGeom prst="roundRect">
            <a:avLst>
              <a:gd name="adj" fmla="val 0"/>
            </a:avLst>
          </a:prstGeom>
          <a:solidFill>
            <a:srgbClr val="165DFF">
              <a:alpha val="5000"/>
            </a:srgbClr>
          </a:solidFill>
          <a:ln w="12700" cap="flat" cmpd="sng">
            <a:solidFill>
              <a:srgbClr val="0046E6">
                <a:alpha val="5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6286500" y="1524000"/>
            <a:ext cx="5397500" cy="508000"/>
          </a:xfrm>
          <a:prstGeom prst="roundRect">
            <a:avLst>
              <a:gd name="adj" fmla="val 0"/>
            </a:avLst>
          </a:prstGeom>
          <a:solidFill>
            <a:srgbClr val="165DFF">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9" name="Picture 19"/>
          <p:cNvPicPr>
            <a:picLocks noChangeAspect="1"/>
          </p:cNvPicPr>
          <p:nvPr/>
        </p:nvPicPr>
        <p:blipFill>
          <a:blip r:embed="rId2"/>
          <a:srcRect/>
          <a:stretch>
            <a:fillRect/>
          </a:stretch>
        </p:blipFill>
        <p:spPr>
          <a:xfrm>
            <a:off x="6413500" y="1625600"/>
            <a:ext cx="304800" cy="304800"/>
          </a:xfrm>
          <a:prstGeom prst="rect">
            <a:avLst/>
          </a:prstGeom>
          <a:ln w="12700">
            <a:noFill/>
            <a:prstDash val="solid"/>
          </a:ln>
        </p:spPr>
      </p:pic>
      <p:sp>
        <p:nvSpPr>
          <p:cNvPr id="20" name="AutoShape 20"/>
          <p:cNvSpPr/>
          <p:nvPr/>
        </p:nvSpPr>
        <p:spPr>
          <a:xfrm>
            <a:off x="6794500" y="1600200"/>
            <a:ext cx="4635500" cy="3556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LightProbe 智能排障链路：主动且精准</a:t>
            </a:r>
            <a:endParaRPr lang="en-US" sz="1100"/>
          </a:p>
        </p:txBody>
      </p:sp>
      <p:sp>
        <p:nvSpPr>
          <p:cNvPr id="21" name="AutoShape 21"/>
          <p:cNvSpPr/>
          <p:nvPr/>
        </p:nvSpPr>
        <p:spPr>
          <a:xfrm>
            <a:off x="6413500" y="2286000"/>
            <a:ext cx="2476500" cy="1206500"/>
          </a:xfrm>
          <a:prstGeom prst="roundRect">
            <a:avLst>
              <a:gd name="adj" fmla="val 0"/>
            </a:avLst>
          </a:prstGeom>
          <a:solidFill>
            <a:srgbClr val="FFFFFF">
              <a:alpha val="100000"/>
            </a:srgbClr>
          </a:solidFill>
          <a:ln w="12700" cap="flat" cmpd="sng">
            <a:solidFill>
              <a:srgbClr val="165DFF">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6540500" y="2413000"/>
            <a:ext cx="2222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5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告警即响应，锁定目标</a:t>
            </a:r>
            <a:endParaRPr lang="en-US" sz="1100"/>
          </a:p>
          <a:p>
            <a:pPr marL="0" indent="0" algn="l">
              <a:lnSpc>
                <a:spcPct val="108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无需等待，直接在生产环境选择出现异常的目标进程与具体业务函数，快速聚焦问题点。</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9080500" y="2286000"/>
            <a:ext cx="2476500" cy="1206500"/>
          </a:xfrm>
          <a:prstGeom prst="roundRect">
            <a:avLst>
              <a:gd name="adj" fmla="val 0"/>
            </a:avLst>
          </a:prstGeom>
          <a:solidFill>
            <a:srgbClr val="FFFFFF">
              <a:alpha val="100000"/>
            </a:srgbClr>
          </a:solidFill>
          <a:ln w="12700" cap="flat" cmpd="sng">
            <a:solidFill>
              <a:srgbClr val="165DFF">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4" name="AutoShape 24"/>
          <p:cNvSpPr/>
          <p:nvPr/>
        </p:nvSpPr>
        <p:spPr>
          <a:xfrm>
            <a:off x="9207500" y="2413000"/>
            <a:ext cx="2222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5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动态 Attach，无损运行</a:t>
            </a:r>
            <a:endParaRPr lang="en-US" sz="1100"/>
          </a:p>
          <a:p>
            <a:pPr marL="0" indent="0" algn="l">
              <a:lnSpc>
                <a:spcPct val="108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安全暂停目标线程，动态写入Runtime探针逻辑，无需重启服务，不影响其他正常业务请求。</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413500" y="3810000"/>
            <a:ext cx="2476500" cy="1206500"/>
          </a:xfrm>
          <a:prstGeom prst="roundRect">
            <a:avLst>
              <a:gd name="adj" fmla="val 0"/>
            </a:avLst>
          </a:prstGeom>
          <a:solidFill>
            <a:srgbClr val="FFFFFF">
              <a:alpha val="100000"/>
            </a:srgbClr>
          </a:solidFill>
          <a:ln w="12700" cap="flat" cmpd="sng">
            <a:solidFill>
              <a:srgbClr val="165DFF">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6" name="AutoShape 26"/>
          <p:cNvSpPr/>
          <p:nvPr/>
        </p:nvSpPr>
        <p:spPr>
          <a:xfrm>
            <a:off x="6540500" y="3937000"/>
            <a:ext cx="2222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5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实时采集，全量上下文</a:t>
            </a:r>
            <a:endParaRPr lang="en-US" sz="1100"/>
          </a:p>
          <a:p>
            <a:pPr marL="0" indent="0" algn="l">
              <a:lnSpc>
                <a:spcPct val="108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精准捕获函数入参、返回值、堆栈信息及执行耗时，完整还原故障发生时的代码执行路径。</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9080500" y="3810000"/>
            <a:ext cx="2476500" cy="1206500"/>
          </a:xfrm>
          <a:prstGeom prst="roundRect">
            <a:avLst>
              <a:gd name="adj" fmla="val 0"/>
            </a:avLst>
          </a:prstGeom>
          <a:solidFill>
            <a:srgbClr val="FFFFFF">
              <a:alpha val="100000"/>
            </a:srgbClr>
          </a:solidFill>
          <a:ln w="12700" cap="flat" cmpd="sng">
            <a:solidFill>
              <a:srgbClr val="165DFF">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8" name="AutoShape 28"/>
          <p:cNvSpPr/>
          <p:nvPr/>
        </p:nvSpPr>
        <p:spPr>
          <a:xfrm>
            <a:off x="9207500" y="3937000"/>
            <a:ext cx="2222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5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04. 智能 Detach，业务自愈</a:t>
            </a:r>
            <a:endParaRPr lang="en-US" sz="1100"/>
          </a:p>
          <a:p>
            <a:pPr marL="0" indent="0" algn="l">
              <a:lnSpc>
                <a:spcPct val="108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采集完成后自动恢复原始指令流，线程继续执行，对业务系统零侵入、零残留、零影响。</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508000" y="5524500"/>
            <a:ext cx="11176000" cy="1079500"/>
          </a:xfrm>
          <a:prstGeom prst="roundRect">
            <a:avLst>
              <a:gd name="adj" fmla="val 0"/>
            </a:avLst>
          </a:prstGeom>
          <a:solidFill>
            <a:srgbClr val="165DFF">
              <a:alpha val="8000"/>
            </a:srgbClr>
          </a:solidFill>
          <a:ln w="12700" cap="flat" cmpd="sng">
            <a:solidFill>
              <a:srgbClr val="165DFF">
                <a:alpha val="15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0" name="AutoShape 30"/>
          <p:cNvSpPr/>
          <p:nvPr/>
        </p:nvSpPr>
        <p:spPr>
          <a:xfrm>
            <a:off x="635000" y="5651500"/>
            <a:ext cx="3505200" cy="825500"/>
          </a:xfrm>
          <a:prstGeom prst="roundRect">
            <a:avLst>
              <a:gd name="adj" fmla="val 0"/>
            </a:avLst>
          </a:prstGeom>
          <a:solidFill>
            <a:srgbClr val="FFFFFF">
              <a:alpha val="6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1" name="Picture 31"/>
          <p:cNvPicPr>
            <a:picLocks noChangeAspect="1"/>
          </p:cNvPicPr>
          <p:nvPr/>
        </p:nvPicPr>
        <p:blipFill>
          <a:blip r:embed="rId3"/>
          <a:srcRect/>
          <a:stretch>
            <a:fillRect/>
          </a:stretch>
        </p:blipFill>
        <p:spPr>
          <a:xfrm>
            <a:off x="762000" y="5816600"/>
            <a:ext cx="355600" cy="355600"/>
          </a:xfrm>
          <a:prstGeom prst="rect">
            <a:avLst/>
          </a:prstGeom>
          <a:ln w="12700">
            <a:noFill/>
            <a:prstDash val="solid"/>
          </a:ln>
        </p:spPr>
      </p:pic>
      <p:sp>
        <p:nvSpPr>
          <p:cNvPr id="32" name="AutoShape 32"/>
          <p:cNvSpPr/>
          <p:nvPr/>
        </p:nvSpPr>
        <p:spPr>
          <a:xfrm>
            <a:off x="1270000" y="5715000"/>
            <a:ext cx="2730500" cy="698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保全现场：拒绝信息丢失</a:t>
            </a:r>
            <a:endParaRPr lang="en-US" sz="1100"/>
          </a:p>
          <a:p>
            <a:pPr marL="0" indent="0" algn="l">
              <a:lnSpc>
                <a:spcPct val="100000"/>
              </a:lnSpc>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无需等待发布，实时锁定故障上下文，彻底解决传统排查中“人到现场，故障已走”的难题。</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3" name="Connector 33"/>
          <p:cNvCxnSpPr/>
          <p:nvPr/>
        </p:nvCxnSpPr>
        <p:spPr>
          <a:xfrm rot="5347115">
            <a:off x="3930650" y="6057949"/>
            <a:ext cx="825500" cy="12700"/>
          </a:xfrm>
          <a:prstGeom prst="line">
            <a:avLst/>
          </a:prstGeom>
          <a:solidFill>
            <a:srgbClr val="DEE0E3">
              <a:alpha val="100000"/>
            </a:srgbClr>
          </a:solidFill>
          <a:ln w="12700" cap="flat" cmpd="sng">
            <a:solidFill>
              <a:srgbClr val="165DFF">
                <a:alpha val="20000"/>
              </a:srgbClr>
            </a:solidFill>
            <a:prstDash val="solid"/>
            <a:round/>
            <a:headEnd type="none" w="med" len="med"/>
            <a:tailEnd type="none" w="med" len="med"/>
          </a:ln>
        </p:spPr>
      </p:cxnSp>
      <p:sp>
        <p:nvSpPr>
          <p:cNvPr id="34" name="AutoShape 34"/>
          <p:cNvSpPr/>
          <p:nvPr/>
        </p:nvSpPr>
        <p:spPr>
          <a:xfrm>
            <a:off x="4470400" y="5651500"/>
            <a:ext cx="3505200" cy="825500"/>
          </a:xfrm>
          <a:prstGeom prst="roundRect">
            <a:avLst>
              <a:gd name="adj" fmla="val 0"/>
            </a:avLst>
          </a:prstGeom>
          <a:solidFill>
            <a:srgbClr val="FFFFFF">
              <a:alpha val="6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5" name="Picture 35"/>
          <p:cNvPicPr>
            <a:picLocks noChangeAspect="1"/>
          </p:cNvPicPr>
          <p:nvPr/>
        </p:nvPicPr>
        <p:blipFill>
          <a:blip r:embed="rId4"/>
          <a:srcRect/>
          <a:stretch>
            <a:fillRect/>
          </a:stretch>
        </p:blipFill>
        <p:spPr>
          <a:xfrm>
            <a:off x="4597400" y="5816600"/>
            <a:ext cx="355600" cy="355600"/>
          </a:xfrm>
          <a:prstGeom prst="rect">
            <a:avLst/>
          </a:prstGeom>
          <a:ln w="12700">
            <a:noFill/>
            <a:prstDash val="solid"/>
          </a:ln>
        </p:spPr>
      </p:pic>
      <p:sp>
        <p:nvSpPr>
          <p:cNvPr id="36" name="AutoShape 36"/>
          <p:cNvSpPr/>
          <p:nvPr/>
        </p:nvSpPr>
        <p:spPr>
          <a:xfrm>
            <a:off x="5105400" y="5715000"/>
            <a:ext cx="2730500" cy="698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极简操作：告别繁琐部署</a:t>
            </a:r>
            <a:endParaRPr lang="en-US" sz="1100"/>
          </a:p>
          <a:p>
            <a:pPr marL="0" indent="0" algn="l">
              <a:lnSpc>
                <a:spcPct val="100000"/>
              </a:lnSpc>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省去代码修改、评审和发布流程，动态注入探针直达根因，将排查周期从天级压缩至分钟级。</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7" name="Connector 37"/>
          <p:cNvCxnSpPr/>
          <p:nvPr/>
        </p:nvCxnSpPr>
        <p:spPr>
          <a:xfrm rot="5347115">
            <a:off x="7639050" y="6057949"/>
            <a:ext cx="825500" cy="12700"/>
          </a:xfrm>
          <a:prstGeom prst="line">
            <a:avLst/>
          </a:prstGeom>
          <a:solidFill>
            <a:srgbClr val="DEE0E3">
              <a:alpha val="100000"/>
            </a:srgbClr>
          </a:solidFill>
          <a:ln w="12700" cap="flat" cmpd="sng">
            <a:solidFill>
              <a:srgbClr val="165DFF">
                <a:alpha val="20000"/>
              </a:srgbClr>
            </a:solidFill>
            <a:prstDash val="solid"/>
            <a:round/>
            <a:headEnd type="none" w="med" len="med"/>
            <a:tailEnd type="none" w="med" len="med"/>
          </a:ln>
        </p:spPr>
      </p:cxnSp>
      <p:sp>
        <p:nvSpPr>
          <p:cNvPr id="38" name="AutoShape 38"/>
          <p:cNvSpPr/>
          <p:nvPr/>
        </p:nvSpPr>
        <p:spPr>
          <a:xfrm>
            <a:off x="8178800" y="5651500"/>
            <a:ext cx="3378200" cy="825500"/>
          </a:xfrm>
          <a:prstGeom prst="roundRect">
            <a:avLst>
              <a:gd name="adj" fmla="val 0"/>
            </a:avLst>
          </a:prstGeom>
          <a:solidFill>
            <a:srgbClr val="FFFFFF">
              <a:alpha val="6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9" name="Picture 39"/>
          <p:cNvPicPr>
            <a:picLocks noChangeAspect="1"/>
          </p:cNvPicPr>
          <p:nvPr/>
        </p:nvPicPr>
        <p:blipFill>
          <a:blip r:embed="rId5"/>
          <a:srcRect/>
          <a:stretch>
            <a:fillRect/>
          </a:stretch>
        </p:blipFill>
        <p:spPr>
          <a:xfrm>
            <a:off x="8305800" y="5816600"/>
            <a:ext cx="355600" cy="355600"/>
          </a:xfrm>
          <a:prstGeom prst="rect">
            <a:avLst/>
          </a:prstGeom>
          <a:ln w="12700">
            <a:noFill/>
            <a:prstDash val="solid"/>
          </a:ln>
        </p:spPr>
      </p:pic>
      <p:sp>
        <p:nvSpPr>
          <p:cNvPr id="40" name="AutoShape 40"/>
          <p:cNvSpPr/>
          <p:nvPr/>
        </p:nvSpPr>
        <p:spPr>
          <a:xfrm>
            <a:off x="8813800" y="5715000"/>
            <a:ext cx="2603500" cy="698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165DFF"/>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精准定位：缩短根因路径</a:t>
            </a:r>
            <a:endParaRPr lang="en-US" sz="1100"/>
          </a:p>
          <a:p>
            <a:pPr marL="0" indent="0" algn="l">
              <a:lnSpc>
                <a:spcPct val="100000"/>
              </a:lnSpc>
            </a:pPr>
            <a:r>
              <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从模糊的告警指标直接穿透到具体的代码逻辑和数据，大幅减少排查的试错成本与时间成本。</a:t>
            </a:r>
            <a:endParaRPr lang="en-US" sz="11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525000" y="-1016000"/>
            <a:ext cx="3810000" cy="3810000"/>
          </a:xfrm>
          <a:prstGeom prst="ellipse">
            <a:avLst/>
          </a:prstGeom>
          <a:solidFill>
            <a:srgbClr val="0A3D62">
              <a:alpha val="5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5080000"/>
            <a:ext cx="3175000" cy="3175000"/>
          </a:xfrm>
          <a:prstGeom prst="ellipse">
            <a:avLst/>
          </a:prstGeom>
          <a:solidFill>
            <a:srgbClr val="0A3D62">
              <a:alpha val="5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508000" y="508000"/>
            <a:ext cx="3810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A3D62"/>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a:t>
            </a:r>
            <a:endParaRPr lang="en-US" sz="1100"/>
          </a:p>
        </p:txBody>
      </p:sp>
      <p:sp>
        <p:nvSpPr>
          <p:cNvPr id="5" name="AutoShape 5"/>
          <p:cNvSpPr/>
          <p:nvPr/>
        </p:nvSpPr>
        <p:spPr>
          <a:xfrm>
            <a:off x="508000" y="1178560"/>
            <a:ext cx="3810000" cy="2540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面向用户的简化架构 — 底层 controller、injector 与 runtime 被合并为用户可理解的能力层，剥离复杂的底层实现细节，直观突出数据输入、逻辑执行与业务价值输出的完整链路。</a:t>
            </a:r>
            <a:endParaRPr lang="en-US" sz="1100"/>
          </a:p>
        </p:txBody>
      </p:sp>
      <p:sp>
        <p:nvSpPr>
          <p:cNvPr id="6" name="AutoShape 6"/>
          <p:cNvSpPr/>
          <p:nvPr>
            <p:custDataLst>
              <p:tags r:id="rId1"/>
            </p:custDataLst>
          </p:nvPr>
        </p:nvSpPr>
        <p:spPr>
          <a:xfrm>
            <a:off x="508000" y="5080000"/>
            <a:ext cx="3556000" cy="1079500"/>
          </a:xfrm>
          <a:prstGeom prst="roundRect">
            <a:avLst>
              <a:gd name="adj" fmla="val 0"/>
            </a:avLst>
          </a:prstGeom>
          <a:solidFill>
            <a:srgbClr val="0A3D62">
              <a:alpha val="6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custDataLst>
              <p:tags r:id="rId2"/>
            </p:custDataLst>
          </p:nvPr>
        </p:nvSpPr>
        <p:spPr>
          <a:xfrm>
            <a:off x="508000" y="5080000"/>
            <a:ext cx="50800" cy="1079500"/>
          </a:xfrm>
          <a:prstGeom prst="roundRect">
            <a:avLst>
              <a:gd name="adj" fmla="val 0"/>
            </a:avLst>
          </a:prstGeom>
          <a:solidFill>
            <a:srgbClr val="0A3D62">
              <a:alpha val="100000"/>
            </a:srgbClr>
          </a:solidFill>
          <a:ln w="25400" cap="flat" cmpd="sng">
            <a:noFill/>
            <a:prstDash val="solid"/>
            <a:round/>
          </a:ln>
        </p:spPr>
        <p:txBody>
          <a:bodyPr vert="horz" wrap="square" lIns="0" tIns="0" rIns="0" bIns="0" rtlCol="0" anchor="ctr" anchorCtr="0"/>
          <a:lstStyle/>
          <a:p>
            <a:pPr algn="ctr">
              <a:defRPr/>
            </a:pPr>
          </a:p>
        </p:txBody>
      </p:sp>
      <p:pic>
        <p:nvPicPr>
          <p:cNvPr id="8" name="Picture 8"/>
          <p:cNvPicPr>
            <a:picLocks noChangeAspect="1"/>
          </p:cNvPicPr>
          <p:nvPr>
            <p:custDataLst>
              <p:tags r:id="rId3"/>
            </p:custDataLst>
          </p:nvPr>
        </p:nvPicPr>
        <p:blipFill>
          <a:blip r:embed="rId4"/>
          <a:srcRect/>
          <a:stretch>
            <a:fillRect/>
          </a:stretch>
        </p:blipFill>
        <p:spPr>
          <a:xfrm>
            <a:off x="698500" y="5232400"/>
            <a:ext cx="355600" cy="355600"/>
          </a:xfrm>
          <a:prstGeom prst="rect">
            <a:avLst/>
          </a:prstGeom>
          <a:noFill/>
          <a:ln w="25400" cap="flat" cmpd="sng">
            <a:noFill/>
            <a:prstDash val="solid"/>
            <a:round/>
          </a:ln>
        </p:spPr>
      </p:pic>
      <p:sp>
        <p:nvSpPr>
          <p:cNvPr id="9" name="AutoShape 9"/>
          <p:cNvSpPr/>
          <p:nvPr>
            <p:custDataLst>
              <p:tags r:id="rId5"/>
            </p:custDataLst>
          </p:nvPr>
        </p:nvSpPr>
        <p:spPr>
          <a:xfrm>
            <a:off x="1143000" y="5207000"/>
            <a:ext cx="2794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A3D62"/>
                </a:solidFill>
                <a:latin typeface="Noto Sans SC" panose="020B0200000000000000" charset="-122"/>
                <a:ea typeface="Noto Sans SC" panose="020B0200000000000000" charset="-122"/>
                <a:cs typeface="Noto Sans SC" panose="020B0200000000000000" charset="-122"/>
                <a:sym typeface="Noto Sans SC" panose="020B0200000000000000" charset="-122"/>
              </a:rPr>
              <a:t>极简接入层设计</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屏蔽底层 SDK 与容器差异，提供标准化的接入入口，降低用户集成成本与学习门槛。</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6"/>
            </p:custDataLst>
          </p:nvPr>
        </p:nvSpPr>
        <p:spPr>
          <a:xfrm>
            <a:off x="4318000" y="5080000"/>
            <a:ext cx="3556000" cy="1079500"/>
          </a:xfrm>
          <a:prstGeom prst="roundRect">
            <a:avLst>
              <a:gd name="adj" fmla="val 0"/>
            </a:avLst>
          </a:prstGeom>
          <a:solidFill>
            <a:srgbClr val="0A3D62">
              <a:alpha val="6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custDataLst>
              <p:tags r:id="rId7"/>
            </p:custDataLst>
          </p:nvPr>
        </p:nvSpPr>
        <p:spPr>
          <a:xfrm>
            <a:off x="4318000" y="5080000"/>
            <a:ext cx="50800" cy="10795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p>
        </p:txBody>
      </p:sp>
      <p:pic>
        <p:nvPicPr>
          <p:cNvPr id="12" name="Picture 12"/>
          <p:cNvPicPr>
            <a:picLocks noChangeAspect="1"/>
          </p:cNvPicPr>
          <p:nvPr>
            <p:custDataLst>
              <p:tags r:id="rId8"/>
            </p:custDataLst>
          </p:nvPr>
        </p:nvPicPr>
        <p:blipFill>
          <a:blip r:embed="rId9"/>
          <a:srcRect/>
          <a:stretch>
            <a:fillRect/>
          </a:stretch>
        </p:blipFill>
        <p:spPr>
          <a:xfrm>
            <a:off x="4508500" y="5232400"/>
            <a:ext cx="355600" cy="355600"/>
          </a:xfrm>
          <a:prstGeom prst="rect">
            <a:avLst/>
          </a:prstGeom>
          <a:noFill/>
          <a:ln w="25400" cap="flat" cmpd="sng">
            <a:noFill/>
            <a:prstDash val="solid"/>
            <a:round/>
          </a:ln>
        </p:spPr>
      </p:pic>
      <p:sp>
        <p:nvSpPr>
          <p:cNvPr id="13" name="AutoShape 13"/>
          <p:cNvSpPr/>
          <p:nvPr>
            <p:custDataLst>
              <p:tags r:id="rId10"/>
            </p:custDataLst>
          </p:nvPr>
        </p:nvSpPr>
        <p:spPr>
          <a:xfrm>
            <a:off x="4953000" y="5207000"/>
            <a:ext cx="2794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A3D62"/>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轻量运行时引擎</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 Runtime 核心能力，支持动态注入与热更新，确保业务进程无侵入、低损耗运行。</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1"/>
            </p:custDataLst>
          </p:nvPr>
        </p:nvSpPr>
        <p:spPr>
          <a:xfrm>
            <a:off x="8128000" y="5080000"/>
            <a:ext cx="3556000" cy="1079500"/>
          </a:xfrm>
          <a:prstGeom prst="roundRect">
            <a:avLst>
              <a:gd name="adj" fmla="val 0"/>
            </a:avLst>
          </a:prstGeom>
          <a:solidFill>
            <a:srgbClr val="0A3D62">
              <a:alpha val="6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custDataLst>
              <p:tags r:id="rId12"/>
            </p:custDataLst>
          </p:nvPr>
        </p:nvSpPr>
        <p:spPr>
          <a:xfrm>
            <a:off x="8128000" y="5080000"/>
            <a:ext cx="50800" cy="10795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pic>
        <p:nvPicPr>
          <p:cNvPr id="16" name="Picture 16"/>
          <p:cNvPicPr>
            <a:picLocks noChangeAspect="1"/>
          </p:cNvPicPr>
          <p:nvPr>
            <p:custDataLst>
              <p:tags r:id="rId13"/>
            </p:custDataLst>
          </p:nvPr>
        </p:nvPicPr>
        <p:blipFill>
          <a:blip r:embed="rId14"/>
          <a:srcRect/>
          <a:stretch>
            <a:fillRect/>
          </a:stretch>
        </p:blipFill>
        <p:spPr>
          <a:xfrm>
            <a:off x="8318500" y="5232400"/>
            <a:ext cx="355600" cy="355600"/>
          </a:xfrm>
          <a:prstGeom prst="rect">
            <a:avLst/>
          </a:prstGeom>
          <a:noFill/>
          <a:ln w="25400" cap="flat" cmpd="sng">
            <a:noFill/>
            <a:prstDash val="solid"/>
            <a:round/>
          </a:ln>
        </p:spPr>
      </p:pic>
      <p:sp>
        <p:nvSpPr>
          <p:cNvPr id="17" name="AutoShape 17"/>
          <p:cNvSpPr/>
          <p:nvPr>
            <p:custDataLst>
              <p:tags r:id="rId15"/>
            </p:custDataLst>
          </p:nvPr>
        </p:nvSpPr>
        <p:spPr>
          <a:xfrm>
            <a:off x="8763000" y="5207000"/>
            <a:ext cx="2794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A3D62"/>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全链路价值输出</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从数据采集、异常分析到业务洞察，形成完整的观测闭环，直接赋能业务决策与优化。</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0" name="图片 19"/>
          <p:cNvPicPr>
            <a:picLocks noChangeAspect="1"/>
          </p:cNvPicPr>
          <p:nvPr/>
        </p:nvPicPr>
        <p:blipFill>
          <a:blip r:embed="rId16"/>
          <a:stretch>
            <a:fillRect/>
          </a:stretch>
        </p:blipFill>
        <p:spPr>
          <a:xfrm>
            <a:off x="4953000" y="600075"/>
            <a:ext cx="6109970" cy="43395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企业痛点与解决方案</a:t>
            </a:r>
            <a:endParaRPr lang="en-US" sz="1100"/>
          </a:p>
        </p:txBody>
      </p:sp>
      <p:cxnSp>
        <p:nvCxnSpPr>
          <p:cNvPr id="3" name="Connector 3"/>
          <p:cNvCxnSpPr/>
          <p:nvPr/>
        </p:nvCxnSpPr>
        <p:spPr>
          <a:xfrm rot="-3906">
            <a:off x="508004" y="1136650"/>
            <a:ext cx="1117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508000" y="1397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01 / 传统方式的困境：效率低、成本高、风险大</a:t>
            </a:r>
            <a:endParaRPr lang="en-US" sz="1100"/>
          </a:p>
        </p:txBody>
      </p:sp>
      <p:sp>
        <p:nvSpPr>
          <p:cNvPr id="5" name="AutoShape 5"/>
          <p:cNvSpPr/>
          <p:nvPr/>
        </p:nvSpPr>
        <p:spPr>
          <a:xfrm>
            <a:off x="508000" y="2032000"/>
            <a:ext cx="2476500" cy="1460500"/>
          </a:xfrm>
          <a:prstGeom prst="roundRect">
            <a:avLst>
              <a:gd name="adj" fmla="val 0"/>
            </a:avLst>
          </a:prstGeom>
          <a:solidFill>
            <a:srgbClr val="FFEDD5">
              <a:alpha val="6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000" y="2159000"/>
            <a:ext cx="304800" cy="304800"/>
          </a:xfrm>
          <a:prstGeom prst="rect">
            <a:avLst/>
          </a:prstGeom>
        </p:spPr>
      </p:pic>
      <p:sp>
        <p:nvSpPr>
          <p:cNvPr id="7" name="AutoShape 7"/>
          <p:cNvSpPr/>
          <p:nvPr/>
        </p:nvSpPr>
        <p:spPr>
          <a:xfrm>
            <a:off x="1016000" y="21336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事故现场定位困难</a:t>
            </a:r>
            <a:endParaRPr lang="en-US" sz="1100"/>
          </a:p>
        </p:txBody>
      </p:sp>
      <p:cxnSp>
        <p:nvCxnSpPr>
          <p:cNvPr id="8" name="Connector 8"/>
          <p:cNvCxnSpPr/>
          <p:nvPr/>
        </p:nvCxnSpPr>
        <p:spPr>
          <a:xfrm rot="-19644">
            <a:off x="635018" y="2597150"/>
            <a:ext cx="2222500" cy="12700"/>
          </a:xfrm>
          <a:prstGeom prst="straightConnector1">
            <a:avLst/>
          </a:prstGeom>
          <a:solidFill>
            <a:srgbClr val="DEE0E3">
              <a:alpha val="100000"/>
            </a:srgbClr>
          </a:solidFill>
          <a:ln w="12700" cap="flat" cmpd="sng">
            <a:solidFill>
              <a:srgbClr val="EA580C">
                <a:alpha val="20000"/>
              </a:srgbClr>
            </a:solidFill>
            <a:prstDash val="dash"/>
            <a:round/>
            <a:headEnd type="none" w="med" len="med"/>
            <a:tailEnd type="none" w="med" len="med"/>
          </a:ln>
        </p:spPr>
      </p:cxnSp>
      <p:sp>
        <p:nvSpPr>
          <p:cNvPr id="9" name="AutoShape 9"/>
          <p:cNvSpPr/>
          <p:nvPr/>
        </p:nvSpPr>
        <p:spPr>
          <a:xfrm>
            <a:off x="635000" y="26670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31407"/>
                </a:solidFill>
                <a:latin typeface="Noto Sans SC" panose="020B0200000000000000" charset="-122"/>
                <a:ea typeface="Noto Sans SC" panose="020B0200000000000000" charset="-122"/>
                <a:cs typeface="Noto Sans SC" panose="020B0200000000000000" charset="-122"/>
                <a:sym typeface="Noto Sans SC" panose="020B0200000000000000" charset="-122"/>
              </a:rPr>
              <a:t>查日志、猜参数、等待复现，信息碎片化严重，定位慢且极易走弯路，错过最佳恢复时机。</a:t>
            </a:r>
            <a:endParaRPr lang="en-US" sz="1100"/>
          </a:p>
        </p:txBody>
      </p:sp>
      <p:sp>
        <p:nvSpPr>
          <p:cNvPr id="10" name="AutoShape 10"/>
          <p:cNvSpPr/>
          <p:nvPr/>
        </p:nvSpPr>
        <p:spPr>
          <a:xfrm>
            <a:off x="3111500" y="2032000"/>
            <a:ext cx="2476500" cy="1460500"/>
          </a:xfrm>
          <a:prstGeom prst="roundRect">
            <a:avLst>
              <a:gd name="adj" fmla="val 0"/>
            </a:avLst>
          </a:prstGeom>
          <a:solidFill>
            <a:srgbClr val="FFEDD5">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38500" y="2159000"/>
            <a:ext cx="304800" cy="304800"/>
          </a:xfrm>
          <a:prstGeom prst="rect">
            <a:avLst/>
          </a:prstGeom>
        </p:spPr>
      </p:pic>
      <p:sp>
        <p:nvSpPr>
          <p:cNvPr id="12" name="AutoShape 12"/>
          <p:cNvSpPr/>
          <p:nvPr/>
        </p:nvSpPr>
        <p:spPr>
          <a:xfrm>
            <a:off x="3619500" y="21336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加日志需繁琐发版</a:t>
            </a:r>
            <a:endParaRPr lang="en-US" sz="1100"/>
          </a:p>
        </p:txBody>
      </p:sp>
      <p:cxnSp>
        <p:nvCxnSpPr>
          <p:cNvPr id="13" name="Connector 13"/>
          <p:cNvCxnSpPr/>
          <p:nvPr/>
        </p:nvCxnSpPr>
        <p:spPr>
          <a:xfrm rot="-19644">
            <a:off x="3238518" y="2597150"/>
            <a:ext cx="2222500" cy="12700"/>
          </a:xfrm>
          <a:prstGeom prst="straightConnector1">
            <a:avLst/>
          </a:prstGeom>
          <a:solidFill>
            <a:srgbClr val="DEE0E3">
              <a:alpha val="100000"/>
            </a:srgbClr>
          </a:solidFill>
          <a:ln w="12700" cap="flat" cmpd="sng">
            <a:solidFill>
              <a:srgbClr val="EA580C">
                <a:alpha val="20000"/>
              </a:srgbClr>
            </a:solidFill>
            <a:prstDash val="dash"/>
            <a:round/>
            <a:headEnd type="none" w="med" len="med"/>
            <a:tailEnd type="none" w="med" len="med"/>
          </a:ln>
        </p:spPr>
      </p:cxnSp>
      <p:sp>
        <p:nvSpPr>
          <p:cNvPr id="14" name="AutoShape 14"/>
          <p:cNvSpPr/>
          <p:nvPr/>
        </p:nvSpPr>
        <p:spPr>
          <a:xfrm>
            <a:off x="3238500" y="26670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31407"/>
                </a:solidFill>
                <a:latin typeface="Noto Sans SC" panose="020B0200000000000000" charset="-122"/>
                <a:ea typeface="Noto Sans SC" panose="020B0200000000000000" charset="-122"/>
                <a:cs typeface="Noto Sans SC" panose="020B0200000000000000" charset="-122"/>
                <a:sym typeface="Noto Sans SC" panose="020B0200000000000000" charset="-122"/>
              </a:rPr>
              <a:t>修改代码后需经过测试、灰度、重启流程，发布风险极高，且事故现场可能在此期间消失。</a:t>
            </a:r>
            <a:endParaRPr lang="en-US" sz="1100"/>
          </a:p>
        </p:txBody>
      </p:sp>
      <p:sp>
        <p:nvSpPr>
          <p:cNvPr id="15" name="AutoShape 15"/>
          <p:cNvSpPr/>
          <p:nvPr/>
        </p:nvSpPr>
        <p:spPr>
          <a:xfrm>
            <a:off x="508000" y="3683000"/>
            <a:ext cx="2476500" cy="1460500"/>
          </a:xfrm>
          <a:prstGeom prst="roundRect">
            <a:avLst>
              <a:gd name="adj" fmla="val 0"/>
            </a:avLst>
          </a:prstGeom>
          <a:solidFill>
            <a:srgbClr val="FFEDD5">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 y="3810000"/>
            <a:ext cx="304800" cy="304800"/>
          </a:xfrm>
          <a:prstGeom prst="rect">
            <a:avLst/>
          </a:prstGeom>
        </p:spPr>
      </p:pic>
      <p:sp>
        <p:nvSpPr>
          <p:cNvPr id="17" name="AutoShape 17"/>
          <p:cNvSpPr/>
          <p:nvPr/>
        </p:nvSpPr>
        <p:spPr>
          <a:xfrm>
            <a:off x="1016000" y="37846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高频观测成本高昂</a:t>
            </a:r>
            <a:endParaRPr lang="en-US" sz="1100"/>
          </a:p>
        </p:txBody>
      </p:sp>
      <p:cxnSp>
        <p:nvCxnSpPr>
          <p:cNvPr id="18" name="Connector 18"/>
          <p:cNvCxnSpPr/>
          <p:nvPr/>
        </p:nvCxnSpPr>
        <p:spPr>
          <a:xfrm rot="-19644">
            <a:off x="635018" y="4248150"/>
            <a:ext cx="2222500" cy="12700"/>
          </a:xfrm>
          <a:prstGeom prst="straightConnector1">
            <a:avLst/>
          </a:prstGeom>
          <a:solidFill>
            <a:srgbClr val="DEE0E3">
              <a:alpha val="100000"/>
            </a:srgbClr>
          </a:solidFill>
          <a:ln w="12700" cap="flat" cmpd="sng">
            <a:solidFill>
              <a:srgbClr val="EA580C">
                <a:alpha val="20000"/>
              </a:srgbClr>
            </a:solidFill>
            <a:prstDash val="dash"/>
            <a:round/>
            <a:headEnd type="none" w="med" len="med"/>
            <a:tailEnd type="none" w="med" len="med"/>
          </a:ln>
        </p:spPr>
      </p:cxnSp>
      <p:sp>
        <p:nvSpPr>
          <p:cNvPr id="19" name="AutoShape 19"/>
          <p:cNvSpPr/>
          <p:nvPr/>
        </p:nvSpPr>
        <p:spPr>
          <a:xfrm>
            <a:off x="635000" y="43180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31407"/>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 kernel uprobe 或海量日志，导致 CPU overhead 过高，甚至引发系统抖动，影响业务稳定性。</a:t>
            </a:r>
            <a:endParaRPr lang="en-US" sz="1100"/>
          </a:p>
        </p:txBody>
      </p:sp>
      <p:sp>
        <p:nvSpPr>
          <p:cNvPr id="20" name="AutoShape 20"/>
          <p:cNvSpPr/>
          <p:nvPr/>
        </p:nvSpPr>
        <p:spPr>
          <a:xfrm>
            <a:off x="3111500" y="3683000"/>
            <a:ext cx="2476500" cy="1460500"/>
          </a:xfrm>
          <a:prstGeom prst="roundRect">
            <a:avLst>
              <a:gd name="adj" fmla="val 0"/>
            </a:avLst>
          </a:prstGeom>
          <a:solidFill>
            <a:srgbClr val="FFEDD5">
              <a:alpha val="6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38500" y="3810000"/>
            <a:ext cx="304800" cy="304800"/>
          </a:xfrm>
          <a:prstGeom prst="rect">
            <a:avLst/>
          </a:prstGeom>
        </p:spPr>
      </p:pic>
      <p:sp>
        <p:nvSpPr>
          <p:cNvPr id="22" name="AutoShape 22"/>
          <p:cNvSpPr/>
          <p:nvPr/>
        </p:nvSpPr>
        <p:spPr>
          <a:xfrm>
            <a:off x="3619500" y="37846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日志存储成本膨胀</a:t>
            </a:r>
            <a:endParaRPr lang="en-US" sz="1100"/>
          </a:p>
        </p:txBody>
      </p:sp>
      <p:cxnSp>
        <p:nvCxnSpPr>
          <p:cNvPr id="23" name="Connector 23"/>
          <p:cNvCxnSpPr/>
          <p:nvPr/>
        </p:nvCxnSpPr>
        <p:spPr>
          <a:xfrm rot="-19644">
            <a:off x="3238518" y="4248150"/>
            <a:ext cx="2222500" cy="12700"/>
          </a:xfrm>
          <a:prstGeom prst="straightConnector1">
            <a:avLst/>
          </a:prstGeom>
          <a:solidFill>
            <a:srgbClr val="DEE0E3">
              <a:alpha val="100000"/>
            </a:srgbClr>
          </a:solidFill>
          <a:ln w="12700" cap="flat" cmpd="sng">
            <a:solidFill>
              <a:srgbClr val="EA580C">
                <a:alpha val="20000"/>
              </a:srgbClr>
            </a:solidFill>
            <a:prstDash val="dash"/>
            <a:round/>
            <a:headEnd type="none" w="med" len="med"/>
            <a:tailEnd type="none" w="med" len="med"/>
          </a:ln>
        </p:spPr>
      </p:cxnSp>
      <p:sp>
        <p:nvSpPr>
          <p:cNvPr id="24" name="AutoShape 24"/>
          <p:cNvSpPr/>
          <p:nvPr/>
        </p:nvSpPr>
        <p:spPr>
          <a:xfrm>
            <a:off x="3238500" y="43180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31407"/>
                </a:solidFill>
                <a:latin typeface="Noto Sans SC" panose="020B0200000000000000" charset="-122"/>
                <a:ea typeface="Noto Sans SC" panose="020B0200000000000000" charset="-122"/>
                <a:cs typeface="Noto Sans SC" panose="020B0200000000000000" charset="-122"/>
                <a:sym typeface="Noto Sans SC" panose="020B0200000000000000" charset="-122"/>
              </a:rPr>
              <a:t>为排查提前打印大量低价值日志，造成采集、索引、存储资源严重浪费，查询效率也随之降低。</a:t>
            </a:r>
            <a:endParaRPr lang="en-US" sz="1100"/>
          </a:p>
        </p:txBody>
      </p:sp>
      <p:sp>
        <p:nvSpPr>
          <p:cNvPr id="25" name="AutoShape 25"/>
          <p:cNvSpPr/>
          <p:nvPr/>
        </p:nvSpPr>
        <p:spPr>
          <a:xfrm>
            <a:off x="508000" y="5207000"/>
            <a:ext cx="2476500" cy="1397000"/>
          </a:xfrm>
          <a:prstGeom prst="roundRect">
            <a:avLst>
              <a:gd name="adj" fmla="val 0"/>
            </a:avLst>
          </a:prstGeom>
          <a:solidFill>
            <a:srgbClr val="FFEDD5">
              <a:alpha val="6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 y="5334000"/>
            <a:ext cx="304800" cy="304800"/>
          </a:xfrm>
          <a:prstGeom prst="rect">
            <a:avLst/>
          </a:prstGeom>
        </p:spPr>
      </p:pic>
      <p:sp>
        <p:nvSpPr>
          <p:cNvPr id="27" name="AutoShape 27"/>
          <p:cNvSpPr/>
          <p:nvPr/>
        </p:nvSpPr>
        <p:spPr>
          <a:xfrm>
            <a:off x="1016000" y="53086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多线程现场难复盘</a:t>
            </a:r>
            <a:endParaRPr lang="en-US" sz="1100"/>
          </a:p>
        </p:txBody>
      </p:sp>
      <p:cxnSp>
        <p:nvCxnSpPr>
          <p:cNvPr id="28" name="Connector 28"/>
          <p:cNvCxnSpPr/>
          <p:nvPr/>
        </p:nvCxnSpPr>
        <p:spPr>
          <a:xfrm rot="-19644">
            <a:off x="635018" y="5708650"/>
            <a:ext cx="2222500" cy="12700"/>
          </a:xfrm>
          <a:prstGeom prst="straightConnector1">
            <a:avLst/>
          </a:prstGeom>
          <a:solidFill>
            <a:srgbClr val="DEE0E3">
              <a:alpha val="100000"/>
            </a:srgbClr>
          </a:solidFill>
          <a:ln w="12700" cap="flat" cmpd="sng">
            <a:solidFill>
              <a:srgbClr val="EA580C">
                <a:alpha val="20000"/>
              </a:srgbClr>
            </a:solidFill>
            <a:prstDash val="dash"/>
            <a:round/>
            <a:headEnd type="none" w="med" len="med"/>
            <a:tailEnd type="none" w="med" len="med"/>
          </a:ln>
        </p:spPr>
      </p:cxnSp>
      <p:sp>
        <p:nvSpPr>
          <p:cNvPr id="29" name="AutoShape 29"/>
          <p:cNvSpPr/>
          <p:nvPr/>
        </p:nvSpPr>
        <p:spPr>
          <a:xfrm>
            <a:off x="635000" y="5778500"/>
            <a:ext cx="222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31407"/>
                </a:solidFill>
                <a:latin typeface="Noto Sans SC" panose="020B0200000000000000" charset="-122"/>
                <a:ea typeface="Noto Sans SC" panose="020B0200000000000000" charset="-122"/>
                <a:cs typeface="Noto Sans SC" panose="020B0200000000000000" charset="-122"/>
                <a:sym typeface="Noto Sans SC" panose="020B0200000000000000" charset="-122"/>
              </a:rPr>
              <a:t>仅依赖日志中的线程标识关联，信息零散且断裂，难以还原复杂的并发执行逻辑与上下文。</a:t>
            </a:r>
            <a:endParaRPr lang="en-US" sz="1100"/>
          </a:p>
        </p:txBody>
      </p:sp>
      <p:sp>
        <p:nvSpPr>
          <p:cNvPr id="30" name="AutoShape 30"/>
          <p:cNvSpPr/>
          <p:nvPr/>
        </p:nvSpPr>
        <p:spPr>
          <a:xfrm>
            <a:off x="3111500" y="5207000"/>
            <a:ext cx="2476500" cy="1397000"/>
          </a:xfrm>
          <a:prstGeom prst="roundRect">
            <a:avLst>
              <a:gd name="adj" fmla="val 0"/>
            </a:avLst>
          </a:prstGeom>
          <a:solidFill>
            <a:srgbClr val="FFEDD5">
              <a:alpha val="6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238500" y="5334000"/>
            <a:ext cx="304800" cy="304800"/>
          </a:xfrm>
          <a:prstGeom prst="rect">
            <a:avLst/>
          </a:prstGeom>
        </p:spPr>
      </p:pic>
      <p:sp>
        <p:nvSpPr>
          <p:cNvPr id="32" name="AutoShape 32"/>
          <p:cNvSpPr/>
          <p:nvPr/>
        </p:nvSpPr>
        <p:spPr>
          <a:xfrm>
            <a:off x="3619500" y="5308600"/>
            <a:ext cx="184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生产操作缺乏治理</a:t>
            </a:r>
            <a:endParaRPr lang="en-US" sz="1100"/>
          </a:p>
        </p:txBody>
      </p:sp>
      <p:cxnSp>
        <p:nvCxnSpPr>
          <p:cNvPr id="33" name="Connector 33"/>
          <p:cNvCxnSpPr/>
          <p:nvPr/>
        </p:nvCxnSpPr>
        <p:spPr>
          <a:xfrm rot="-19644">
            <a:off x="3238518" y="5708650"/>
            <a:ext cx="2222500" cy="12700"/>
          </a:xfrm>
          <a:prstGeom prst="straightConnector1">
            <a:avLst/>
          </a:prstGeom>
          <a:solidFill>
            <a:srgbClr val="DEE0E3">
              <a:alpha val="100000"/>
            </a:srgbClr>
          </a:solidFill>
          <a:ln w="12700" cap="flat" cmpd="sng">
            <a:solidFill>
              <a:srgbClr val="EA580C">
                <a:alpha val="20000"/>
              </a:srgbClr>
            </a:solidFill>
            <a:prstDash val="dash"/>
            <a:round/>
            <a:headEnd type="none" w="med" len="med"/>
            <a:tailEnd type="none" w="med" len="med"/>
          </a:ln>
        </p:spPr>
      </p:cxnSp>
      <p:sp>
        <p:nvSpPr>
          <p:cNvPr id="34" name="AutoShape 34"/>
          <p:cNvSpPr/>
          <p:nvPr/>
        </p:nvSpPr>
        <p:spPr>
          <a:xfrm>
            <a:off x="3238500" y="5778500"/>
            <a:ext cx="222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31407"/>
                </a:solidFill>
                <a:latin typeface="Noto Sans SC" panose="020B0200000000000000" charset="-122"/>
                <a:ea typeface="Noto Sans SC" panose="020B0200000000000000" charset="-122"/>
                <a:cs typeface="Noto Sans SC" panose="020B0200000000000000" charset="-122"/>
                <a:sym typeface="Noto Sans SC" panose="020B0200000000000000" charset="-122"/>
              </a:rPr>
              <a:t>临时脚本分散执行，权限管控缺失，操作风险不可控，缺乏统一的审计与回溯机制。</a:t>
            </a:r>
            <a:endParaRPr lang="en-US" sz="1100"/>
          </a:p>
        </p:txBody>
      </p:sp>
      <p:cxnSp>
        <p:nvCxnSpPr>
          <p:cNvPr id="35" name="Connector 35"/>
          <p:cNvCxnSpPr/>
          <p:nvPr/>
        </p:nvCxnSpPr>
        <p:spPr>
          <a:xfrm rot="5390708">
            <a:off x="3619500" y="4121159"/>
            <a:ext cx="4699000" cy="12700"/>
          </a:xfrm>
          <a:prstGeom prst="straightConnector1">
            <a:avLst/>
          </a:prstGeom>
          <a:solidFill>
            <a:srgbClr val="DEE0E3">
              <a:alpha val="100000"/>
            </a:srgbClr>
          </a:solidFill>
          <a:ln w="12700" cap="flat" cmpd="sng">
            <a:solidFill>
              <a:srgbClr val="9CA3AF">
                <a:alpha val="50000"/>
              </a:srgbClr>
            </a:solidFill>
            <a:prstDash val="dash"/>
            <a:round/>
            <a:headEnd type="none" w="med" len="med"/>
            <a:tailEnd type="none" w="med" len="med"/>
          </a:ln>
        </p:spPr>
      </p:cxnSp>
      <p:sp>
        <p:nvSpPr>
          <p:cNvPr id="36" name="AutoShape 36"/>
          <p:cNvSpPr/>
          <p:nvPr/>
        </p:nvSpPr>
        <p:spPr>
          <a:xfrm>
            <a:off x="6223000" y="13970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02 / LightProbe 带来的改变：高效、轻量、可控</a:t>
            </a:r>
            <a:endParaRPr lang="en-US" sz="1100"/>
          </a:p>
        </p:txBody>
      </p:sp>
      <p:sp>
        <p:nvSpPr>
          <p:cNvPr id="37" name="AutoShape 37"/>
          <p:cNvSpPr/>
          <p:nvPr/>
        </p:nvSpPr>
        <p:spPr>
          <a:xfrm>
            <a:off x="6223000" y="2032000"/>
            <a:ext cx="2667000" cy="1460500"/>
          </a:xfrm>
          <a:prstGeom prst="roundRect">
            <a:avLst>
              <a:gd name="adj" fmla="val 0"/>
            </a:avLst>
          </a:prstGeom>
          <a:solidFill>
            <a:srgbClr val="CCFBF1">
              <a:alpha val="60000"/>
            </a:srgbClr>
          </a:solidFill>
          <a:ln w="25400" cap="flat" cmpd="sng">
            <a:noFill/>
            <a:prstDash val="solid"/>
            <a:round/>
          </a:ln>
        </p:spPr>
        <p:txBody>
          <a:bodyPr vert="horz" wrap="square" lIns="63500" tIns="63500" rIns="63500" bIns="63500" rtlCol="0" anchor="ctr"/>
          <a:lstStyle/>
          <a:p>
            <a:pPr algn="ctr">
              <a:defRPr/>
            </a:pPr>
          </a:p>
        </p:txBody>
      </p:sp>
      <p:pic>
        <p:nvPicPr>
          <p:cNvPr id="38" name="Picture 3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50000" y="2159000"/>
            <a:ext cx="304800" cy="304800"/>
          </a:xfrm>
          <a:prstGeom prst="rect">
            <a:avLst/>
          </a:prstGeom>
        </p:spPr>
      </p:pic>
      <p:sp>
        <p:nvSpPr>
          <p:cNvPr id="39" name="AutoShape 39"/>
          <p:cNvSpPr/>
          <p:nvPr/>
        </p:nvSpPr>
        <p:spPr>
          <a:xfrm>
            <a:off x="6731000" y="21336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34E4A"/>
                </a:solidFill>
                <a:latin typeface="Noto Sans SC" panose="020B0200000000000000" charset="-122"/>
                <a:ea typeface="Noto Sans SC" panose="020B0200000000000000" charset="-122"/>
                <a:cs typeface="Noto Sans SC" panose="020B0200000000000000" charset="-122"/>
                <a:sym typeface="Noto Sans SC" panose="020B0200000000000000" charset="-122"/>
              </a:rPr>
              <a:t>全参数实时精准采集</a:t>
            </a:r>
            <a:endParaRPr lang="en-US" sz="1100"/>
          </a:p>
        </p:txBody>
      </p:sp>
      <p:cxnSp>
        <p:nvCxnSpPr>
          <p:cNvPr id="40" name="Connector 40"/>
          <p:cNvCxnSpPr/>
          <p:nvPr/>
        </p:nvCxnSpPr>
        <p:spPr>
          <a:xfrm rot="-18093">
            <a:off x="6350017" y="2597150"/>
            <a:ext cx="2413000" cy="12700"/>
          </a:xfrm>
          <a:prstGeom prst="straightConnector1">
            <a:avLst/>
          </a:prstGeom>
          <a:solidFill>
            <a:srgbClr val="DEE0E3">
              <a:alpha val="100000"/>
            </a:srgbClr>
          </a:solidFill>
          <a:ln w="12700" cap="flat" cmpd="sng">
            <a:solidFill>
              <a:srgbClr val="0D9488">
                <a:alpha val="20000"/>
              </a:srgbClr>
            </a:solidFill>
            <a:prstDash val="dash"/>
            <a:round/>
            <a:headEnd type="none" w="med" len="med"/>
            <a:tailEnd type="none" w="med" len="med"/>
          </a:ln>
        </p:spPr>
      </p:cxnSp>
      <p:sp>
        <p:nvSpPr>
          <p:cNvPr id="41" name="AutoShape 41"/>
          <p:cNvSpPr/>
          <p:nvPr/>
        </p:nvSpPr>
        <p:spPr>
          <a:xfrm>
            <a:off x="6350000" y="2667000"/>
            <a:ext cx="241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动态插入 Entry/Return Probe，直接捕获函数参数、返回值与耗时，无需猜测，一步定位根因。</a:t>
            </a:r>
            <a:endParaRPr lang="en-US" sz="1100"/>
          </a:p>
        </p:txBody>
      </p:sp>
      <p:sp>
        <p:nvSpPr>
          <p:cNvPr id="42" name="AutoShape 42"/>
          <p:cNvSpPr/>
          <p:nvPr/>
        </p:nvSpPr>
        <p:spPr>
          <a:xfrm>
            <a:off x="9017000" y="2032000"/>
            <a:ext cx="2667000" cy="1460500"/>
          </a:xfrm>
          <a:prstGeom prst="roundRect">
            <a:avLst>
              <a:gd name="adj" fmla="val 0"/>
            </a:avLst>
          </a:prstGeom>
          <a:solidFill>
            <a:srgbClr val="CCFBF1">
              <a:alpha val="60000"/>
            </a:srgbClr>
          </a:solidFill>
          <a:ln w="25400" cap="flat" cmpd="sng">
            <a:noFill/>
            <a:prstDash val="solid"/>
            <a:round/>
          </a:ln>
        </p:spPr>
        <p:txBody>
          <a:bodyPr vert="horz" wrap="square" lIns="63500" tIns="63500" rIns="63500" bIns="63500" rtlCol="0" anchor="ctr"/>
          <a:lstStyle/>
          <a:p>
            <a:pPr algn="ctr">
              <a:defRPr/>
            </a:pPr>
          </a:p>
        </p:txBody>
      </p:sp>
      <p:pic>
        <p:nvPicPr>
          <p:cNvPr id="43" name="Picture 43"/>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144000" y="2159000"/>
            <a:ext cx="304800" cy="304800"/>
          </a:xfrm>
          <a:prstGeom prst="rect">
            <a:avLst/>
          </a:prstGeom>
        </p:spPr>
      </p:pic>
      <p:sp>
        <p:nvSpPr>
          <p:cNvPr id="44" name="AutoShape 44"/>
          <p:cNvSpPr/>
          <p:nvPr/>
        </p:nvSpPr>
        <p:spPr>
          <a:xfrm>
            <a:off x="9525000" y="21336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34E4A"/>
                </a:solidFill>
                <a:latin typeface="Noto Sans SC" panose="020B0200000000000000" charset="-122"/>
                <a:ea typeface="Noto Sans SC" panose="020B0200000000000000" charset="-122"/>
                <a:cs typeface="Noto Sans SC" panose="020B0200000000000000" charset="-122"/>
                <a:sym typeface="Noto Sans SC" panose="020B0200000000000000" charset="-122"/>
              </a:rPr>
              <a:t>免代码重启动态注入</a:t>
            </a:r>
            <a:endParaRPr lang="en-US" sz="1100"/>
          </a:p>
        </p:txBody>
      </p:sp>
      <p:cxnSp>
        <p:nvCxnSpPr>
          <p:cNvPr id="45" name="Connector 45"/>
          <p:cNvCxnSpPr/>
          <p:nvPr/>
        </p:nvCxnSpPr>
        <p:spPr>
          <a:xfrm rot="-18093">
            <a:off x="9144017" y="2597150"/>
            <a:ext cx="2413000" cy="12700"/>
          </a:xfrm>
          <a:prstGeom prst="straightConnector1">
            <a:avLst/>
          </a:prstGeom>
          <a:solidFill>
            <a:srgbClr val="DEE0E3">
              <a:alpha val="100000"/>
            </a:srgbClr>
          </a:solidFill>
          <a:ln w="12700" cap="flat" cmpd="sng">
            <a:solidFill>
              <a:srgbClr val="0D9488">
                <a:alpha val="20000"/>
              </a:srgbClr>
            </a:solidFill>
            <a:prstDash val="dash"/>
            <a:round/>
            <a:headEnd type="none" w="med" len="med"/>
            <a:tailEnd type="none" w="med" len="med"/>
          </a:ln>
        </p:spPr>
      </p:cxnSp>
      <p:sp>
        <p:nvSpPr>
          <p:cNvPr id="46" name="AutoShape 46"/>
          <p:cNvSpPr/>
          <p:nvPr/>
        </p:nvSpPr>
        <p:spPr>
          <a:xfrm>
            <a:off x="9144000" y="2667000"/>
            <a:ext cx="241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CLI 或控制面实现 Attach/Detach，零侵入业务代码，无需重启服务，保留完整现场。</a:t>
            </a:r>
            <a:endParaRPr lang="en-US" sz="1100"/>
          </a:p>
        </p:txBody>
      </p:sp>
      <p:sp>
        <p:nvSpPr>
          <p:cNvPr id="47" name="AutoShape 47"/>
          <p:cNvSpPr/>
          <p:nvPr/>
        </p:nvSpPr>
        <p:spPr>
          <a:xfrm>
            <a:off x="6223000" y="3683000"/>
            <a:ext cx="2667000" cy="1460500"/>
          </a:xfrm>
          <a:prstGeom prst="roundRect">
            <a:avLst>
              <a:gd name="adj" fmla="val 0"/>
            </a:avLst>
          </a:prstGeom>
          <a:solidFill>
            <a:srgbClr val="CCFBF1">
              <a:alpha val="60000"/>
            </a:srgbClr>
          </a:solidFill>
          <a:ln w="25400" cap="flat" cmpd="sng">
            <a:noFill/>
            <a:prstDash val="solid"/>
            <a:round/>
          </a:ln>
        </p:spPr>
        <p:txBody>
          <a:bodyPr vert="horz" wrap="square" lIns="63500" tIns="63500" rIns="63500" bIns="63500" rtlCol="0" anchor="ctr"/>
          <a:lstStyle/>
          <a:p>
            <a:pPr algn="ctr">
              <a:defRPr/>
            </a:pPr>
          </a:p>
        </p:txBody>
      </p:sp>
      <p:pic>
        <p:nvPicPr>
          <p:cNvPr id="48" name="Picture 48"/>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50000" y="3810000"/>
            <a:ext cx="304800" cy="304800"/>
          </a:xfrm>
          <a:prstGeom prst="rect">
            <a:avLst/>
          </a:prstGeom>
        </p:spPr>
      </p:pic>
      <p:sp>
        <p:nvSpPr>
          <p:cNvPr id="49" name="AutoShape 49"/>
          <p:cNvSpPr/>
          <p:nvPr/>
        </p:nvSpPr>
        <p:spPr>
          <a:xfrm>
            <a:off x="6731000" y="37846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34E4A"/>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极致轻量性能损耗低</a:t>
            </a:r>
            <a:endParaRPr lang="en-US" sz="1100"/>
          </a:p>
        </p:txBody>
      </p:sp>
      <p:cxnSp>
        <p:nvCxnSpPr>
          <p:cNvPr id="50" name="Connector 50"/>
          <p:cNvCxnSpPr/>
          <p:nvPr/>
        </p:nvCxnSpPr>
        <p:spPr>
          <a:xfrm rot="-18093">
            <a:off x="6350017" y="4248150"/>
            <a:ext cx="2413000" cy="12700"/>
          </a:xfrm>
          <a:prstGeom prst="straightConnector1">
            <a:avLst/>
          </a:prstGeom>
          <a:solidFill>
            <a:srgbClr val="DEE0E3">
              <a:alpha val="100000"/>
            </a:srgbClr>
          </a:solidFill>
          <a:ln w="12700" cap="flat" cmpd="sng">
            <a:solidFill>
              <a:srgbClr val="0D9488">
                <a:alpha val="20000"/>
              </a:srgbClr>
            </a:solidFill>
            <a:prstDash val="dash"/>
            <a:round/>
            <a:headEnd type="none" w="med" len="med"/>
            <a:tailEnd type="none" w="med" len="med"/>
          </a:ln>
        </p:spPr>
      </p:cxnSp>
      <p:sp>
        <p:nvSpPr>
          <p:cNvPr id="51" name="AutoShape 51"/>
          <p:cNvSpPr/>
          <p:nvPr/>
        </p:nvSpPr>
        <p:spPr>
          <a:xfrm>
            <a:off x="6350000" y="4318000"/>
            <a:ext cx="241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基于用户态跳转热路径技术，相比 Uprobe Entry 性能提升 57%，对生产系统几乎无感知。</a:t>
            </a:r>
            <a:endParaRPr lang="en-US" sz="1100"/>
          </a:p>
        </p:txBody>
      </p:sp>
      <p:sp>
        <p:nvSpPr>
          <p:cNvPr id="52" name="AutoShape 52"/>
          <p:cNvSpPr/>
          <p:nvPr/>
        </p:nvSpPr>
        <p:spPr>
          <a:xfrm>
            <a:off x="9017000" y="3683000"/>
            <a:ext cx="2667000" cy="1460500"/>
          </a:xfrm>
          <a:prstGeom prst="roundRect">
            <a:avLst>
              <a:gd name="adj" fmla="val 0"/>
            </a:avLst>
          </a:prstGeom>
          <a:solidFill>
            <a:srgbClr val="CCFBF1">
              <a:alpha val="60000"/>
            </a:srgbClr>
          </a:solidFill>
          <a:ln w="25400" cap="flat" cmpd="sng">
            <a:noFill/>
            <a:prstDash val="solid"/>
            <a:round/>
          </a:ln>
        </p:spPr>
        <p:txBody>
          <a:bodyPr vert="horz" wrap="square" lIns="63500" tIns="63500" rIns="63500" bIns="63500" rtlCol="0" anchor="ctr"/>
          <a:lstStyle/>
          <a:p>
            <a:pPr algn="ctr">
              <a:defRPr/>
            </a:pPr>
          </a:p>
        </p:txBody>
      </p:sp>
      <p:pic>
        <p:nvPicPr>
          <p:cNvPr id="53" name="Picture 53"/>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144000" y="3810000"/>
            <a:ext cx="304800" cy="304800"/>
          </a:xfrm>
          <a:prstGeom prst="rect">
            <a:avLst/>
          </a:prstGeom>
        </p:spPr>
      </p:pic>
      <p:sp>
        <p:nvSpPr>
          <p:cNvPr id="54" name="AutoShape 54"/>
          <p:cNvSpPr/>
          <p:nvPr/>
        </p:nvSpPr>
        <p:spPr>
          <a:xfrm>
            <a:off x="9525000" y="37846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34E4A"/>
                </a:solidFill>
                <a:latin typeface="Noto Sans SC" panose="020B0200000000000000" charset="-122"/>
                <a:ea typeface="Noto Sans SC" panose="020B0200000000000000" charset="-122"/>
                <a:cs typeface="Noto Sans SC" panose="020B0200000000000000" charset="-122"/>
                <a:sym typeface="Noto Sans SC" panose="020B0200000000000000" charset="-122"/>
              </a:rPr>
              <a:t>按需采集降本增效</a:t>
            </a:r>
            <a:endParaRPr lang="en-US" sz="1100"/>
          </a:p>
        </p:txBody>
      </p:sp>
      <p:cxnSp>
        <p:nvCxnSpPr>
          <p:cNvPr id="55" name="Connector 55"/>
          <p:cNvCxnSpPr/>
          <p:nvPr/>
        </p:nvCxnSpPr>
        <p:spPr>
          <a:xfrm rot="-18093">
            <a:off x="9144017" y="4248150"/>
            <a:ext cx="2413000" cy="12700"/>
          </a:xfrm>
          <a:prstGeom prst="straightConnector1">
            <a:avLst/>
          </a:prstGeom>
          <a:solidFill>
            <a:srgbClr val="DEE0E3">
              <a:alpha val="100000"/>
            </a:srgbClr>
          </a:solidFill>
          <a:ln w="12700" cap="flat" cmpd="sng">
            <a:solidFill>
              <a:srgbClr val="0D9488">
                <a:alpha val="20000"/>
              </a:srgbClr>
            </a:solidFill>
            <a:prstDash val="dash"/>
            <a:round/>
            <a:headEnd type="none" w="med" len="med"/>
            <a:tailEnd type="none" w="med" len="med"/>
          </a:ln>
        </p:spPr>
      </p:cxnSp>
      <p:sp>
        <p:nvSpPr>
          <p:cNvPr id="56" name="AutoShape 56"/>
          <p:cNvSpPr/>
          <p:nvPr/>
        </p:nvSpPr>
        <p:spPr>
          <a:xfrm>
            <a:off x="9144000" y="4318000"/>
            <a:ext cx="241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摒弃粗放式日志打印，按需开启高价值函数事件采集，大幅降低存储与索引的资源成本。</a:t>
            </a:r>
            <a:endParaRPr lang="en-US" sz="1100"/>
          </a:p>
        </p:txBody>
      </p:sp>
      <p:sp>
        <p:nvSpPr>
          <p:cNvPr id="57" name="AutoShape 57"/>
          <p:cNvSpPr/>
          <p:nvPr/>
        </p:nvSpPr>
        <p:spPr>
          <a:xfrm>
            <a:off x="6223000" y="5207000"/>
            <a:ext cx="2667000" cy="1397000"/>
          </a:xfrm>
          <a:prstGeom prst="roundRect">
            <a:avLst>
              <a:gd name="adj" fmla="val 0"/>
            </a:avLst>
          </a:prstGeom>
          <a:solidFill>
            <a:srgbClr val="CCFBF1">
              <a:alpha val="60000"/>
            </a:srgbClr>
          </a:solidFill>
          <a:ln w="25400" cap="flat" cmpd="sng">
            <a:noFill/>
            <a:prstDash val="solid"/>
            <a:round/>
          </a:ln>
        </p:spPr>
        <p:txBody>
          <a:bodyPr vert="horz" wrap="square" lIns="63500" tIns="63500" rIns="63500" bIns="63500" rtlCol="0" anchor="ctr"/>
          <a:lstStyle/>
          <a:p>
            <a:pPr algn="ctr">
              <a:defRPr/>
            </a:pPr>
          </a:p>
        </p:txBody>
      </p:sp>
      <p:pic>
        <p:nvPicPr>
          <p:cNvPr id="58" name="Picture 58"/>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350000" y="5334000"/>
            <a:ext cx="304800" cy="304800"/>
          </a:xfrm>
          <a:prstGeom prst="rect">
            <a:avLst/>
          </a:prstGeom>
        </p:spPr>
      </p:pic>
      <p:sp>
        <p:nvSpPr>
          <p:cNvPr id="59" name="AutoShape 59"/>
          <p:cNvSpPr/>
          <p:nvPr/>
        </p:nvSpPr>
        <p:spPr>
          <a:xfrm>
            <a:off x="6731000" y="53086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34E4A"/>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完整上下文关联复盘</a:t>
            </a:r>
            <a:endParaRPr lang="en-US" sz="1100"/>
          </a:p>
        </p:txBody>
      </p:sp>
      <p:cxnSp>
        <p:nvCxnSpPr>
          <p:cNvPr id="60" name="Connector 60"/>
          <p:cNvCxnSpPr/>
          <p:nvPr/>
        </p:nvCxnSpPr>
        <p:spPr>
          <a:xfrm rot="-18093">
            <a:off x="6350017" y="5708650"/>
            <a:ext cx="2413000" cy="12700"/>
          </a:xfrm>
          <a:prstGeom prst="straightConnector1">
            <a:avLst/>
          </a:prstGeom>
          <a:solidFill>
            <a:srgbClr val="DEE0E3">
              <a:alpha val="100000"/>
            </a:srgbClr>
          </a:solidFill>
          <a:ln w="12700" cap="flat" cmpd="sng">
            <a:solidFill>
              <a:srgbClr val="0D9488">
                <a:alpha val="20000"/>
              </a:srgbClr>
            </a:solidFill>
            <a:prstDash val="dash"/>
            <a:round/>
            <a:headEnd type="none" w="med" len="med"/>
            <a:tailEnd type="none" w="med" len="med"/>
          </a:ln>
        </p:spPr>
      </p:cxnSp>
      <p:sp>
        <p:nvSpPr>
          <p:cNvPr id="61" name="AutoShape 61"/>
          <p:cNvSpPr/>
          <p:nvPr/>
        </p:nvSpPr>
        <p:spPr>
          <a:xfrm>
            <a:off x="6350000" y="57785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事件自动关联 PID/TID、时间戳与探针 ID，支持线程与函数维度聚合，完美还原并发场景。</a:t>
            </a:r>
            <a:endParaRPr lang="en-US" sz="1100"/>
          </a:p>
        </p:txBody>
      </p:sp>
      <p:sp>
        <p:nvSpPr>
          <p:cNvPr id="62" name="AutoShape 62"/>
          <p:cNvSpPr/>
          <p:nvPr/>
        </p:nvSpPr>
        <p:spPr>
          <a:xfrm>
            <a:off x="9017000" y="5207000"/>
            <a:ext cx="2667000" cy="1397000"/>
          </a:xfrm>
          <a:prstGeom prst="roundRect">
            <a:avLst>
              <a:gd name="adj" fmla="val 0"/>
            </a:avLst>
          </a:prstGeom>
          <a:solidFill>
            <a:srgbClr val="CCFBF1">
              <a:alpha val="60000"/>
            </a:srgbClr>
          </a:solidFill>
          <a:ln w="25400" cap="flat" cmpd="sng">
            <a:noFill/>
            <a:prstDash val="solid"/>
            <a:round/>
          </a:ln>
        </p:spPr>
        <p:txBody>
          <a:bodyPr vert="horz" wrap="square" lIns="63500" tIns="63500" rIns="63500" bIns="63500" rtlCol="0" anchor="ctr"/>
          <a:lstStyle/>
          <a:p>
            <a:pPr algn="ctr">
              <a:defRPr/>
            </a:pPr>
          </a:p>
        </p:txBody>
      </p:sp>
      <p:pic>
        <p:nvPicPr>
          <p:cNvPr id="63" name="Picture 63"/>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144000" y="5334000"/>
            <a:ext cx="304800" cy="304800"/>
          </a:xfrm>
          <a:prstGeom prst="rect">
            <a:avLst/>
          </a:prstGeom>
        </p:spPr>
      </p:pic>
      <p:sp>
        <p:nvSpPr>
          <p:cNvPr id="64" name="AutoShape 64"/>
          <p:cNvSpPr/>
          <p:nvPr/>
        </p:nvSpPr>
        <p:spPr>
          <a:xfrm>
            <a:off x="9525000" y="5308600"/>
            <a:ext cx="203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34E4A"/>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全流程治理安全可控</a:t>
            </a:r>
            <a:endParaRPr lang="en-US" sz="1100"/>
          </a:p>
        </p:txBody>
      </p:sp>
      <p:cxnSp>
        <p:nvCxnSpPr>
          <p:cNvPr id="65" name="Connector 65"/>
          <p:cNvCxnSpPr/>
          <p:nvPr/>
        </p:nvCxnSpPr>
        <p:spPr>
          <a:xfrm rot="-18093">
            <a:off x="9144017" y="5708650"/>
            <a:ext cx="2413000" cy="12700"/>
          </a:xfrm>
          <a:prstGeom prst="straightConnector1">
            <a:avLst/>
          </a:prstGeom>
          <a:solidFill>
            <a:srgbClr val="DEE0E3">
              <a:alpha val="100000"/>
            </a:srgbClr>
          </a:solidFill>
          <a:ln w="12700" cap="flat" cmpd="sng">
            <a:solidFill>
              <a:srgbClr val="0D9488">
                <a:alpha val="20000"/>
              </a:srgbClr>
            </a:solidFill>
            <a:prstDash val="dash"/>
            <a:round/>
            <a:headEnd type="none" w="med" len="med"/>
            <a:tailEnd type="none" w="med" len="med"/>
          </a:ln>
        </p:spPr>
      </p:cxnSp>
      <p:sp>
        <p:nvSpPr>
          <p:cNvPr id="66" name="AutoShape 66"/>
          <p:cNvSpPr/>
          <p:nvPr/>
        </p:nvSpPr>
        <p:spPr>
          <a:xfrm>
            <a:off x="9144000" y="57785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0F766E"/>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内置审批流、审计日志与风险等级管控，配合自动清理机制，确保生产环境操作合规安全。</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五大商业价值与成本节约</a:t>
            </a:r>
            <a:endParaRPr lang="en-US" sz="1100"/>
          </a:p>
        </p:txBody>
      </p:sp>
      <p:cxnSp>
        <p:nvCxnSpPr>
          <p:cNvPr id="3" name="Connector 3"/>
          <p:cNvCxnSpPr/>
          <p:nvPr/>
        </p:nvCxnSpPr>
        <p:spPr>
          <a:xfrm rot="-3906">
            <a:off x="508004" y="1136650"/>
            <a:ext cx="11176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4" name="AutoShape 4"/>
          <p:cNvSpPr/>
          <p:nvPr/>
        </p:nvSpPr>
        <p:spPr>
          <a:xfrm>
            <a:off x="508000" y="1524000"/>
            <a:ext cx="5651500" cy="1714500"/>
          </a:xfrm>
          <a:prstGeom prst="roundRect">
            <a:avLst>
              <a:gd name="adj" fmla="val 0"/>
            </a:avLst>
          </a:prstGeom>
          <a:gradFill rotWithShape="1">
            <a:gsLst>
              <a:gs pos="0">
                <a:srgbClr val="3B82F6">
                  <a:alpha val="10000"/>
                </a:srgbClr>
              </a:gs>
              <a:gs pos="100000">
                <a:srgbClr val="3B82F6">
                  <a:alpha val="5000"/>
                </a:srgbClr>
              </a:gs>
            </a:gsLst>
            <a:lin ang="2700000"/>
          </a:gradFill>
          <a:ln w="12700" cap="flat" cmpd="sng">
            <a:solidFill>
              <a:srgbClr val="3B82F6">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524000"/>
            <a:ext cx="76200" cy="1714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14500"/>
            <a:ext cx="406400" cy="406400"/>
          </a:xfrm>
          <a:prstGeom prst="rect">
            <a:avLst/>
          </a:prstGeom>
        </p:spPr>
      </p:pic>
      <p:sp>
        <p:nvSpPr>
          <p:cNvPr id="7" name="AutoShape 7"/>
          <p:cNvSpPr/>
          <p:nvPr/>
        </p:nvSpPr>
        <p:spPr>
          <a:xfrm>
            <a:off x="1333500" y="16764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01. 缩短 MTTR（故障恢复时间）</a:t>
            </a:r>
            <a:endParaRPr lang="en-US" sz="1100"/>
          </a:p>
        </p:txBody>
      </p:sp>
      <p:cxnSp>
        <p:nvCxnSpPr>
          <p:cNvPr id="8" name="Connector 8"/>
          <p:cNvCxnSpPr/>
          <p:nvPr/>
        </p:nvCxnSpPr>
        <p:spPr>
          <a:xfrm rot="-8488">
            <a:off x="762008" y="2216150"/>
            <a:ext cx="5143500" cy="12700"/>
          </a:xfrm>
          <a:prstGeom prst="straightConnector1">
            <a:avLst/>
          </a:prstGeom>
          <a:solidFill>
            <a:srgbClr val="DEE0E3">
              <a:alpha val="100000"/>
            </a:srgbClr>
          </a:solidFill>
          <a:ln w="12700" cap="flat" cmpd="sng">
            <a:solidFill>
              <a:srgbClr val="3B82F6">
                <a:alpha val="20000"/>
              </a:srgbClr>
            </a:solidFill>
            <a:prstDash val="dash"/>
            <a:round/>
            <a:headEnd type="none" w="med" len="med"/>
            <a:tailEnd type="none" w="med" len="med"/>
          </a:ln>
        </p:spPr>
      </p:cxnSp>
      <p:sp>
        <p:nvSpPr>
          <p:cNvPr id="9" name="AutoShape 9"/>
          <p:cNvSpPr/>
          <p:nvPr/>
        </p:nvSpPr>
        <p:spPr>
          <a:xfrm>
            <a:off x="762000" y="23114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将函数级现场直接暴露，彻底打破“猜测—改日志—发版—等待复现”的低效循环，大幅压缩故障排查周期。</a:t>
            </a:r>
            <a:endParaRPr lang="en-US" sz="1100"/>
          </a:p>
        </p:txBody>
      </p:sp>
      <p:sp>
        <p:nvSpPr>
          <p:cNvPr id="10" name="AutoShape 10"/>
          <p:cNvSpPr/>
          <p:nvPr/>
        </p:nvSpPr>
        <p:spPr>
          <a:xfrm>
            <a:off x="4191000" y="2349500"/>
            <a:ext cx="1841500" cy="762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年化收益范围</a:t>
            </a:r>
            <a:endParaRPr lang="en-US" sz="1100"/>
          </a:p>
          <a:p>
            <a:pPr marL="0" indent="0" algn="r">
              <a:lnSpc>
                <a:spcPct val="125000"/>
              </a:lnSpc>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4.8万~1200万</a:t>
            </a:r>
            <a:endPar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286500" y="1524000"/>
            <a:ext cx="5651500" cy="1714500"/>
          </a:xfrm>
          <a:prstGeom prst="roundRect">
            <a:avLst>
              <a:gd name="adj" fmla="val 0"/>
            </a:avLst>
          </a:prstGeom>
          <a:gradFill rotWithShape="1">
            <a:gsLst>
              <a:gs pos="0">
                <a:srgbClr val="06B6D4">
                  <a:alpha val="10000"/>
                </a:srgbClr>
              </a:gs>
              <a:gs pos="100000">
                <a:srgbClr val="06B6D4">
                  <a:alpha val="5000"/>
                </a:srgbClr>
              </a:gs>
            </a:gsLst>
            <a:lin ang="2700000"/>
          </a:gradFill>
          <a:ln w="12700" cap="flat" cmpd="sng">
            <a:solidFill>
              <a:srgbClr val="06B6D4">
                <a:alpha val="3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286500" y="1524000"/>
            <a:ext cx="76200" cy="1714500"/>
          </a:xfrm>
          <a:prstGeom prst="roundRect">
            <a:avLst>
              <a:gd name="adj" fmla="val 0"/>
            </a:avLst>
          </a:prstGeom>
          <a:solidFill>
            <a:srgbClr val="06B6D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714500"/>
            <a:ext cx="406400" cy="406400"/>
          </a:xfrm>
          <a:prstGeom prst="rect">
            <a:avLst/>
          </a:prstGeom>
        </p:spPr>
      </p:pic>
      <p:sp>
        <p:nvSpPr>
          <p:cNvPr id="14" name="AutoShape 14"/>
          <p:cNvSpPr/>
          <p:nvPr/>
        </p:nvSpPr>
        <p:spPr>
          <a:xfrm>
            <a:off x="7112000" y="16764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5E75"/>
                </a:solidFill>
                <a:latin typeface="Noto Sans SC" panose="020B0200000000000000" charset="-122"/>
                <a:ea typeface="Noto Sans SC" panose="020B0200000000000000" charset="-122"/>
                <a:cs typeface="Noto Sans SC" panose="020B0200000000000000" charset="-122"/>
                <a:sym typeface="Noto Sans SC" panose="020B0200000000000000" charset="-122"/>
              </a:rPr>
              <a:t>02. 降低高频观测 CPU 成本</a:t>
            </a:r>
            <a:endParaRPr lang="en-US" sz="1100"/>
          </a:p>
        </p:txBody>
      </p:sp>
      <p:cxnSp>
        <p:nvCxnSpPr>
          <p:cNvPr id="15" name="Connector 15"/>
          <p:cNvCxnSpPr/>
          <p:nvPr/>
        </p:nvCxnSpPr>
        <p:spPr>
          <a:xfrm rot="-8488">
            <a:off x="6540508" y="2216150"/>
            <a:ext cx="5143500" cy="12700"/>
          </a:xfrm>
          <a:prstGeom prst="straightConnector1">
            <a:avLst/>
          </a:prstGeom>
          <a:solidFill>
            <a:srgbClr val="DEE0E3">
              <a:alpha val="100000"/>
            </a:srgbClr>
          </a:solidFill>
          <a:ln w="12700" cap="flat" cmpd="sng">
            <a:solidFill>
              <a:srgbClr val="06B6D4">
                <a:alpha val="20000"/>
              </a:srgbClr>
            </a:solidFill>
            <a:prstDash val="dash"/>
            <a:round/>
            <a:headEnd type="none" w="med" len="med"/>
            <a:tailEnd type="none" w="med" len="med"/>
          </a:ln>
        </p:spPr>
      </p:cxnSp>
      <p:sp>
        <p:nvSpPr>
          <p:cNvPr id="16" name="AutoShape 16"/>
          <p:cNvSpPr/>
          <p:nvPr/>
        </p:nvSpPr>
        <p:spPr>
          <a:xfrm>
            <a:off x="6540500" y="23114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用户态热路径减少 trap 入内核的上下文切换开销，在高频观测场景下显著降低系统资源消耗。</a:t>
            </a:r>
            <a:endParaRPr lang="en-US" sz="1100"/>
          </a:p>
        </p:txBody>
      </p:sp>
      <p:sp>
        <p:nvSpPr>
          <p:cNvPr id="17" name="AutoShape 17"/>
          <p:cNvSpPr/>
          <p:nvPr/>
        </p:nvSpPr>
        <p:spPr>
          <a:xfrm>
            <a:off x="9969500" y="2349500"/>
            <a:ext cx="1841500" cy="762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单次省1639ns</a:t>
            </a:r>
            <a:endParaRPr lang="en-US" sz="1100"/>
          </a:p>
          <a:p>
            <a:pPr marL="0" indent="0" algn="r">
              <a:lnSpc>
                <a:spcPct val="125000"/>
              </a:lnSpc>
            </a:pPr>
            <a:r>
              <a:rPr lang="en-US" sz="18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0.5万~197万</a:t>
            </a:r>
            <a:endParaRPr lang="en-US" sz="18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508000" y="3429000"/>
            <a:ext cx="11176000" cy="1460500"/>
          </a:xfrm>
          <a:prstGeom prst="roundRect">
            <a:avLst>
              <a:gd name="adj" fmla="val 0"/>
            </a:avLst>
          </a:prstGeom>
          <a:gradFill rotWithShape="1">
            <a:gsLst>
              <a:gs pos="0">
                <a:srgbClr val="10B981">
                  <a:alpha val="10000"/>
                </a:srgbClr>
              </a:gs>
              <a:gs pos="100000">
                <a:srgbClr val="10B981">
                  <a:alpha val="5000"/>
                </a:srgbClr>
              </a:gs>
            </a:gsLst>
            <a:lin ang="2700000"/>
          </a:gra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508000" y="3429000"/>
            <a:ext cx="76200" cy="1460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619500"/>
            <a:ext cx="406400" cy="406400"/>
          </a:xfrm>
          <a:prstGeom prst="rect">
            <a:avLst/>
          </a:prstGeom>
        </p:spPr>
      </p:pic>
      <p:sp>
        <p:nvSpPr>
          <p:cNvPr id="21" name="AutoShape 21"/>
          <p:cNvSpPr/>
          <p:nvPr/>
        </p:nvSpPr>
        <p:spPr>
          <a:xfrm>
            <a:off x="1333500" y="35814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03. 减少临时发版和回滚风险，规避线上变更隐患</a:t>
            </a:r>
            <a:endParaRPr lang="en-US" sz="1100"/>
          </a:p>
        </p:txBody>
      </p:sp>
      <p:cxnSp>
        <p:nvCxnSpPr>
          <p:cNvPr id="22" name="Connector 22"/>
          <p:cNvCxnSpPr/>
          <p:nvPr/>
        </p:nvCxnSpPr>
        <p:spPr>
          <a:xfrm rot="-4092">
            <a:off x="762004" y="4121150"/>
            <a:ext cx="106680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23" name="AutoShape 23"/>
          <p:cNvSpPr/>
          <p:nvPr/>
        </p:nvSpPr>
        <p:spPr>
          <a:xfrm>
            <a:off x="762000" y="4254500"/>
            <a:ext cx="736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将传统的“诊断发版”转化为无侵入的“动态探针采集”，无需频繁变更线上代码，从根源上杜绝了临时发版可能引发的线上故障与回滚成本。</a:t>
            </a:r>
            <a:endParaRPr lang="en-US" sz="1100"/>
          </a:p>
        </p:txBody>
      </p:sp>
      <p:sp>
        <p:nvSpPr>
          <p:cNvPr id="24" name="AutoShape 24"/>
          <p:cNvSpPr/>
          <p:nvPr/>
        </p:nvSpPr>
        <p:spPr>
          <a:xfrm>
            <a:off x="8509000" y="4191000"/>
            <a:ext cx="30480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636000" y="4254500"/>
            <a:ext cx="279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年化节约成本：</a:t>
            </a: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5万 ~ 640万元</a:t>
            </a:r>
            <a:endParaRPr lang="en-US" sz="1100"/>
          </a:p>
        </p:txBody>
      </p:sp>
      <p:sp>
        <p:nvSpPr>
          <p:cNvPr id="26" name="AutoShape 26"/>
          <p:cNvSpPr/>
          <p:nvPr/>
        </p:nvSpPr>
        <p:spPr>
          <a:xfrm>
            <a:off x="508000" y="5080000"/>
            <a:ext cx="5651500" cy="1206500"/>
          </a:xfrm>
          <a:prstGeom prst="roundRect">
            <a:avLst>
              <a:gd name="adj" fmla="val 0"/>
            </a:avLst>
          </a:prstGeom>
          <a:gradFill rotWithShape="1">
            <a:gsLst>
              <a:gs pos="0">
                <a:srgbClr val="F59E0B">
                  <a:alpha val="10000"/>
                </a:srgbClr>
              </a:gs>
              <a:gs pos="100000">
                <a:srgbClr val="F59E0B">
                  <a:alpha val="5000"/>
                </a:srgbClr>
              </a:gs>
            </a:gsLst>
            <a:lin ang="2700000"/>
          </a:gradFill>
          <a:ln w="12700" cap="flat" cmpd="sng">
            <a:solidFill>
              <a:srgbClr val="F59E0B">
                <a:alpha val="3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508000" y="5080000"/>
            <a:ext cx="76200" cy="1206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5207000"/>
            <a:ext cx="355600" cy="355600"/>
          </a:xfrm>
          <a:prstGeom prst="rect">
            <a:avLst/>
          </a:prstGeom>
        </p:spPr>
      </p:pic>
      <p:sp>
        <p:nvSpPr>
          <p:cNvPr id="29" name="AutoShape 29"/>
          <p:cNvSpPr/>
          <p:nvPr/>
        </p:nvSpPr>
        <p:spPr>
          <a:xfrm>
            <a:off x="1270000" y="5181600"/>
            <a:ext cx="2984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2400E"/>
                </a:solidFill>
                <a:latin typeface="Noto Sans SC" panose="020B0200000000000000" charset="-122"/>
                <a:ea typeface="Noto Sans SC" panose="020B0200000000000000" charset="-122"/>
                <a:cs typeface="Noto Sans SC" panose="020B0200000000000000" charset="-122"/>
                <a:sym typeface="Noto Sans SC" panose="020B0200000000000000" charset="-122"/>
              </a:rPr>
              <a:t>04. 压缩无效诊断日志成本</a:t>
            </a:r>
            <a:endParaRPr lang="en-US" sz="1100"/>
          </a:p>
        </p:txBody>
      </p:sp>
      <p:sp>
        <p:nvSpPr>
          <p:cNvPr id="30" name="AutoShape 30"/>
          <p:cNvSpPr/>
          <p:nvPr/>
        </p:nvSpPr>
        <p:spPr>
          <a:xfrm>
            <a:off x="762000" y="5715000"/>
            <a:ext cx="355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按需诊断替代常开日志，大幅减少日志的采集、传输、存储及查询成本。</a:t>
            </a:r>
            <a:endParaRPr lang="en-US" sz="1100"/>
          </a:p>
        </p:txBody>
      </p:sp>
      <p:cxnSp>
        <p:nvCxnSpPr>
          <p:cNvPr id="31" name="Connector 31"/>
          <p:cNvCxnSpPr/>
          <p:nvPr/>
        </p:nvCxnSpPr>
        <p:spPr>
          <a:xfrm rot="5354166">
            <a:off x="3968750" y="5676942"/>
            <a:ext cx="952500" cy="12700"/>
          </a:xfrm>
          <a:prstGeom prst="straightConnector1">
            <a:avLst/>
          </a:prstGeom>
          <a:solidFill>
            <a:srgbClr val="DEE0E3">
              <a:alpha val="100000"/>
            </a:srgbClr>
          </a:solidFill>
          <a:ln w="12700" cap="flat" cmpd="sng">
            <a:solidFill>
              <a:srgbClr val="F59E0B">
                <a:alpha val="20000"/>
              </a:srgbClr>
            </a:solidFill>
            <a:prstDash val="solid"/>
            <a:round/>
            <a:headEnd type="none" w="med" len="med"/>
            <a:tailEnd type="none" w="med" len="med"/>
          </a:ln>
        </p:spPr>
      </p:cxnSp>
      <p:sp>
        <p:nvSpPr>
          <p:cNvPr id="32" name="AutoShape 32"/>
          <p:cNvSpPr/>
          <p:nvPr/>
        </p:nvSpPr>
        <p:spPr>
          <a:xfrm>
            <a:off x="4572000" y="5334000"/>
            <a:ext cx="1524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年化节约</a:t>
            </a:r>
            <a:endParaRPr lang="en-US" sz="1100"/>
          </a:p>
          <a:p>
            <a:pPr marL="0" indent="0" algn="ctr">
              <a:lnSpc>
                <a:spcPct val="125000"/>
              </a:lnSpc>
            </a:pPr>
            <a:r>
              <a:rPr lang="en-US" sz="16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1万~200万</a:t>
            </a:r>
            <a:endParaRPr lang="en-US" sz="16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33"/>
          <p:cNvSpPr/>
          <p:nvPr/>
        </p:nvSpPr>
        <p:spPr>
          <a:xfrm>
            <a:off x="6286500" y="5080000"/>
            <a:ext cx="5651500" cy="1206500"/>
          </a:xfrm>
          <a:prstGeom prst="roundRect">
            <a:avLst>
              <a:gd name="adj" fmla="val 0"/>
            </a:avLst>
          </a:prstGeom>
          <a:gradFill rotWithShape="1">
            <a:gsLst>
              <a:gs pos="0">
                <a:srgbClr val="8B5CF6">
                  <a:alpha val="10000"/>
                </a:srgbClr>
              </a:gs>
              <a:gs pos="100000">
                <a:srgbClr val="8B5CF6">
                  <a:alpha val="5000"/>
                </a:srgbClr>
              </a:gs>
            </a:gsLst>
            <a:lin ang="2700000"/>
          </a:gradFill>
          <a:ln w="12700" cap="flat" cmpd="sng">
            <a:solidFill>
              <a:srgbClr val="8B5CF6">
                <a:alpha val="30000"/>
              </a:srgbClr>
            </a:solidFill>
            <a:prstDash val="solid"/>
            <a:round/>
          </a:ln>
        </p:spPr>
        <p:txBody>
          <a:bodyPr vert="horz" wrap="square" lIns="63500" tIns="63500" rIns="63500" bIns="63500" rtlCol="0" anchor="ctr"/>
          <a:lstStyle/>
          <a:p>
            <a:pPr algn="ctr">
              <a:defRPr/>
            </a:pPr>
          </a:p>
        </p:txBody>
      </p:sp>
      <p:sp>
        <p:nvSpPr>
          <p:cNvPr id="34" name="AutoShape 34"/>
          <p:cNvSpPr/>
          <p:nvPr/>
        </p:nvSpPr>
        <p:spPr>
          <a:xfrm>
            <a:off x="6286500" y="5080000"/>
            <a:ext cx="76200" cy="12065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5" name="Picture 3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5207000"/>
            <a:ext cx="355600" cy="355600"/>
          </a:xfrm>
          <a:prstGeom prst="rect">
            <a:avLst/>
          </a:prstGeom>
        </p:spPr>
      </p:pic>
      <p:sp>
        <p:nvSpPr>
          <p:cNvPr id="36" name="AutoShape 36"/>
          <p:cNvSpPr/>
          <p:nvPr/>
        </p:nvSpPr>
        <p:spPr>
          <a:xfrm>
            <a:off x="7048500" y="5181600"/>
            <a:ext cx="2984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B21B6"/>
                </a:solidFill>
                <a:latin typeface="Noto Sans SC" panose="020B0200000000000000" charset="-122"/>
                <a:ea typeface="Noto Sans SC" panose="020B0200000000000000" charset="-122"/>
                <a:cs typeface="Noto Sans SC" panose="020B0200000000000000" charset="-122"/>
                <a:sym typeface="Noto Sans SC" panose="020B0200000000000000" charset="-122"/>
              </a:rPr>
              <a:t>05. 提升研发和 SRE 人力效率</a:t>
            </a:r>
            <a:endParaRPr lang="en-US" sz="1100"/>
          </a:p>
        </p:txBody>
      </p:sp>
      <p:sp>
        <p:nvSpPr>
          <p:cNvPr id="37" name="AutoShape 37"/>
          <p:cNvSpPr/>
          <p:nvPr/>
        </p:nvSpPr>
        <p:spPr>
          <a:xfrm>
            <a:off x="6540500" y="5715000"/>
            <a:ext cx="355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减少跨团队排障沟通成本，降低 On-call 响应负担，释放人力资源聚焦业务创新。</a:t>
            </a:r>
            <a:endParaRPr lang="en-US" sz="1100"/>
          </a:p>
        </p:txBody>
      </p:sp>
      <p:cxnSp>
        <p:nvCxnSpPr>
          <p:cNvPr id="38" name="Connector 38"/>
          <p:cNvCxnSpPr/>
          <p:nvPr/>
        </p:nvCxnSpPr>
        <p:spPr>
          <a:xfrm rot="5354166">
            <a:off x="9747250" y="5676942"/>
            <a:ext cx="952500" cy="12700"/>
          </a:xfrm>
          <a:prstGeom prst="straightConnector1">
            <a:avLst/>
          </a:prstGeom>
          <a:solidFill>
            <a:srgbClr val="DEE0E3">
              <a:alpha val="100000"/>
            </a:srgbClr>
          </a:solidFill>
          <a:ln w="12700" cap="flat" cmpd="sng">
            <a:solidFill>
              <a:srgbClr val="8B5CF6">
                <a:alpha val="20000"/>
              </a:srgbClr>
            </a:solidFill>
            <a:prstDash val="solid"/>
            <a:round/>
            <a:headEnd type="none" w="med" len="med"/>
            <a:tailEnd type="none" w="med" len="med"/>
          </a:ln>
        </p:spPr>
      </p:cxnSp>
      <p:sp>
        <p:nvSpPr>
          <p:cNvPr id="39" name="AutoShape 39"/>
          <p:cNvSpPr/>
          <p:nvPr/>
        </p:nvSpPr>
        <p:spPr>
          <a:xfrm>
            <a:off x="10287000" y="5334000"/>
            <a:ext cx="1524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年化节约</a:t>
            </a:r>
            <a:endParaRPr lang="en-US" sz="1100"/>
          </a:p>
          <a:p>
            <a:pPr marL="0" indent="0" algn="ctr">
              <a:lnSpc>
                <a:spcPct val="125000"/>
              </a:lnSpc>
            </a:pPr>
            <a:r>
              <a:rPr lang="en-US" sz="1600" b="1" i="0" u="none" strike="noStrike">
                <a:solidFill>
                  <a:srgbClr val="8B5CF6"/>
                </a:solidFill>
                <a:latin typeface="Noto Sans SC" panose="020B0200000000000000" charset="-122"/>
                <a:ea typeface="Noto Sans SC" panose="020B0200000000000000" charset="-122"/>
                <a:cs typeface="Noto Sans SC" panose="020B0200000000000000" charset="-122"/>
                <a:sym typeface="Noto Sans SC" panose="020B0200000000000000" charset="-122"/>
              </a:rPr>
              <a:t>16.2万~115万</a:t>
            </a:r>
            <a:endParaRPr lang="en-US" sz="1600" b="1" i="0" u="none" strike="noStrike">
              <a:solidFill>
                <a:srgbClr val="8B5CF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5F8FF">
                <a:alpha val="100000"/>
              </a:srgbClr>
            </a:gs>
            <a:gs pos="100000">
              <a:srgbClr val="EBF2FF">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4445000"/>
            <a:ext cx="5080000" cy="5080000"/>
          </a:xfrm>
          <a:prstGeom prst="ellipse">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六大核心应用场景</a:t>
            </a:r>
            <a:endParaRPr lang="en-US" sz="1100"/>
          </a:p>
        </p:txBody>
      </p:sp>
      <p:cxnSp>
        <p:nvCxnSpPr>
          <p:cNvPr id="5" name="Connector 5"/>
          <p:cNvCxnSpPr/>
          <p:nvPr/>
        </p:nvCxnSpPr>
        <p:spPr>
          <a:xfrm rot="-3906">
            <a:off x="508004" y="1136650"/>
            <a:ext cx="11176000" cy="12700"/>
          </a:xfrm>
          <a:prstGeom prst="straightConnector1">
            <a:avLst/>
          </a:prstGeom>
          <a:solidFill>
            <a:srgbClr val="DEE0E3">
              <a:alpha val="100000"/>
            </a:srgbClr>
          </a:solidFill>
          <a:ln w="12700" cap="flat" cmpd="sng">
            <a:solidFill>
              <a:srgbClr val="3B82F6">
                <a:alpha val="30000"/>
              </a:srgbClr>
            </a:solidFill>
            <a:prstDash val="solid"/>
            <a:round/>
            <a:headEnd type="none" w="med" len="med"/>
            <a:tailEnd type="none" w="med" len="med"/>
          </a:ln>
        </p:spPr>
      </p:cxnSp>
      <p:sp>
        <p:nvSpPr>
          <p:cNvPr id="6" name="AutoShape 6"/>
          <p:cNvSpPr/>
          <p:nvPr/>
        </p:nvSpPr>
        <p:spPr>
          <a:xfrm>
            <a:off x="508000" y="1524000"/>
            <a:ext cx="3632200" cy="2413000"/>
          </a:xfrm>
          <a:prstGeom prst="roundRect">
            <a:avLst>
              <a:gd name="adj" fmla="val 0"/>
            </a:avLst>
          </a:prstGeom>
          <a:gradFill rotWithShape="1">
            <a:gsLst>
              <a:gs pos="0">
                <a:srgbClr val="FFFFFF">
                  <a:alpha val="90000"/>
                </a:srgbClr>
              </a:gs>
              <a:gs pos="100000">
                <a:srgbClr val="EFF6FF">
                  <a:alpha val="80000"/>
                </a:srgbClr>
              </a:gs>
            </a:gsLst>
            <a:lin ang="5400000"/>
          </a:gra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08000" y="1524000"/>
            <a:ext cx="50800" cy="2413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14500"/>
            <a:ext cx="406400" cy="406400"/>
          </a:xfrm>
          <a:prstGeom prst="rect">
            <a:avLst/>
          </a:prstGeom>
        </p:spPr>
      </p:pic>
      <p:sp>
        <p:nvSpPr>
          <p:cNvPr id="9" name="AutoShape 9"/>
          <p:cNvSpPr/>
          <p:nvPr/>
        </p:nvSpPr>
        <p:spPr>
          <a:xfrm>
            <a:off x="1333500" y="1714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01. 线上故障定位</a:t>
            </a:r>
            <a:endParaRPr lang="en-US" sz="1100"/>
          </a:p>
        </p:txBody>
      </p:sp>
      <p:cxnSp>
        <p:nvCxnSpPr>
          <p:cNvPr id="10" name="Connector 10"/>
          <p:cNvCxnSpPr/>
          <p:nvPr/>
        </p:nvCxnSpPr>
        <p:spPr>
          <a:xfrm rot="-13974">
            <a:off x="762013" y="2279650"/>
            <a:ext cx="3124200" cy="12700"/>
          </a:xfrm>
          <a:prstGeom prst="straightConnector1">
            <a:avLst/>
          </a:prstGeom>
          <a:solidFill>
            <a:srgbClr val="DEE0E3">
              <a:alpha val="100000"/>
            </a:srgbClr>
          </a:solidFill>
          <a:ln w="12700" cap="flat" cmpd="sng">
            <a:solidFill>
              <a:srgbClr val="3B82F6">
                <a:alpha val="15000"/>
              </a:srgbClr>
            </a:solidFill>
            <a:prstDash val="dash"/>
            <a:round/>
            <a:headEnd type="none" w="med" len="med"/>
            <a:tailEnd type="none" w="med" len="med"/>
          </a:ln>
        </p:spPr>
      </p:cxnSp>
      <p:sp>
        <p:nvSpPr>
          <p:cNvPr id="11" name="AutoShape 11"/>
          <p:cNvSpPr/>
          <p:nvPr/>
        </p:nvSpPr>
        <p:spPr>
          <a:xfrm>
            <a:off x="762000" y="2413000"/>
            <a:ext cx="3251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当业务出现延迟抖动或错误率异常升高时，无需重启服务，动态采集关键函数的入参、返回值及堆栈信息，快速缩小排查范围，精准定位根因来源。</a:t>
            </a:r>
            <a:endParaRPr lang="en-US" sz="1100"/>
          </a:p>
        </p:txBody>
      </p:sp>
      <p:sp>
        <p:nvSpPr>
          <p:cNvPr id="12" name="AutoShape 12"/>
          <p:cNvSpPr/>
          <p:nvPr/>
        </p:nvSpPr>
        <p:spPr>
          <a:xfrm>
            <a:off x="4356100" y="1524000"/>
            <a:ext cx="3632200" cy="2413000"/>
          </a:xfrm>
          <a:prstGeom prst="roundRect">
            <a:avLst>
              <a:gd name="adj" fmla="val 0"/>
            </a:avLst>
          </a:prstGeom>
          <a:gradFill rotWithShape="1">
            <a:gsLst>
              <a:gs pos="0">
                <a:srgbClr val="FFFFFF">
                  <a:alpha val="90000"/>
                </a:srgbClr>
              </a:gs>
              <a:gs pos="100000">
                <a:srgbClr val="EFF6FF">
                  <a:alpha val="80000"/>
                </a:srgbClr>
              </a:gs>
            </a:gsLst>
            <a:lin ang="5400000"/>
          </a:gra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356100" y="1524000"/>
            <a:ext cx="50800" cy="2413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10100" y="1714500"/>
            <a:ext cx="406400" cy="406400"/>
          </a:xfrm>
          <a:prstGeom prst="rect">
            <a:avLst/>
          </a:prstGeom>
        </p:spPr>
      </p:pic>
      <p:sp>
        <p:nvSpPr>
          <p:cNvPr id="15" name="AutoShape 15"/>
          <p:cNvSpPr/>
          <p:nvPr/>
        </p:nvSpPr>
        <p:spPr>
          <a:xfrm>
            <a:off x="5181600" y="1714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02. 灰度发布验证</a:t>
            </a:r>
            <a:endParaRPr lang="en-US" sz="1100"/>
          </a:p>
        </p:txBody>
      </p:sp>
      <p:cxnSp>
        <p:nvCxnSpPr>
          <p:cNvPr id="16" name="Connector 16"/>
          <p:cNvCxnSpPr/>
          <p:nvPr/>
        </p:nvCxnSpPr>
        <p:spPr>
          <a:xfrm rot="-13974">
            <a:off x="4610113" y="2279650"/>
            <a:ext cx="3124200" cy="12700"/>
          </a:xfrm>
          <a:prstGeom prst="straightConnector1">
            <a:avLst/>
          </a:prstGeom>
          <a:solidFill>
            <a:srgbClr val="DEE0E3">
              <a:alpha val="100000"/>
            </a:srgbClr>
          </a:solidFill>
          <a:ln w="12700" cap="flat" cmpd="sng">
            <a:solidFill>
              <a:srgbClr val="10B981">
                <a:alpha val="15000"/>
              </a:srgbClr>
            </a:solidFill>
            <a:prstDash val="dash"/>
            <a:round/>
            <a:headEnd type="none" w="med" len="med"/>
            <a:tailEnd type="none" w="med" len="med"/>
          </a:ln>
        </p:spPr>
      </p:cxnSp>
      <p:sp>
        <p:nvSpPr>
          <p:cNvPr id="17" name="AutoShape 17"/>
          <p:cNvSpPr/>
          <p:nvPr/>
        </p:nvSpPr>
        <p:spPr>
          <a:xfrm>
            <a:off x="4610100" y="2413000"/>
            <a:ext cx="3251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新版本上线初期，针对少量实例开启轻量级探针，实时观测核心函数的返回值分布与耗时变化，以客观数据支撑灰度放量决策，保障发布安全。</a:t>
            </a:r>
            <a:endParaRPr lang="en-US" sz="1100"/>
          </a:p>
        </p:txBody>
      </p:sp>
      <p:sp>
        <p:nvSpPr>
          <p:cNvPr id="18" name="AutoShape 18"/>
          <p:cNvSpPr/>
          <p:nvPr/>
        </p:nvSpPr>
        <p:spPr>
          <a:xfrm>
            <a:off x="8077200" y="1524000"/>
            <a:ext cx="3632200" cy="2413000"/>
          </a:xfrm>
          <a:prstGeom prst="roundRect">
            <a:avLst>
              <a:gd name="adj" fmla="val 0"/>
            </a:avLst>
          </a:prstGeom>
          <a:gradFill rotWithShape="1">
            <a:gsLst>
              <a:gs pos="0">
                <a:srgbClr val="FFFFFF">
                  <a:alpha val="90000"/>
                </a:srgbClr>
              </a:gs>
              <a:gs pos="100000">
                <a:srgbClr val="EFF6FF">
                  <a:alpha val="80000"/>
                </a:srgbClr>
              </a:gs>
            </a:gsLst>
            <a:lin ang="5400000"/>
          </a:gra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077200" y="1524000"/>
            <a:ext cx="50800" cy="2413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1200" y="1714500"/>
            <a:ext cx="406400" cy="406400"/>
          </a:xfrm>
          <a:prstGeom prst="rect">
            <a:avLst/>
          </a:prstGeom>
        </p:spPr>
      </p:pic>
      <p:sp>
        <p:nvSpPr>
          <p:cNvPr id="21" name="AutoShape 21"/>
          <p:cNvSpPr/>
          <p:nvPr/>
        </p:nvSpPr>
        <p:spPr>
          <a:xfrm>
            <a:off x="8902700" y="1714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78350F"/>
                </a:solidFill>
                <a:latin typeface="Noto Sans SC" panose="020B0200000000000000" charset="-122"/>
                <a:ea typeface="Noto Sans SC" panose="020B0200000000000000" charset="-122"/>
                <a:cs typeface="Noto Sans SC" panose="020B0200000000000000" charset="-122"/>
                <a:sym typeface="Noto Sans SC" panose="020B0200000000000000" charset="-122"/>
              </a:rPr>
              <a:t>03. 性能压测分析</a:t>
            </a:r>
            <a:endParaRPr lang="en-US" sz="1100"/>
          </a:p>
        </p:txBody>
      </p:sp>
      <p:cxnSp>
        <p:nvCxnSpPr>
          <p:cNvPr id="22" name="Connector 22"/>
          <p:cNvCxnSpPr/>
          <p:nvPr/>
        </p:nvCxnSpPr>
        <p:spPr>
          <a:xfrm rot="-13974">
            <a:off x="8331213" y="2279650"/>
            <a:ext cx="3124200" cy="12700"/>
          </a:xfrm>
          <a:prstGeom prst="straightConnector1">
            <a:avLst/>
          </a:prstGeom>
          <a:solidFill>
            <a:srgbClr val="DEE0E3">
              <a:alpha val="100000"/>
            </a:srgbClr>
          </a:solidFill>
          <a:ln w="12700" cap="flat" cmpd="sng">
            <a:solidFill>
              <a:srgbClr val="F59E0B">
                <a:alpha val="15000"/>
              </a:srgbClr>
            </a:solidFill>
            <a:prstDash val="dash"/>
            <a:round/>
            <a:headEnd type="none" w="med" len="med"/>
            <a:tailEnd type="none" w="med" len="med"/>
          </a:ln>
        </p:spPr>
      </p:cxnSp>
      <p:sp>
        <p:nvSpPr>
          <p:cNvPr id="23" name="AutoShape 23"/>
          <p:cNvSpPr/>
          <p:nvPr/>
        </p:nvSpPr>
        <p:spPr>
          <a:xfrm>
            <a:off x="8331200" y="2413000"/>
            <a:ext cx="3251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在压测场景中对热点路径植入探针，深入分析参数模式、耗时瓶颈点及线程阻塞分布，为代码优化和资源配置提供精细化的性能诊断依据。</a:t>
            </a:r>
            <a:endParaRPr lang="en-US" sz="1100"/>
          </a:p>
        </p:txBody>
      </p:sp>
      <p:sp>
        <p:nvSpPr>
          <p:cNvPr id="24" name="AutoShape 24"/>
          <p:cNvSpPr/>
          <p:nvPr/>
        </p:nvSpPr>
        <p:spPr>
          <a:xfrm>
            <a:off x="508000" y="4191000"/>
            <a:ext cx="3632200" cy="2413000"/>
          </a:xfrm>
          <a:prstGeom prst="roundRect">
            <a:avLst>
              <a:gd name="adj" fmla="val 0"/>
            </a:avLst>
          </a:prstGeom>
          <a:gradFill rotWithShape="1">
            <a:gsLst>
              <a:gs pos="0">
                <a:srgbClr val="FFFFFF">
                  <a:alpha val="90000"/>
                </a:srgbClr>
              </a:gs>
              <a:gs pos="100000">
                <a:srgbClr val="EFF6FF">
                  <a:alpha val="80000"/>
                </a:srgbClr>
              </a:gs>
            </a:gsLst>
            <a:lin ang="5400000"/>
          </a:gra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508000" y="4191000"/>
            <a:ext cx="50800" cy="24130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4381500"/>
            <a:ext cx="406400" cy="406400"/>
          </a:xfrm>
          <a:prstGeom prst="rect">
            <a:avLst/>
          </a:prstGeom>
        </p:spPr>
      </p:pic>
      <p:sp>
        <p:nvSpPr>
          <p:cNvPr id="27" name="AutoShape 27"/>
          <p:cNvSpPr/>
          <p:nvPr/>
        </p:nvSpPr>
        <p:spPr>
          <a:xfrm>
            <a:off x="1333500" y="4381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C1D95"/>
                </a:solidFill>
                <a:latin typeface="Noto Sans SC" panose="020B0200000000000000" charset="-122"/>
                <a:ea typeface="Noto Sans SC" panose="020B0200000000000000" charset="-122"/>
                <a:cs typeface="Noto Sans SC" panose="020B0200000000000000" charset="-122"/>
                <a:sym typeface="Noto Sans SC" panose="020B0200000000000000" charset="-122"/>
              </a:rPr>
              <a:t>04. 第三方SDK黑盒观测</a:t>
            </a:r>
            <a:endParaRPr lang="en-US" sz="1100"/>
          </a:p>
        </p:txBody>
      </p:sp>
      <p:cxnSp>
        <p:nvCxnSpPr>
          <p:cNvPr id="28" name="Connector 28"/>
          <p:cNvCxnSpPr/>
          <p:nvPr/>
        </p:nvCxnSpPr>
        <p:spPr>
          <a:xfrm rot="-13974">
            <a:off x="762013" y="4946650"/>
            <a:ext cx="3124200" cy="12700"/>
          </a:xfrm>
          <a:prstGeom prst="straightConnector1">
            <a:avLst/>
          </a:prstGeom>
          <a:solidFill>
            <a:srgbClr val="DEE0E3">
              <a:alpha val="100000"/>
            </a:srgbClr>
          </a:solidFill>
          <a:ln w="12700" cap="flat" cmpd="sng">
            <a:solidFill>
              <a:srgbClr val="8B5CF6">
                <a:alpha val="15000"/>
              </a:srgbClr>
            </a:solidFill>
            <a:prstDash val="dash"/>
            <a:round/>
            <a:headEnd type="none" w="med" len="med"/>
            <a:tailEnd type="none" w="med" len="med"/>
          </a:ln>
        </p:spPr>
      </p:cxnSp>
      <p:sp>
        <p:nvSpPr>
          <p:cNvPr id="29" name="AutoShape 29"/>
          <p:cNvSpPr/>
          <p:nvPr/>
        </p:nvSpPr>
        <p:spPr>
          <a:xfrm>
            <a:off x="762000" y="5080000"/>
            <a:ext cx="3251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面对闭源SDK或复杂中间件的“黑盒”依赖，在动态库函数层动态挂载探针，采集调用上下文与现场数据，减少盲目猜测，加速接口调用问题排查。</a:t>
            </a:r>
            <a:endParaRPr lang="en-US" sz="1100"/>
          </a:p>
        </p:txBody>
      </p:sp>
      <p:sp>
        <p:nvSpPr>
          <p:cNvPr id="30" name="AutoShape 30"/>
          <p:cNvSpPr/>
          <p:nvPr/>
        </p:nvSpPr>
        <p:spPr>
          <a:xfrm>
            <a:off x="4356100" y="4191000"/>
            <a:ext cx="3632200" cy="2413000"/>
          </a:xfrm>
          <a:prstGeom prst="roundRect">
            <a:avLst>
              <a:gd name="adj" fmla="val 0"/>
            </a:avLst>
          </a:prstGeom>
          <a:gradFill rotWithShape="1">
            <a:gsLst>
              <a:gs pos="0">
                <a:srgbClr val="FFFFFF">
                  <a:alpha val="90000"/>
                </a:srgbClr>
              </a:gs>
              <a:gs pos="100000">
                <a:srgbClr val="EFF6FF">
                  <a:alpha val="80000"/>
                </a:srgbClr>
              </a:gs>
            </a:gsLst>
            <a:lin ang="5400000"/>
          </a:gra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4356100" y="4191000"/>
            <a:ext cx="50800" cy="24130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10100" y="4381500"/>
            <a:ext cx="406400" cy="406400"/>
          </a:xfrm>
          <a:prstGeom prst="rect">
            <a:avLst/>
          </a:prstGeom>
        </p:spPr>
      </p:pic>
      <p:sp>
        <p:nvSpPr>
          <p:cNvPr id="33" name="AutoShape 33"/>
          <p:cNvSpPr/>
          <p:nvPr/>
        </p:nvSpPr>
        <p:spPr>
          <a:xfrm>
            <a:off x="5181600" y="4381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05. 安全应急取证</a:t>
            </a:r>
            <a:endParaRPr lang="en-US" sz="1100"/>
          </a:p>
        </p:txBody>
      </p:sp>
      <p:cxnSp>
        <p:nvCxnSpPr>
          <p:cNvPr id="34" name="Connector 34"/>
          <p:cNvCxnSpPr/>
          <p:nvPr/>
        </p:nvCxnSpPr>
        <p:spPr>
          <a:xfrm rot="-13974">
            <a:off x="4610113" y="4946650"/>
            <a:ext cx="3124200" cy="12700"/>
          </a:xfrm>
          <a:prstGeom prst="straightConnector1">
            <a:avLst/>
          </a:prstGeom>
          <a:solidFill>
            <a:srgbClr val="DEE0E3">
              <a:alpha val="100000"/>
            </a:srgbClr>
          </a:solidFill>
          <a:ln w="12700" cap="flat" cmpd="sng">
            <a:solidFill>
              <a:srgbClr val="EF4444">
                <a:alpha val="15000"/>
              </a:srgbClr>
            </a:solidFill>
            <a:prstDash val="dash"/>
            <a:round/>
            <a:headEnd type="none" w="med" len="med"/>
            <a:tailEnd type="none" w="med" len="med"/>
          </a:ln>
        </p:spPr>
      </p:cxnSp>
      <p:sp>
        <p:nvSpPr>
          <p:cNvPr id="35" name="AutoShape 35"/>
          <p:cNvSpPr/>
          <p:nvPr/>
        </p:nvSpPr>
        <p:spPr>
          <a:xfrm>
            <a:off x="4610100" y="5080000"/>
            <a:ext cx="3251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在疑似数据泄露或异常调用行为发生时，通过低侵入方式动态观测关键敏感函数的调用链路与参数，为安全团队提供实时、完整的取证分析数据。</a:t>
            </a:r>
            <a:endParaRPr lang="en-US" sz="1100"/>
          </a:p>
        </p:txBody>
      </p:sp>
      <p:sp>
        <p:nvSpPr>
          <p:cNvPr id="36" name="AutoShape 36"/>
          <p:cNvSpPr/>
          <p:nvPr/>
        </p:nvSpPr>
        <p:spPr>
          <a:xfrm>
            <a:off x="8077200" y="4191000"/>
            <a:ext cx="3632200" cy="2413000"/>
          </a:xfrm>
          <a:prstGeom prst="roundRect">
            <a:avLst>
              <a:gd name="adj" fmla="val 0"/>
            </a:avLst>
          </a:prstGeom>
          <a:gradFill rotWithShape="1">
            <a:gsLst>
              <a:gs pos="0">
                <a:srgbClr val="FFFFFF">
                  <a:alpha val="90000"/>
                </a:srgbClr>
              </a:gs>
              <a:gs pos="100000">
                <a:srgbClr val="EFF6FF">
                  <a:alpha val="80000"/>
                </a:srgbClr>
              </a:gs>
            </a:gsLst>
            <a:lin ang="5400000"/>
          </a:gra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37" name="AutoShape 37"/>
          <p:cNvSpPr/>
          <p:nvPr/>
        </p:nvSpPr>
        <p:spPr>
          <a:xfrm>
            <a:off x="8077200" y="4191000"/>
            <a:ext cx="50800" cy="2413000"/>
          </a:xfrm>
          <a:prstGeom prst="roundRect">
            <a:avLst>
              <a:gd name="adj" fmla="val 0"/>
            </a:avLst>
          </a:prstGeom>
          <a:solidFill>
            <a:srgbClr val="0EA5E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8" name="Picture 3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31200" y="4381500"/>
            <a:ext cx="406400" cy="406400"/>
          </a:xfrm>
          <a:prstGeom prst="rect">
            <a:avLst/>
          </a:prstGeom>
        </p:spPr>
      </p:pic>
      <p:sp>
        <p:nvSpPr>
          <p:cNvPr id="39" name="AutoShape 39"/>
          <p:cNvSpPr/>
          <p:nvPr/>
        </p:nvSpPr>
        <p:spPr>
          <a:xfrm>
            <a:off x="8902700" y="4381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C4A6E"/>
                </a:solidFill>
                <a:latin typeface="Noto Sans SC" panose="020B0200000000000000" charset="-122"/>
                <a:ea typeface="Noto Sans SC" panose="020B0200000000000000" charset="-122"/>
                <a:cs typeface="Noto Sans SC" panose="020B0200000000000000" charset="-122"/>
                <a:sym typeface="Noto Sans SC" panose="020B0200000000000000" charset="-122"/>
              </a:rPr>
              <a:t>06. 容量和成本优化</a:t>
            </a:r>
            <a:endParaRPr lang="en-US" sz="1100"/>
          </a:p>
        </p:txBody>
      </p:sp>
      <p:cxnSp>
        <p:nvCxnSpPr>
          <p:cNvPr id="40" name="Connector 40"/>
          <p:cNvCxnSpPr/>
          <p:nvPr/>
        </p:nvCxnSpPr>
        <p:spPr>
          <a:xfrm rot="-13974">
            <a:off x="8331213" y="4946650"/>
            <a:ext cx="3124200" cy="12700"/>
          </a:xfrm>
          <a:prstGeom prst="straightConnector1">
            <a:avLst/>
          </a:prstGeom>
          <a:solidFill>
            <a:srgbClr val="DEE0E3">
              <a:alpha val="100000"/>
            </a:srgbClr>
          </a:solidFill>
          <a:ln w="12700" cap="flat" cmpd="sng">
            <a:solidFill>
              <a:srgbClr val="0EA5E9">
                <a:alpha val="15000"/>
              </a:srgbClr>
            </a:solidFill>
            <a:prstDash val="dash"/>
            <a:round/>
            <a:headEnd type="none" w="med" len="med"/>
            <a:tailEnd type="none" w="med" len="med"/>
          </a:ln>
        </p:spPr>
      </p:cxnSp>
      <p:sp>
        <p:nvSpPr>
          <p:cNvPr id="41" name="AutoShape 41"/>
          <p:cNvSpPr/>
          <p:nvPr/>
        </p:nvSpPr>
        <p:spPr>
          <a:xfrm>
            <a:off x="8331200" y="5080000"/>
            <a:ext cx="3251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通过短窗口、低损耗地采集热点函数的真实调用量级与系统开销，精准评估监控探针、日志埋点或第三方SDK引入的额外成本，辅助容量规划决策。</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8FAFC">
                <a:alpha val="100000"/>
              </a:srgbClr>
            </a:gs>
            <a:gs pos="100000">
              <a:srgbClr val="F1F5F9">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81000" y="381000"/>
            <a:ext cx="1143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 ROI 收益测算</a:t>
            </a:r>
            <a:endParaRPr lang="en-US" sz="1100"/>
          </a:p>
        </p:txBody>
      </p:sp>
      <p:sp>
        <p:nvSpPr>
          <p:cNvPr id="5" name="AutoShape 5"/>
          <p:cNvSpPr/>
          <p:nvPr/>
        </p:nvSpPr>
        <p:spPr>
          <a:xfrm>
            <a:off x="381000" y="1143000"/>
            <a:ext cx="1143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lightprobe 实测数据和合理企业场景假设，从 MTTR（平均故障修复时间）、CPU overhead（资源开销）、诊断发版频率、日志存储成本、人力协作效率五个核心维度进行全链路综合测算，为不同规模企业提供收益参考。</a:t>
            </a:r>
            <a:endParaRPr lang="en-US" sz="1100"/>
          </a:p>
        </p:txBody>
      </p:sp>
      <p:cxnSp>
        <p:nvCxnSpPr>
          <p:cNvPr id="6" name="Connector 6"/>
          <p:cNvCxnSpPr/>
          <p:nvPr/>
        </p:nvCxnSpPr>
        <p:spPr>
          <a:xfrm rot="-3819">
            <a:off x="381004" y="2025650"/>
            <a:ext cx="11430000" cy="12700"/>
          </a:xfrm>
          <a:prstGeom prst="line">
            <a:avLst/>
          </a:prstGeom>
          <a:solidFill>
            <a:srgbClr val="DEE0E3">
              <a:alpha val="100000"/>
            </a:srgbClr>
          </a:solidFill>
          <a:ln w="12700" cap="flat" cmpd="sng">
            <a:solidFill>
              <a:srgbClr val="CBD5E1">
                <a:alpha val="60000"/>
              </a:srgbClr>
            </a:solidFill>
            <a:prstDash val="solid"/>
            <a:round/>
            <a:headEnd type="none" w="med" len="med"/>
            <a:tailEnd type="none" w="med" len="med"/>
          </a:ln>
        </p:spPr>
      </p:cxnSp>
      <p:sp>
        <p:nvSpPr>
          <p:cNvPr id="7" name="AutoShape 7"/>
          <p:cNvSpPr/>
          <p:nvPr/>
        </p:nvSpPr>
        <p:spPr>
          <a:xfrm>
            <a:off x="381000" y="2413000"/>
            <a:ext cx="3683000" cy="3429000"/>
          </a:xfrm>
          <a:prstGeom prst="roundRect">
            <a:avLst>
              <a:gd name="adj" fmla="val 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381000" y="2413000"/>
            <a:ext cx="3683000" cy="76200"/>
          </a:xfrm>
          <a:prstGeom prst="roundRect">
            <a:avLst>
              <a:gd name="adj" fmla="val 0"/>
            </a:avLst>
          </a:prstGeom>
          <a:solidFill>
            <a:srgbClr val="60A5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500" y="2667000"/>
            <a:ext cx="406400" cy="406400"/>
          </a:xfrm>
          <a:prstGeom prst="rect">
            <a:avLst/>
          </a:prstGeom>
        </p:spPr>
      </p:pic>
      <p:sp>
        <p:nvSpPr>
          <p:cNvPr id="10" name="AutoShape 10"/>
          <p:cNvSpPr/>
          <p:nvPr/>
        </p:nvSpPr>
        <p:spPr>
          <a:xfrm>
            <a:off x="1079500" y="2667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研发效率型企业</a:t>
            </a:r>
            <a:endParaRPr lang="en-US" sz="1100"/>
          </a:p>
        </p:txBody>
      </p:sp>
      <p:cxnSp>
        <p:nvCxnSpPr>
          <p:cNvPr id="11" name="Connector 11"/>
          <p:cNvCxnSpPr/>
          <p:nvPr/>
        </p:nvCxnSpPr>
        <p:spPr>
          <a:xfrm rot="-13222">
            <a:off x="571512" y="3295650"/>
            <a:ext cx="3302000" cy="12700"/>
          </a:xfrm>
          <a:prstGeom prst="line">
            <a:avLst/>
          </a:prstGeom>
          <a:solidFill>
            <a:srgbClr val="DEE0E3">
              <a:alpha val="100000"/>
            </a:srgbClr>
          </a:solidFill>
          <a:ln w="12700" cap="flat" cmpd="sng">
            <a:solidFill>
              <a:srgbClr val="3B82F6">
                <a:alpha val="20000"/>
              </a:srgbClr>
            </a:solidFill>
            <a:prstDash val="dash"/>
            <a:round/>
            <a:headEnd type="none" w="med" len="med"/>
            <a:tailEnd type="none" w="med" len="med"/>
          </a:ln>
        </p:spPr>
      </p:cxnSp>
      <p:sp>
        <p:nvSpPr>
          <p:cNvPr id="12" name="AutoShape 12"/>
          <p:cNvSpPr/>
          <p:nvPr/>
        </p:nvSpPr>
        <p:spPr>
          <a:xfrm>
            <a:off x="571500" y="34925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主要收益聚焦于减少无效诊断发版频次，大幅缩短开发与运维的故障定位时间，提升团队协作响应速度。</a:t>
            </a:r>
            <a:endParaRPr lang="en-US" sz="1100"/>
          </a:p>
        </p:txBody>
      </p:sp>
      <p:sp>
        <p:nvSpPr>
          <p:cNvPr id="13" name="AutoShape 13"/>
          <p:cNvSpPr/>
          <p:nvPr/>
        </p:nvSpPr>
        <p:spPr>
          <a:xfrm>
            <a:off x="571500" y="45720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10 - 50</a:t>
            </a:r>
            <a:r>
              <a:rPr lang="en-US" sz="16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万元/年</a:t>
            </a:r>
            <a:endParaRPr lang="en-US" sz="1100"/>
          </a:p>
        </p:txBody>
      </p:sp>
      <p:sp>
        <p:nvSpPr>
          <p:cNvPr id="14" name="AutoShape 14"/>
          <p:cNvSpPr/>
          <p:nvPr/>
        </p:nvSpPr>
        <p:spPr>
          <a:xfrm>
            <a:off x="571500" y="5334000"/>
            <a:ext cx="3302000" cy="508000"/>
          </a:xfrm>
          <a:prstGeom prst="roundRect">
            <a:avLst>
              <a:gd name="adj" fmla="val 0"/>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35000" y="5397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适合内部工具化建设，轻量级部署即可快速落地见效，降低试错成本。</a:t>
            </a:r>
            <a:endParaRPr lang="en-US" sz="1100"/>
          </a:p>
        </p:txBody>
      </p:sp>
      <p:sp>
        <p:nvSpPr>
          <p:cNvPr id="16" name="AutoShape 16"/>
          <p:cNvSpPr/>
          <p:nvPr/>
        </p:nvSpPr>
        <p:spPr>
          <a:xfrm>
            <a:off x="4254500" y="2413000"/>
            <a:ext cx="3683000" cy="3429000"/>
          </a:xfrm>
          <a:prstGeom prst="roundRect">
            <a:avLst>
              <a:gd name="adj" fmla="val 0"/>
            </a:avLst>
          </a:prstGeom>
          <a:solidFill>
            <a:srgbClr val="DBEAFE">
              <a:alpha val="80000"/>
            </a:srgbClr>
          </a:solidFill>
          <a:ln w="12700" cap="flat" cmpd="sng">
            <a:solidFill>
              <a:srgbClr val="93C5FD">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254500" y="2413000"/>
            <a:ext cx="3683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45000" y="2667000"/>
            <a:ext cx="406400" cy="406400"/>
          </a:xfrm>
          <a:prstGeom prst="rect">
            <a:avLst/>
          </a:prstGeom>
        </p:spPr>
      </p:pic>
      <p:sp>
        <p:nvSpPr>
          <p:cNvPr id="19" name="AutoShape 19"/>
          <p:cNvSpPr/>
          <p:nvPr/>
        </p:nvSpPr>
        <p:spPr>
          <a:xfrm>
            <a:off x="4953000" y="2667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中型互联/金融科技</a:t>
            </a:r>
            <a:endParaRPr lang="en-US" sz="1100"/>
          </a:p>
        </p:txBody>
      </p:sp>
      <p:cxnSp>
        <p:nvCxnSpPr>
          <p:cNvPr id="20" name="Connector 20"/>
          <p:cNvCxnSpPr/>
          <p:nvPr/>
        </p:nvCxnSpPr>
        <p:spPr>
          <a:xfrm rot="-13222">
            <a:off x="4445012" y="3295650"/>
            <a:ext cx="3302000" cy="12700"/>
          </a:xfrm>
          <a:prstGeom prst="line">
            <a:avLst/>
          </a:prstGeom>
          <a:solidFill>
            <a:srgbClr val="DEE0E3">
              <a:alpha val="100000"/>
            </a:srgbClr>
          </a:solidFill>
          <a:ln w="12700" cap="flat" cmpd="sng">
            <a:solidFill>
              <a:srgbClr val="3B82F6">
                <a:alpha val="30000"/>
              </a:srgbClr>
            </a:solidFill>
            <a:prstDash val="dash"/>
            <a:round/>
            <a:headEnd type="none" w="med" len="med"/>
            <a:tailEnd type="none" w="med" len="med"/>
          </a:ln>
        </p:spPr>
      </p:cxnSp>
      <p:sp>
        <p:nvSpPr>
          <p:cNvPr id="21" name="AutoShape 21"/>
          <p:cNvSpPr/>
          <p:nvPr/>
        </p:nvSpPr>
        <p:spPr>
          <a:xfrm>
            <a:off x="4445000" y="34925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 MTTR 缩短、CPU 资源节省、日志存储成本压降及发布风险规避带来的隐性价值，形成多维度的成本节约闭环。</a:t>
            </a:r>
            <a:endParaRPr lang="en-US" sz="1100"/>
          </a:p>
        </p:txBody>
      </p:sp>
      <p:sp>
        <p:nvSpPr>
          <p:cNvPr id="22" name="AutoShape 22"/>
          <p:cNvSpPr/>
          <p:nvPr/>
        </p:nvSpPr>
        <p:spPr>
          <a:xfrm>
            <a:off x="4445000" y="45720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100 - 500</a:t>
            </a:r>
            <a:r>
              <a:rPr lang="en-US" sz="16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万元/年</a:t>
            </a:r>
            <a:endParaRPr lang="en-US" sz="1100"/>
          </a:p>
        </p:txBody>
      </p:sp>
      <p:sp>
        <p:nvSpPr>
          <p:cNvPr id="23" name="AutoShape 23"/>
          <p:cNvSpPr/>
          <p:nvPr/>
        </p:nvSpPr>
        <p:spPr>
          <a:xfrm>
            <a:off x="4445000" y="5334000"/>
            <a:ext cx="3302000" cy="508000"/>
          </a:xfrm>
          <a:prstGeom prst="roundRect">
            <a:avLst>
              <a:gd name="adj" fmla="val 0"/>
            </a:avLst>
          </a:prstGeom>
          <a:solidFill>
            <a:srgbClr val="3B82F6">
              <a:alpha val="15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4508500" y="5397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业务场景复杂，引入首年通常即可覆盖投入成本，具备极佳的回本空间。</a:t>
            </a:r>
            <a:endParaRPr lang="en-US" sz="1100"/>
          </a:p>
        </p:txBody>
      </p:sp>
      <p:sp>
        <p:nvSpPr>
          <p:cNvPr id="25" name="AutoShape 25"/>
          <p:cNvSpPr/>
          <p:nvPr/>
        </p:nvSpPr>
        <p:spPr>
          <a:xfrm>
            <a:off x="8128000" y="2413000"/>
            <a:ext cx="3683000" cy="3429000"/>
          </a:xfrm>
          <a:prstGeom prst="roundRect">
            <a:avLst>
              <a:gd name="adj" fmla="val 0"/>
            </a:avLst>
          </a:prstGeom>
          <a:solidFill>
            <a:srgbClr val="CBD5E1">
              <a:alpha val="50000"/>
            </a:srgbClr>
          </a:solidFill>
          <a:ln w="12700" cap="flat" cmpd="sng">
            <a:solidFill>
              <a:srgbClr val="94A3B8">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8128000" y="2413000"/>
            <a:ext cx="3683000" cy="76200"/>
          </a:xfrm>
          <a:prstGeom prst="roundRect">
            <a:avLst>
              <a:gd name="adj" fmla="val 0"/>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2667000"/>
            <a:ext cx="406400" cy="406400"/>
          </a:xfrm>
          <a:prstGeom prst="rect">
            <a:avLst/>
          </a:prstGeom>
        </p:spPr>
      </p:pic>
      <p:sp>
        <p:nvSpPr>
          <p:cNvPr id="28" name="AutoShape 28"/>
          <p:cNvSpPr/>
          <p:nvPr/>
        </p:nvSpPr>
        <p:spPr>
          <a:xfrm>
            <a:off x="8826500" y="2667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大型交易/核心系统</a:t>
            </a:r>
            <a:endParaRPr lang="en-US" sz="1100"/>
          </a:p>
        </p:txBody>
      </p:sp>
      <p:cxnSp>
        <p:nvCxnSpPr>
          <p:cNvPr id="29" name="Connector 29"/>
          <p:cNvCxnSpPr/>
          <p:nvPr/>
        </p:nvCxnSpPr>
        <p:spPr>
          <a:xfrm rot="-13222">
            <a:off x="8318512" y="3295650"/>
            <a:ext cx="3302000" cy="12700"/>
          </a:xfrm>
          <a:prstGeom prst="line">
            <a:avLst/>
          </a:prstGeom>
          <a:solidFill>
            <a:srgbClr val="DEE0E3">
              <a:alpha val="100000"/>
            </a:srgbClr>
          </a:solidFill>
          <a:ln w="12700" cap="flat" cmpd="sng">
            <a:solidFill>
              <a:srgbClr val="1E3A8A">
                <a:alpha val="30000"/>
              </a:srgbClr>
            </a:solidFill>
            <a:prstDash val="dash"/>
            <a:round/>
            <a:headEnd type="none" w="med" len="med"/>
            <a:tailEnd type="none" w="med" len="med"/>
          </a:ln>
        </p:spPr>
      </p:cxnSp>
      <p:sp>
        <p:nvSpPr>
          <p:cNvPr id="30" name="AutoShape 30"/>
          <p:cNvSpPr/>
          <p:nvPr/>
        </p:nvSpPr>
        <p:spPr>
          <a:xfrm>
            <a:off x="8318500" y="34925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关键业务故障分钟级损失极高，海量高频函数观测带来巨大的规模效应，显著降低系统长期的技术债务风险。</a:t>
            </a:r>
            <a:endParaRPr lang="en-US" sz="1100"/>
          </a:p>
        </p:txBody>
      </p:sp>
      <p:sp>
        <p:nvSpPr>
          <p:cNvPr id="31" name="AutoShape 31"/>
          <p:cNvSpPr/>
          <p:nvPr/>
        </p:nvSpPr>
        <p:spPr>
          <a:xfrm>
            <a:off x="8318500" y="45720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500W+</a:t>
            </a:r>
            <a:r>
              <a:rPr lang="en-US" sz="16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元/年</a:t>
            </a:r>
            <a:endParaRPr lang="en-US" sz="1100"/>
          </a:p>
        </p:txBody>
      </p:sp>
      <p:sp>
        <p:nvSpPr>
          <p:cNvPr id="32" name="AutoShape 32"/>
          <p:cNvSpPr/>
          <p:nvPr/>
        </p:nvSpPr>
        <p:spPr>
          <a:xfrm>
            <a:off x="8318500" y="5334000"/>
            <a:ext cx="3302000" cy="508000"/>
          </a:xfrm>
          <a:prstGeom prst="roundRect">
            <a:avLst>
              <a:gd name="adj" fmla="val 0"/>
            </a:avLst>
          </a:prstGeom>
          <a:solidFill>
            <a:srgbClr val="1E3A8A">
              <a:alpha val="1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8382000" y="5397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价值主要体现在止损，一个重大事故缩短1小时恢复即可覆盖全年投入。</a:t>
            </a:r>
            <a:endParaRPr lang="en-US" sz="1100"/>
          </a:p>
        </p:txBody>
      </p:sp>
      <p:cxnSp>
        <p:nvCxnSpPr>
          <p:cNvPr id="34" name="Connector 34"/>
          <p:cNvCxnSpPr/>
          <p:nvPr/>
        </p:nvCxnSpPr>
        <p:spPr>
          <a:xfrm rot="-3819">
            <a:off x="381004" y="6153150"/>
            <a:ext cx="11430000" cy="12700"/>
          </a:xfrm>
          <a:prstGeom prst="line">
            <a:avLst/>
          </a:prstGeom>
          <a:solidFill>
            <a:srgbClr val="DEE0E3">
              <a:alpha val="100000"/>
            </a:srgbClr>
          </a:solidFill>
          <a:ln w="12700" cap="flat" cmpd="sng">
            <a:solidFill>
              <a:srgbClr val="CBD5E1">
                <a:alpha val="50000"/>
              </a:srgbClr>
            </a:solidFill>
            <a:prstDash val="solid"/>
            <a:round/>
            <a:headEnd type="none" w="med" len="med"/>
            <a:tailEnd type="none" w="med" len="med"/>
          </a:ln>
        </p:spPr>
      </p:cxnSp>
      <p:sp>
        <p:nvSpPr>
          <p:cNvPr id="35" name="AutoShape 35"/>
          <p:cNvSpPr/>
          <p:nvPr/>
        </p:nvSpPr>
        <p:spPr>
          <a:xfrm>
            <a:off x="381000" y="6223000"/>
            <a:ext cx="1143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64748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注：以上测算基于标准商业企划模型与行业平均数据推演，实际收益受业务复杂度、流量规模及运维体系成熟度影响，建议在 POC 阶段使用企业真实运行数据进行精准验证。</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1A4B8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核心执行流程</a:t>
            </a:r>
            <a:endParaRPr lang="en-US" sz="1100"/>
          </a:p>
        </p:txBody>
      </p:sp>
      <p:sp>
        <p:nvSpPr>
          <p:cNvPr id="3" name="AutoShape 3"/>
          <p:cNvSpPr/>
          <p:nvPr/>
        </p:nvSpPr>
        <p:spPr>
          <a:xfrm>
            <a:off x="508000" y="1651000"/>
            <a:ext cx="508000" cy="508000"/>
          </a:xfrm>
          <a:prstGeom prst="ellipse">
            <a:avLst/>
          </a:prstGeom>
          <a:gradFill rotWithShape="1">
            <a:gsLst>
              <a:gs pos="0">
                <a:srgbClr val="3B82F6">
                  <a:alpha val="100000"/>
                </a:srgbClr>
              </a:gs>
              <a:gs pos="100000">
                <a:srgbClr val="10B981">
                  <a:alpha val="100000"/>
                </a:srgbClr>
              </a:gs>
            </a:gsLst>
            <a:lin ang="2700000"/>
          </a:gra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508000" y="1727200"/>
            <a:ext cx="508000" cy="3556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5" name="AutoShape 5"/>
          <p:cNvSpPr/>
          <p:nvPr/>
        </p:nvSpPr>
        <p:spPr>
          <a:xfrm>
            <a:off x="508000" y="2413000"/>
            <a:ext cx="14605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Attach 目标进程</a:t>
            </a:r>
            <a:endParaRPr lang="en-US" sz="1100"/>
          </a:p>
        </p:txBody>
      </p:sp>
      <p:sp>
        <p:nvSpPr>
          <p:cNvPr id="6" name="AutoShape 6"/>
          <p:cNvSpPr/>
          <p:nvPr/>
        </p:nvSpPr>
        <p:spPr>
          <a:xfrm>
            <a:off x="508000" y="3048000"/>
            <a:ext cx="1460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建立调试器与目标进程的通信连接，获取合法的进程操作句柄与系统权限。</a:t>
            </a:r>
            <a:endParaRPr lang="en-US" sz="1100"/>
          </a:p>
        </p:txBody>
      </p:sp>
      <p:cxnSp>
        <p:nvCxnSpPr>
          <p:cNvPr id="7" name="Connector 7"/>
          <p:cNvCxnSpPr/>
          <p:nvPr/>
        </p:nvCxnSpPr>
        <p:spPr>
          <a:xfrm rot="-342635">
            <a:off x="2032317" y="1898650"/>
            <a:ext cx="127000" cy="12700"/>
          </a:xfrm>
          <a:prstGeom prst="line">
            <a:avLst/>
          </a:prstGeom>
          <a:solidFill>
            <a:srgbClr val="DEE0E3">
              <a:alpha val="100000"/>
            </a:srgbClr>
          </a:solidFill>
          <a:ln w="25400" cap="flat" cmpd="sng">
            <a:solidFill>
              <a:srgbClr val="D1D5DB">
                <a:alpha val="100000"/>
              </a:srgbClr>
            </a:solidFill>
            <a:prstDash val="solid"/>
            <a:round/>
            <a:headEnd type="none" w="lg" len="lg"/>
            <a:tailEnd type="arrow" w="sm" len="sm"/>
          </a:ln>
        </p:spPr>
      </p:cxnSp>
      <p:sp>
        <p:nvSpPr>
          <p:cNvPr id="8" name="AutoShape 8"/>
          <p:cNvSpPr/>
          <p:nvPr/>
        </p:nvSpPr>
        <p:spPr>
          <a:xfrm>
            <a:off x="2222500" y="1651000"/>
            <a:ext cx="508000" cy="508000"/>
          </a:xfrm>
          <a:prstGeom prst="ellipse">
            <a:avLst/>
          </a:prstGeom>
          <a:gradFill rotWithShape="1">
            <a:gsLst>
              <a:gs pos="0">
                <a:srgbClr val="3B82F6">
                  <a:alpha val="100000"/>
                </a:srgbClr>
              </a:gs>
              <a:gs pos="100000">
                <a:srgbClr val="10B981">
                  <a:alpha val="100000"/>
                </a:srgbClr>
              </a:gs>
            </a:gsLst>
            <a:lin ang="2700000"/>
          </a:gra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2222500" y="1727200"/>
            <a:ext cx="508000" cy="3556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p:nvPr/>
        </p:nvSpPr>
        <p:spPr>
          <a:xfrm>
            <a:off x="2222500" y="2413000"/>
            <a:ext cx="14605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暂停所有线程</a:t>
            </a:r>
            <a:endParaRPr lang="en-US" sz="1100"/>
          </a:p>
        </p:txBody>
      </p:sp>
      <p:sp>
        <p:nvSpPr>
          <p:cNvPr id="11" name="AutoShape 11"/>
          <p:cNvSpPr/>
          <p:nvPr/>
        </p:nvSpPr>
        <p:spPr>
          <a:xfrm>
            <a:off x="2222500" y="3048000"/>
            <a:ext cx="1460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冻结进程内所有执行线程，防止指令流动态变化，确保内存状态稳定可控。</a:t>
            </a:r>
            <a:endParaRPr lang="en-US" sz="1100"/>
          </a:p>
        </p:txBody>
      </p:sp>
      <p:cxnSp>
        <p:nvCxnSpPr>
          <p:cNvPr id="12" name="Connector 12"/>
          <p:cNvCxnSpPr/>
          <p:nvPr/>
        </p:nvCxnSpPr>
        <p:spPr>
          <a:xfrm rot="-342635">
            <a:off x="3746817" y="1898650"/>
            <a:ext cx="127000" cy="12700"/>
          </a:xfrm>
          <a:prstGeom prst="line">
            <a:avLst/>
          </a:prstGeom>
          <a:solidFill>
            <a:srgbClr val="DEE0E3">
              <a:alpha val="100000"/>
            </a:srgbClr>
          </a:solidFill>
          <a:ln w="25400" cap="flat" cmpd="sng">
            <a:solidFill>
              <a:srgbClr val="D1D5DB">
                <a:alpha val="100000"/>
              </a:srgbClr>
            </a:solidFill>
            <a:prstDash val="solid"/>
            <a:round/>
            <a:headEnd type="none" w="lg" len="lg"/>
            <a:tailEnd type="arrow" w="sm" len="sm"/>
          </a:ln>
        </p:spPr>
      </p:cxnSp>
      <p:sp>
        <p:nvSpPr>
          <p:cNvPr id="13" name="AutoShape 13"/>
          <p:cNvSpPr/>
          <p:nvPr/>
        </p:nvSpPr>
        <p:spPr>
          <a:xfrm>
            <a:off x="3937000" y="1651000"/>
            <a:ext cx="508000" cy="508000"/>
          </a:xfrm>
          <a:prstGeom prst="ellipse">
            <a:avLst/>
          </a:prstGeom>
          <a:gradFill rotWithShape="1">
            <a:gsLst>
              <a:gs pos="0">
                <a:srgbClr val="3B82F6">
                  <a:alpha val="100000"/>
                </a:srgbClr>
              </a:gs>
              <a:gs pos="100000">
                <a:srgbClr val="10B981">
                  <a:alpha val="100000"/>
                </a:srgbClr>
              </a:gs>
            </a:gsLst>
            <a:lin ang="2700000"/>
          </a:gra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3937000" y="1727200"/>
            <a:ext cx="508000" cy="3556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p:nvPr/>
        </p:nvSpPr>
        <p:spPr>
          <a:xfrm>
            <a:off x="3937000" y="2413000"/>
            <a:ext cx="14605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解析符号地址</a:t>
            </a:r>
            <a:endParaRPr lang="en-US" sz="1100"/>
          </a:p>
        </p:txBody>
      </p:sp>
      <p:sp>
        <p:nvSpPr>
          <p:cNvPr id="16" name="AutoShape 16"/>
          <p:cNvSpPr/>
          <p:nvPr/>
        </p:nvSpPr>
        <p:spPr>
          <a:xfrm>
            <a:off x="3937000" y="3048000"/>
            <a:ext cx="1460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遍历进程加载的动态库模块，映射导出表与符号名，定位目标函数内存地址。</a:t>
            </a:r>
            <a:endParaRPr lang="en-US" sz="1100"/>
          </a:p>
        </p:txBody>
      </p:sp>
      <p:cxnSp>
        <p:nvCxnSpPr>
          <p:cNvPr id="17" name="Connector 17"/>
          <p:cNvCxnSpPr/>
          <p:nvPr/>
        </p:nvCxnSpPr>
        <p:spPr>
          <a:xfrm rot="-342635">
            <a:off x="5461317" y="1898650"/>
            <a:ext cx="127000" cy="12700"/>
          </a:xfrm>
          <a:prstGeom prst="line">
            <a:avLst/>
          </a:prstGeom>
          <a:solidFill>
            <a:srgbClr val="DEE0E3">
              <a:alpha val="100000"/>
            </a:srgbClr>
          </a:solidFill>
          <a:ln w="25400" cap="flat" cmpd="sng">
            <a:solidFill>
              <a:srgbClr val="D1D5DB">
                <a:alpha val="100000"/>
              </a:srgbClr>
            </a:solidFill>
            <a:prstDash val="solid"/>
            <a:round/>
            <a:headEnd type="none" w="lg" len="lg"/>
            <a:tailEnd type="arrow" w="sm" len="sm"/>
          </a:ln>
        </p:spPr>
      </p:cxnSp>
      <p:sp>
        <p:nvSpPr>
          <p:cNvPr id="18" name="AutoShape 18"/>
          <p:cNvSpPr/>
          <p:nvPr/>
        </p:nvSpPr>
        <p:spPr>
          <a:xfrm>
            <a:off x="5651500" y="1651000"/>
            <a:ext cx="508000" cy="508000"/>
          </a:xfrm>
          <a:prstGeom prst="ellipse">
            <a:avLst/>
          </a:prstGeom>
          <a:gradFill rotWithShape="1">
            <a:gsLst>
              <a:gs pos="0">
                <a:srgbClr val="3B82F6">
                  <a:alpha val="100000"/>
                </a:srgbClr>
              </a:gs>
              <a:gs pos="100000">
                <a:srgbClr val="10B981">
                  <a:alpha val="100000"/>
                </a:srgbClr>
              </a:gs>
            </a:gsLst>
            <a:lin ang="2700000"/>
          </a:gra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5651500" y="1727200"/>
            <a:ext cx="508000" cy="3556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0" name="AutoShape 20"/>
          <p:cNvSpPr/>
          <p:nvPr/>
        </p:nvSpPr>
        <p:spPr>
          <a:xfrm>
            <a:off x="5651500" y="2413000"/>
            <a:ext cx="14605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注入代理逻辑</a:t>
            </a:r>
            <a:endParaRPr lang="en-US" sz="1100"/>
          </a:p>
        </p:txBody>
      </p:sp>
      <p:sp>
        <p:nvSpPr>
          <p:cNvPr id="21" name="AutoShape 21"/>
          <p:cNvSpPr/>
          <p:nvPr/>
        </p:nvSpPr>
        <p:spPr>
          <a:xfrm>
            <a:off x="5651500" y="3048000"/>
            <a:ext cx="1460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在进程空间植入Trampoline跳板代码、Stub桩函数及环形事件缓冲区。</a:t>
            </a:r>
            <a:endParaRPr lang="en-US" sz="1100"/>
          </a:p>
        </p:txBody>
      </p:sp>
      <p:cxnSp>
        <p:nvCxnSpPr>
          <p:cNvPr id="22" name="Connector 22"/>
          <p:cNvCxnSpPr/>
          <p:nvPr/>
        </p:nvCxnSpPr>
        <p:spPr>
          <a:xfrm rot="-342635">
            <a:off x="7175817" y="1898650"/>
            <a:ext cx="127000" cy="12700"/>
          </a:xfrm>
          <a:prstGeom prst="line">
            <a:avLst/>
          </a:prstGeom>
          <a:solidFill>
            <a:srgbClr val="DEE0E3">
              <a:alpha val="100000"/>
            </a:srgbClr>
          </a:solidFill>
          <a:ln w="25400" cap="flat" cmpd="sng">
            <a:solidFill>
              <a:srgbClr val="D1D5DB">
                <a:alpha val="100000"/>
              </a:srgbClr>
            </a:solidFill>
            <a:prstDash val="solid"/>
            <a:round/>
            <a:headEnd type="none" w="lg" len="lg"/>
            <a:tailEnd type="arrow" w="sm" len="sm"/>
          </a:ln>
        </p:spPr>
      </p:cxnSp>
      <p:sp>
        <p:nvSpPr>
          <p:cNvPr id="23" name="AutoShape 23"/>
          <p:cNvSpPr/>
          <p:nvPr/>
        </p:nvSpPr>
        <p:spPr>
          <a:xfrm>
            <a:off x="7366000" y="1651000"/>
            <a:ext cx="508000" cy="508000"/>
          </a:xfrm>
          <a:prstGeom prst="ellipse">
            <a:avLst/>
          </a:prstGeom>
          <a:gradFill rotWithShape="1">
            <a:gsLst>
              <a:gs pos="0">
                <a:srgbClr val="3B82F6">
                  <a:alpha val="100000"/>
                </a:srgbClr>
              </a:gs>
              <a:gs pos="100000">
                <a:srgbClr val="10B981">
                  <a:alpha val="100000"/>
                </a:srgbClr>
              </a:gs>
            </a:gsLst>
            <a:lin ang="2700000"/>
          </a:gra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4" name="AutoShape 24"/>
          <p:cNvSpPr/>
          <p:nvPr/>
        </p:nvSpPr>
        <p:spPr>
          <a:xfrm>
            <a:off x="7366000" y="1727200"/>
            <a:ext cx="508000" cy="3556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5" name="AutoShape 25"/>
          <p:cNvSpPr/>
          <p:nvPr/>
        </p:nvSpPr>
        <p:spPr>
          <a:xfrm>
            <a:off x="7366000" y="2413000"/>
            <a:ext cx="14605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Patch 函数入口</a:t>
            </a:r>
            <a:endParaRPr lang="en-US" sz="1100"/>
          </a:p>
        </p:txBody>
      </p:sp>
      <p:sp>
        <p:nvSpPr>
          <p:cNvPr id="26" name="AutoShape 26"/>
          <p:cNvSpPr/>
          <p:nvPr/>
        </p:nvSpPr>
        <p:spPr>
          <a:xfrm>
            <a:off x="7366000" y="3048000"/>
            <a:ext cx="1460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修改目标函数首条指令为跳转指令，将执行流导向注入的Trampoline代码。</a:t>
            </a:r>
            <a:endParaRPr lang="en-US" sz="1100"/>
          </a:p>
        </p:txBody>
      </p:sp>
      <p:cxnSp>
        <p:nvCxnSpPr>
          <p:cNvPr id="27" name="Connector 27"/>
          <p:cNvCxnSpPr/>
          <p:nvPr/>
        </p:nvCxnSpPr>
        <p:spPr>
          <a:xfrm rot="-342635">
            <a:off x="8890317" y="1898650"/>
            <a:ext cx="127000" cy="12700"/>
          </a:xfrm>
          <a:prstGeom prst="line">
            <a:avLst/>
          </a:prstGeom>
          <a:solidFill>
            <a:srgbClr val="DEE0E3">
              <a:alpha val="100000"/>
            </a:srgbClr>
          </a:solidFill>
          <a:ln w="25400" cap="flat" cmpd="sng">
            <a:solidFill>
              <a:srgbClr val="D1D5DB">
                <a:alpha val="100000"/>
              </a:srgbClr>
            </a:solidFill>
            <a:prstDash val="solid"/>
            <a:round/>
            <a:headEnd type="none" w="lg" len="lg"/>
            <a:tailEnd type="arrow" w="sm" len="sm"/>
          </a:ln>
        </p:spPr>
      </p:cxnSp>
      <p:sp>
        <p:nvSpPr>
          <p:cNvPr id="28" name="AutoShape 28"/>
          <p:cNvSpPr/>
          <p:nvPr/>
        </p:nvSpPr>
        <p:spPr>
          <a:xfrm>
            <a:off x="9080500" y="1651000"/>
            <a:ext cx="508000" cy="508000"/>
          </a:xfrm>
          <a:prstGeom prst="ellipse">
            <a:avLst/>
          </a:prstGeom>
          <a:gradFill rotWithShape="1">
            <a:gsLst>
              <a:gs pos="0">
                <a:srgbClr val="3B82F6">
                  <a:alpha val="100000"/>
                </a:srgbClr>
              </a:gs>
              <a:gs pos="100000">
                <a:srgbClr val="10B981">
                  <a:alpha val="100000"/>
                </a:srgbClr>
              </a:gs>
            </a:gsLst>
            <a:lin ang="2700000"/>
          </a:gra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9" name="AutoShape 29"/>
          <p:cNvSpPr/>
          <p:nvPr/>
        </p:nvSpPr>
        <p:spPr>
          <a:xfrm>
            <a:off x="9080500" y="1727200"/>
            <a:ext cx="508000" cy="3556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30" name="AutoShape 30"/>
          <p:cNvSpPr/>
          <p:nvPr/>
        </p:nvSpPr>
        <p:spPr>
          <a:xfrm>
            <a:off x="9080500" y="2413000"/>
            <a:ext cx="14605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运行时事件采集</a:t>
            </a:r>
            <a:endParaRPr lang="en-US" sz="1100"/>
          </a:p>
        </p:txBody>
      </p:sp>
      <p:sp>
        <p:nvSpPr>
          <p:cNvPr id="31" name="AutoShape 31"/>
          <p:cNvSpPr/>
          <p:nvPr/>
        </p:nvSpPr>
        <p:spPr>
          <a:xfrm>
            <a:off x="9080500" y="3048000"/>
            <a:ext cx="1460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捕获函数入参、返回值及寄存器上下文，异步写入Event Buffer进行缓冲。</a:t>
            </a:r>
            <a:endParaRPr lang="en-US" sz="1100"/>
          </a:p>
        </p:txBody>
      </p:sp>
      <p:cxnSp>
        <p:nvCxnSpPr>
          <p:cNvPr id="32" name="Connector 32"/>
          <p:cNvCxnSpPr/>
          <p:nvPr/>
        </p:nvCxnSpPr>
        <p:spPr>
          <a:xfrm rot="-342635">
            <a:off x="10604817" y="1898650"/>
            <a:ext cx="127000" cy="12700"/>
          </a:xfrm>
          <a:prstGeom prst="line">
            <a:avLst/>
          </a:prstGeom>
          <a:solidFill>
            <a:srgbClr val="DEE0E3">
              <a:alpha val="100000"/>
            </a:srgbClr>
          </a:solidFill>
          <a:ln w="25400" cap="flat" cmpd="sng">
            <a:solidFill>
              <a:srgbClr val="D1D5DB">
                <a:alpha val="100000"/>
              </a:srgbClr>
            </a:solidFill>
            <a:prstDash val="solid"/>
            <a:round/>
            <a:headEnd type="none" w="lg" len="lg"/>
            <a:tailEnd type="arrow" w="sm" len="sm"/>
          </a:ln>
        </p:spPr>
      </p:cxnSp>
      <p:sp>
        <p:nvSpPr>
          <p:cNvPr id="33" name="AutoShape 33"/>
          <p:cNvSpPr/>
          <p:nvPr/>
        </p:nvSpPr>
        <p:spPr>
          <a:xfrm>
            <a:off x="10769600" y="1651000"/>
            <a:ext cx="508000" cy="508000"/>
          </a:xfrm>
          <a:prstGeom prst="ellipse">
            <a:avLst/>
          </a:prstGeom>
          <a:gradFill rotWithShape="1">
            <a:gsLst>
              <a:gs pos="0">
                <a:srgbClr val="3B82F6">
                  <a:alpha val="100000"/>
                </a:srgbClr>
              </a:gs>
              <a:gs pos="100000">
                <a:srgbClr val="10B981">
                  <a:alpha val="100000"/>
                </a:srgbClr>
              </a:gs>
            </a:gsLst>
            <a:lin ang="2700000"/>
          </a:gra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4" name="AutoShape 34"/>
          <p:cNvSpPr/>
          <p:nvPr/>
        </p:nvSpPr>
        <p:spPr>
          <a:xfrm>
            <a:off x="10769600" y="1727200"/>
            <a:ext cx="508000" cy="3556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35" name="AutoShape 35"/>
          <p:cNvSpPr/>
          <p:nvPr/>
        </p:nvSpPr>
        <p:spPr>
          <a:xfrm>
            <a:off x="10731500" y="2413000"/>
            <a:ext cx="13335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Detach 恢复</a:t>
            </a:r>
            <a:endParaRPr lang="en-US" sz="1100"/>
          </a:p>
        </p:txBody>
      </p:sp>
      <p:sp>
        <p:nvSpPr>
          <p:cNvPr id="36" name="AutoShape 36"/>
          <p:cNvSpPr/>
          <p:nvPr/>
        </p:nvSpPr>
        <p:spPr>
          <a:xfrm>
            <a:off x="10731500" y="3048000"/>
            <a:ext cx="1333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移除Hook点，恢复原始指令，解除调试状态，让进程回归正常运行。</a:t>
            </a:r>
            <a:endParaRPr lang="en-US" sz="1100"/>
          </a:p>
        </p:txBody>
      </p:sp>
      <p:cxnSp>
        <p:nvCxnSpPr>
          <p:cNvPr id="37" name="Connector 37"/>
          <p:cNvCxnSpPr/>
          <p:nvPr/>
        </p:nvCxnSpPr>
        <p:spPr>
          <a:xfrm rot="-3906">
            <a:off x="508004" y="4692650"/>
            <a:ext cx="11176000" cy="12700"/>
          </a:xfrm>
          <a:prstGeom prst="line">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8" name="AutoShape 38"/>
          <p:cNvSpPr/>
          <p:nvPr/>
        </p:nvSpPr>
        <p:spPr>
          <a:xfrm>
            <a:off x="508000" y="5080000"/>
            <a:ext cx="3556000" cy="1397000"/>
          </a:xfrm>
          <a:prstGeom prst="roundRect">
            <a:avLst>
              <a:gd name="adj" fmla="val 0"/>
            </a:avLst>
          </a:prstGeom>
          <a:solidFill>
            <a:srgbClr val="3B82F6">
              <a:alpha val="8000"/>
            </a:srgbClr>
          </a:solidFill>
          <a:ln w="12700" cap="flat" cmpd="sng">
            <a:solidFill>
              <a:srgbClr val="3B82F6">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9" name="AutoShape 39"/>
          <p:cNvSpPr/>
          <p:nvPr/>
        </p:nvSpPr>
        <p:spPr>
          <a:xfrm>
            <a:off x="508000" y="5080000"/>
            <a:ext cx="76200" cy="1397000"/>
          </a:xfrm>
          <a:prstGeom prst="roundRect">
            <a:avLst>
              <a:gd name="adj" fmla="val 0"/>
            </a:avLst>
          </a:prstGeom>
          <a:solidFill>
            <a:srgbClr val="3B82F6">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0" name="AutoShape 40"/>
          <p:cNvSpPr/>
          <p:nvPr/>
        </p:nvSpPr>
        <p:spPr>
          <a:xfrm>
            <a:off x="698500" y="5207000"/>
            <a:ext cx="3238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冷路径 · 安装控制</a:t>
            </a:r>
            <a:endParaRPr lang="en-US" sz="1100"/>
          </a:p>
          <a:p>
            <a:pPr marL="0"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负责系统初始化、Hook安装、符号解析与Trampoline注入，仅在进程启动或模块加载时执行，属于一次性开销，不影响运行时性能。</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1" name="AutoShape 41"/>
          <p:cNvSpPr/>
          <p:nvPr/>
        </p:nvSpPr>
        <p:spPr>
          <a:xfrm>
            <a:off x="4318000" y="5080000"/>
            <a:ext cx="3556000" cy="1397000"/>
          </a:xfrm>
          <a:prstGeom prst="roundRect">
            <a:avLst>
              <a:gd name="adj" fmla="val 0"/>
            </a:avLst>
          </a:prstGeom>
          <a:solidFill>
            <a:srgbClr val="10B981">
              <a:alpha val="8000"/>
            </a:srgbClr>
          </a:solidFill>
          <a:ln w="12700" cap="flat" cmpd="sng">
            <a:solidFill>
              <a:srgbClr val="10B981">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2" name="AutoShape 42"/>
          <p:cNvSpPr/>
          <p:nvPr/>
        </p:nvSpPr>
        <p:spPr>
          <a:xfrm>
            <a:off x="4318000" y="5080000"/>
            <a:ext cx="76200" cy="13970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3" name="AutoShape 43"/>
          <p:cNvSpPr/>
          <p:nvPr/>
        </p:nvSpPr>
        <p:spPr>
          <a:xfrm>
            <a:off x="4508500" y="5207000"/>
            <a:ext cx="3238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6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热路径 · 用户态执行</a:t>
            </a:r>
            <a:endParaRPr lang="en-US" sz="1100"/>
          </a:p>
          <a:p>
            <a:pPr marL="0"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核心业务逻辑的执行链路，通过Trampoline进行轻量级跳转，在纳秒级完成上下文捕获与恢复，将对核心业务的性能损耗降至最低。</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44"/>
          <p:cNvSpPr/>
          <p:nvPr/>
        </p:nvSpPr>
        <p:spPr>
          <a:xfrm>
            <a:off x="8128000" y="5080000"/>
            <a:ext cx="3556000" cy="1397000"/>
          </a:xfrm>
          <a:prstGeom prst="roundRect">
            <a:avLst>
              <a:gd name="adj" fmla="val 0"/>
            </a:avLst>
          </a:prstGeom>
          <a:solidFill>
            <a:srgbClr val="F59E0B">
              <a:alpha val="8000"/>
            </a:srgbClr>
          </a:solidFill>
          <a:ln w="12700" cap="flat" cmpd="sng">
            <a:solidFill>
              <a:srgbClr val="F59E0B">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5" name="AutoShape 45"/>
          <p:cNvSpPr/>
          <p:nvPr/>
        </p:nvSpPr>
        <p:spPr>
          <a:xfrm>
            <a:off x="8128000" y="5080000"/>
            <a:ext cx="76200" cy="1397000"/>
          </a:xfrm>
          <a:prstGeom prst="roundRect">
            <a:avLst>
              <a:gd name="adj" fmla="val 0"/>
            </a:avLst>
          </a:prstGeom>
          <a:solidFill>
            <a:srgbClr val="F59E0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6" name="AutoShape 46"/>
          <p:cNvSpPr/>
          <p:nvPr/>
        </p:nvSpPr>
        <p:spPr>
          <a:xfrm>
            <a:off x="8318500" y="5207000"/>
            <a:ext cx="32385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6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事件路径 · 数据消费</a:t>
            </a:r>
            <a:endParaRPr lang="en-US" sz="1100"/>
          </a:p>
          <a:p>
            <a:pPr marL="0" indent="0" algn="l">
              <a:lnSpc>
                <a:spcPct val="108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独立于业务主线程的异步处理通道，负责从Event Buffer中读取、过滤、聚合采集到的事件数据并上报，避免阻塞或延迟核心业务流程。</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CLI 功能设计</a:t>
            </a:r>
            <a:endParaRPr lang="en-US" sz="1100"/>
          </a:p>
        </p:txBody>
      </p:sp>
      <p:cxnSp>
        <p:nvCxnSpPr>
          <p:cNvPr id="3" name="Connector 3"/>
          <p:cNvCxnSpPr/>
          <p:nvPr/>
        </p:nvCxnSpPr>
        <p:spPr>
          <a:xfrm rot="-3906">
            <a:off x="508004" y="1136650"/>
            <a:ext cx="11176000" cy="12700"/>
          </a:xfrm>
          <a:prstGeom prst="straightConnector1">
            <a:avLst/>
          </a:prstGeom>
          <a:solidFill>
            <a:srgbClr val="DEE0E3">
              <a:alpha val="100000"/>
            </a:srgbClr>
          </a:solidFill>
          <a:ln w="12700" cap="flat" cmpd="sng">
            <a:solidFill>
              <a:srgbClr val="1E3A8A">
                <a:alpha val="20000"/>
              </a:srgbClr>
            </a:solidFill>
            <a:prstDash val="solid"/>
            <a:round/>
            <a:headEnd type="none" w="med" len="med"/>
            <a:tailEnd type="none" w="med" len="med"/>
          </a:ln>
        </p:spPr>
      </p:cxnSp>
      <p:sp>
        <p:nvSpPr>
          <p:cNvPr id="4" name="AutoShape 4"/>
          <p:cNvSpPr/>
          <p:nvPr/>
        </p:nvSpPr>
        <p:spPr>
          <a:xfrm>
            <a:off x="508000" y="1651000"/>
            <a:ext cx="5588000" cy="4445000"/>
          </a:xfrm>
          <a:prstGeom prst="roundRect">
            <a:avLst>
              <a:gd name="adj" fmla="val 0"/>
            </a:avLst>
          </a:prstGeom>
          <a:solidFill>
            <a:srgbClr val="FFFFFF">
              <a:alpha val="100000"/>
            </a:srgbClr>
          </a:solidFill>
          <a:ln w="25400" cap="flat" cmpd="sng">
            <a:solidFill>
              <a:srgbClr val="93C5FD">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508000" y="1651000"/>
            <a:ext cx="5588000" cy="571500"/>
          </a:xfrm>
          <a:prstGeom prst="roundRect">
            <a:avLst>
              <a:gd name="adj" fmla="val 0"/>
            </a:avLst>
          </a:prstGeom>
          <a:solidFill>
            <a:srgbClr val="DBEAFE">
              <a:alpha val="6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698500" y="1816100"/>
            <a:ext cx="203200" cy="203200"/>
          </a:xfrm>
          <a:prstGeom prst="ellipse">
            <a:avLst/>
          </a:prstGeom>
          <a:solidFill>
            <a:srgbClr val="EF4444">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1016000" y="1816100"/>
            <a:ext cx="203200" cy="203200"/>
          </a:xfrm>
          <a:prstGeom prst="ellipse">
            <a:avLst/>
          </a:prstGeom>
          <a:solidFill>
            <a:srgbClr val="F59E0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1333500" y="1816100"/>
            <a:ext cx="203200" cy="203200"/>
          </a:xfrm>
          <a:prstGeom prst="ellipse">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1905000" y="1752600"/>
            <a:ext cx="3556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0" i="0" u="none" strike="noStrike">
                <a:solidFill>
                  <a:srgbClr val="374151"/>
                </a:solidFill>
                <a:latin typeface="Source Code Pro"/>
                <a:ea typeface="Source Code Pro"/>
                <a:cs typeface="Source Code Pro"/>
                <a:sym typeface="Source Code Pro"/>
              </a:rPr>
              <a:t>lightprobe@linux:~</a:t>
            </a:r>
            <a:endParaRPr lang="en-US" sz="1100"/>
          </a:p>
        </p:txBody>
      </p:sp>
      <p:cxnSp>
        <p:nvCxnSpPr>
          <p:cNvPr id="10" name="Connector 10"/>
          <p:cNvCxnSpPr/>
          <p:nvPr/>
        </p:nvCxnSpPr>
        <p:spPr>
          <a:xfrm rot="-7812">
            <a:off x="508007" y="2216150"/>
            <a:ext cx="558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1" name="AutoShape 11"/>
          <p:cNvSpPr/>
          <p:nvPr/>
        </p:nvSpPr>
        <p:spPr>
          <a:xfrm>
            <a:off x="635000" y="2540000"/>
            <a:ext cx="2603500" cy="9525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698500" y="2603500"/>
            <a:ext cx="2476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300" b="0" i="0" u="none" strike="noStrike">
                <a:solidFill>
                  <a:srgbClr val="1E3A8A"/>
                </a:solidFill>
                <a:latin typeface="Source Code Pro"/>
                <a:ea typeface="Source Code Pro"/>
                <a:cs typeface="Source Code Pro"/>
                <a:sym typeface="Source Code Pro"/>
              </a:rPr>
              <a:t>$ lightprobe attach</a:t>
            </a:r>
            <a:endParaRPr lang="en-US" sz="1100"/>
          </a:p>
          <a:p>
            <a:pPr marL="0" indent="0" algn="l">
              <a:lnSpc>
                <a:spcPct val="100000"/>
              </a:lnSpc>
            </a:pPr>
            <a:r>
              <a:rPr lang="en-US" sz="1200" b="0" i="0" u="none" strike="noStrike">
                <a:solidFill>
                  <a:srgbClr val="F59E0B"/>
                </a:solidFill>
                <a:latin typeface="Source Code Pro"/>
                <a:ea typeface="Source Code Pro"/>
                <a:cs typeface="Source Code Pro"/>
                <a:sym typeface="Source Code Pro"/>
              </a:rPr>
              <a:t>--pid 1234 --debug</a:t>
            </a:r>
            <a:endParaRPr lang="en-US" sz="1200" b="0" i="0" u="none" strike="noStrike">
              <a:solidFill>
                <a:srgbClr val="F59E0B"/>
              </a:solidFill>
              <a:latin typeface="Source Code Pro"/>
              <a:ea typeface="Source Code Pro"/>
              <a:cs typeface="Source Code Pro"/>
              <a:sym typeface="Source Code Pro"/>
            </a:endParaRPr>
          </a:p>
          <a:p>
            <a:pPr marL="0" indent="0" algn="l">
              <a:lnSpc>
                <a:spcPct val="100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动态挂载目标进程，启用调试日志输出</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35000" y="3810000"/>
            <a:ext cx="2603500" cy="9525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698500" y="3873500"/>
            <a:ext cx="2476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300" b="0" i="0" u="none" strike="noStrike">
                <a:solidFill>
                  <a:srgbClr val="1E3A8A"/>
                </a:solidFill>
                <a:latin typeface="Source Code Pro"/>
                <a:ea typeface="Source Code Pro"/>
                <a:cs typeface="Source Code Pro"/>
                <a:sym typeface="Source Code Pro"/>
              </a:rPr>
              <a:t>$ lightprobe enable</a:t>
            </a:r>
            <a:endParaRPr lang="en-US" sz="1100"/>
          </a:p>
          <a:p>
            <a:pPr marL="0" indent="0" algn="l">
              <a:lnSpc>
                <a:spcPct val="100000"/>
              </a:lnSpc>
            </a:pPr>
            <a:r>
              <a:rPr lang="en-US" sz="1200" b="0" i="0" u="none" strike="noStrike">
                <a:solidFill>
                  <a:srgbClr val="F59E0B"/>
                </a:solidFill>
                <a:latin typeface="Source Code Pro"/>
                <a:ea typeface="Source Code Pro"/>
                <a:cs typeface="Source Code Pro"/>
                <a:sym typeface="Source Code Pro"/>
              </a:rPr>
              <a:t>malloc strlen -v</a:t>
            </a:r>
            <a:endParaRPr lang="en-US" sz="1200" b="0" i="0" u="none" strike="noStrike">
              <a:solidFill>
                <a:srgbClr val="F59E0B"/>
              </a:solidFill>
              <a:latin typeface="Source Code Pro"/>
              <a:ea typeface="Source Code Pro"/>
              <a:cs typeface="Source Code Pro"/>
              <a:sym typeface="Source Code Pro"/>
            </a:endParaRPr>
          </a:p>
          <a:p>
            <a:pPr marL="0" indent="0" algn="l">
              <a:lnSpc>
                <a:spcPct val="100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启用指定系统调用探针，输出详细参数值</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35000" y="5080000"/>
            <a:ext cx="2603500" cy="9525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698500" y="5143500"/>
            <a:ext cx="2476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300" b="0" i="0" u="none" strike="noStrike">
                <a:solidFill>
                  <a:srgbClr val="1E3A8A"/>
                </a:solidFill>
                <a:latin typeface="Source Code Pro"/>
                <a:ea typeface="Source Code Pro"/>
                <a:cs typeface="Source Code Pro"/>
                <a:sym typeface="Source Code Pro"/>
              </a:rPr>
              <a:t>$ lightprobe events</a:t>
            </a:r>
            <a:endParaRPr lang="en-US" sz="1100"/>
          </a:p>
          <a:p>
            <a:pPr marL="0" indent="0" algn="l">
              <a:lnSpc>
                <a:spcPct val="100000"/>
              </a:lnSpc>
            </a:pPr>
            <a:r>
              <a:rPr lang="en-US" sz="1200" b="0" i="0" u="none" strike="noStrike">
                <a:solidFill>
                  <a:srgbClr val="F59E0B"/>
                </a:solidFill>
                <a:latin typeface="Source Code Pro"/>
                <a:ea typeface="Source Code Pro"/>
                <a:cs typeface="Source Code Pro"/>
                <a:sym typeface="Source Code Pro"/>
              </a:rPr>
              <a:t>--format json -l 100</a:t>
            </a:r>
            <a:endParaRPr lang="en-US" sz="1200" b="0" i="0" u="none" strike="noStrike">
              <a:solidFill>
                <a:srgbClr val="F59E0B"/>
              </a:solidFill>
              <a:latin typeface="Source Code Pro"/>
              <a:ea typeface="Source Code Pro"/>
              <a:cs typeface="Source Code Pro"/>
              <a:sym typeface="Source Code Pro"/>
            </a:endParaRPr>
          </a:p>
          <a:p>
            <a:pPr marL="0" indent="0" algn="l">
              <a:lnSpc>
                <a:spcPct val="100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以JSON格式实时拉取最近100条探针事件流</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3365500" y="2540000"/>
            <a:ext cx="2603500" cy="9525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3429000" y="2603500"/>
            <a:ext cx="2476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300" b="0" i="0" u="none" strike="noStrike">
                <a:solidFill>
                  <a:srgbClr val="1E3A8A"/>
                </a:solidFill>
                <a:latin typeface="Source Code Pro"/>
                <a:ea typeface="Source Code Pro"/>
                <a:cs typeface="Source Code Pro"/>
                <a:sym typeface="Source Code Pro"/>
              </a:rPr>
              <a:t>$ lightprobe detach</a:t>
            </a:r>
            <a:endParaRPr lang="en-US" sz="1100"/>
          </a:p>
          <a:p>
            <a:pPr marL="0" indent="0" algn="l">
              <a:lnSpc>
                <a:spcPct val="100000"/>
              </a:lnSpc>
            </a:pPr>
            <a:r>
              <a:rPr lang="en-US" sz="1200" b="0" i="0" u="none" strike="noStrike">
                <a:solidFill>
                  <a:srgbClr val="F59E0B"/>
                </a:solidFill>
                <a:latin typeface="Source Code Pro"/>
                <a:ea typeface="Source Code Pro"/>
                <a:cs typeface="Source Code Pro"/>
                <a:sym typeface="Source Code Pro"/>
              </a:rPr>
              <a:t>--pid 1234 --cleanup</a:t>
            </a:r>
            <a:endParaRPr lang="en-US" sz="1200" b="0" i="0" u="none" strike="noStrike">
              <a:solidFill>
                <a:srgbClr val="F59E0B"/>
              </a:solidFill>
              <a:latin typeface="Source Code Pro"/>
              <a:ea typeface="Source Code Pro"/>
              <a:cs typeface="Source Code Pro"/>
              <a:sym typeface="Source Code Pro"/>
            </a:endParaRPr>
          </a:p>
          <a:p>
            <a:pPr marL="0" indent="0" algn="l">
              <a:lnSpc>
                <a:spcPct val="100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安全卸载探针，清理注入点，恢复原指令</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3365500" y="3810000"/>
            <a:ext cx="2603500" cy="9525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0" name="AutoShape 20"/>
          <p:cNvSpPr/>
          <p:nvPr/>
        </p:nvSpPr>
        <p:spPr>
          <a:xfrm>
            <a:off x="3429000" y="3873500"/>
            <a:ext cx="2476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300" b="0" i="0" u="none" strike="noStrike">
                <a:solidFill>
                  <a:srgbClr val="1E3A8A"/>
                </a:solidFill>
                <a:latin typeface="Source Code Pro"/>
                <a:ea typeface="Source Code Pro"/>
                <a:cs typeface="Source Code Pro"/>
                <a:sym typeface="Source Code Pro"/>
              </a:rPr>
              <a:t>$ lightprobe disable</a:t>
            </a:r>
            <a:endParaRPr lang="en-US" sz="1100"/>
          </a:p>
          <a:p>
            <a:pPr marL="0" indent="0" algn="l">
              <a:lnSpc>
                <a:spcPct val="100000"/>
              </a:lnSpc>
            </a:pPr>
            <a:r>
              <a:rPr lang="en-US" sz="1200" b="0" i="0" u="none" strike="noStrike">
                <a:solidFill>
                  <a:srgbClr val="F59E0B"/>
                </a:solidFill>
                <a:latin typeface="Source Code Pro"/>
                <a:ea typeface="Source Code Pro"/>
                <a:cs typeface="Source Code Pro"/>
                <a:sym typeface="Source Code Pro"/>
              </a:rPr>
              <a:t>free -g system</a:t>
            </a:r>
            <a:endParaRPr lang="en-US" sz="1200" b="0" i="0" u="none" strike="noStrike">
              <a:solidFill>
                <a:srgbClr val="F59E0B"/>
              </a:solidFill>
              <a:latin typeface="Source Code Pro"/>
              <a:ea typeface="Source Code Pro"/>
              <a:cs typeface="Source Code Pro"/>
              <a:sym typeface="Source Code Pro"/>
            </a:endParaRPr>
          </a:p>
          <a:p>
            <a:pPr marL="0" indent="0" algn="l">
              <a:lnSpc>
                <a:spcPct val="100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按组或名称禁用探针，支持全局静默模式</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3365500" y="5080000"/>
            <a:ext cx="2603500" cy="9525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3429000" y="5143500"/>
            <a:ext cx="2476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300" b="0" i="0" u="none" strike="noStrike">
                <a:solidFill>
                  <a:srgbClr val="1E3A8A"/>
                </a:solidFill>
                <a:latin typeface="Source Code Pro"/>
                <a:ea typeface="Source Code Pro"/>
                <a:cs typeface="Source Code Pro"/>
                <a:sym typeface="Source Code Pro"/>
              </a:rPr>
              <a:t>$ lightprobe list</a:t>
            </a:r>
            <a:endParaRPr lang="en-US" sz="1100"/>
          </a:p>
          <a:p>
            <a:pPr marL="0" indent="0" algn="l">
              <a:lnSpc>
                <a:spcPct val="100000"/>
              </a:lnSpc>
            </a:pPr>
            <a:r>
              <a:rPr lang="en-US" sz="1200" b="0" i="0" u="none" strike="noStrike">
                <a:solidFill>
                  <a:srgbClr val="F59E0B"/>
                </a:solidFill>
                <a:latin typeface="Source Code Pro"/>
                <a:ea typeface="Source Code Pro"/>
                <a:cs typeface="Source Code Pro"/>
                <a:sym typeface="Source Code Pro"/>
              </a:rPr>
              <a:t>--active --detail</a:t>
            </a:r>
            <a:endParaRPr lang="en-US" sz="1200" b="0" i="0" u="none" strike="noStrike">
              <a:solidFill>
                <a:srgbClr val="F59E0B"/>
              </a:solidFill>
              <a:latin typeface="Source Code Pro"/>
              <a:ea typeface="Source Code Pro"/>
              <a:cs typeface="Source Code Pro"/>
              <a:sym typeface="Source Code Pro"/>
            </a:endParaRPr>
          </a:p>
          <a:p>
            <a:pPr marL="0" indent="0" algn="l">
              <a:lnSpc>
                <a:spcPct val="100000"/>
              </a:lnSpc>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列出当前系统所有活跃探针及资源占用详情</a:t>
            </a:r>
            <a:endPar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3" name="Connector 23"/>
          <p:cNvCxnSpPr/>
          <p:nvPr/>
        </p:nvCxnSpPr>
        <p:spPr>
          <a:xfrm rot="5390450">
            <a:off x="4191000" y="3930659"/>
            <a:ext cx="4572000" cy="12700"/>
          </a:xfrm>
          <a:prstGeom prst="straightConnector1">
            <a:avLst/>
          </a:prstGeom>
          <a:solidFill>
            <a:srgbClr val="DEE0E3">
              <a:alpha val="100000"/>
            </a:srgbClr>
          </a:solidFill>
          <a:ln w="12700" cap="flat" cmpd="sng">
            <a:solidFill>
              <a:srgbClr val="1E3A8A">
                <a:alpha val="10000"/>
              </a:srgbClr>
            </a:solidFill>
            <a:prstDash val="dash"/>
            <a:round/>
            <a:headEnd type="none" w="med" len="med"/>
            <a:tailEnd type="none" w="med" len="med"/>
          </a:ln>
        </p:spPr>
      </p:cxnSp>
      <p:sp>
        <p:nvSpPr>
          <p:cNvPr id="24" name="AutoShape 24"/>
          <p:cNvSpPr/>
          <p:nvPr/>
        </p:nvSpPr>
        <p:spPr>
          <a:xfrm>
            <a:off x="6731000" y="1651000"/>
            <a:ext cx="2476500" cy="952500"/>
          </a:xfrm>
          <a:prstGeom prst="roundRect">
            <a:avLst>
              <a:gd name="adj" fmla="val 0"/>
            </a:avLst>
          </a:prstGeom>
          <a:solidFill>
            <a:srgbClr val="FFFFFF">
              <a:alpha val="100000"/>
            </a:srgbClr>
          </a:solidFill>
          <a:ln w="12700" cap="flat" cmpd="sng">
            <a:solidFill>
              <a:srgbClr val="1E3A8A">
                <a:alpha val="1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5" name="Picture 25"/>
          <p:cNvPicPr>
            <a:picLocks noChangeAspect="1"/>
          </p:cNvPicPr>
          <p:nvPr/>
        </p:nvPicPr>
        <p:blipFill>
          <a:blip r:embed="rId1"/>
          <a:srcRect/>
          <a:stretch>
            <a:fillRect/>
          </a:stretch>
        </p:blipFill>
        <p:spPr>
          <a:xfrm>
            <a:off x="6858000" y="1841500"/>
            <a:ext cx="304800" cy="304800"/>
          </a:xfrm>
          <a:prstGeom prst="rect">
            <a:avLst/>
          </a:prstGeom>
          <a:ln w="12700">
            <a:noFill/>
            <a:prstDash val="solid"/>
          </a:ln>
        </p:spPr>
      </p:pic>
      <p:sp>
        <p:nvSpPr>
          <p:cNvPr id="26" name="AutoShape 26"/>
          <p:cNvSpPr/>
          <p:nvPr/>
        </p:nvSpPr>
        <p:spPr>
          <a:xfrm>
            <a:off x="7239000" y="1714500"/>
            <a:ext cx="1905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F1 动态插入</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支持运行时注入探针，无需重启业务进程，对服务无侵入。</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6731000" y="2794000"/>
            <a:ext cx="2476500" cy="952500"/>
          </a:xfrm>
          <a:prstGeom prst="roundRect">
            <a:avLst>
              <a:gd name="adj" fmla="val 0"/>
            </a:avLst>
          </a:prstGeom>
          <a:solidFill>
            <a:srgbClr val="FFFFFF">
              <a:alpha val="100000"/>
            </a:srgbClr>
          </a:solidFill>
          <a:ln w="12700" cap="flat" cmpd="sng">
            <a:solidFill>
              <a:srgbClr val="1E3A8A">
                <a:alpha val="1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8" name="Picture 28"/>
          <p:cNvPicPr>
            <a:picLocks noChangeAspect="1"/>
          </p:cNvPicPr>
          <p:nvPr/>
        </p:nvPicPr>
        <p:blipFill>
          <a:blip r:embed="rId2"/>
          <a:srcRect/>
          <a:stretch>
            <a:fillRect/>
          </a:stretch>
        </p:blipFill>
        <p:spPr>
          <a:xfrm>
            <a:off x="6858000" y="2984500"/>
            <a:ext cx="304800" cy="304800"/>
          </a:xfrm>
          <a:prstGeom prst="rect">
            <a:avLst/>
          </a:prstGeom>
          <a:ln w="12700">
            <a:noFill/>
            <a:prstDash val="solid"/>
          </a:ln>
        </p:spPr>
      </p:pic>
      <p:sp>
        <p:nvSpPr>
          <p:cNvPr id="29" name="AutoShape 29"/>
          <p:cNvSpPr/>
          <p:nvPr/>
        </p:nvSpPr>
        <p:spPr>
          <a:xfrm>
            <a:off x="7239000" y="2857500"/>
            <a:ext cx="1905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F2 参数采集</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深度解析函数入参、返回值及堆栈信息，支持基础类型与复杂结构体。</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p:nvPr/>
        </p:nvSpPr>
        <p:spPr>
          <a:xfrm>
            <a:off x="6731000" y="3937000"/>
            <a:ext cx="2476500" cy="952500"/>
          </a:xfrm>
          <a:prstGeom prst="roundRect">
            <a:avLst>
              <a:gd name="adj" fmla="val 0"/>
            </a:avLst>
          </a:prstGeom>
          <a:solidFill>
            <a:srgbClr val="FFFFFF">
              <a:alpha val="100000"/>
            </a:srgbClr>
          </a:solidFill>
          <a:ln w="12700" cap="flat" cmpd="sng">
            <a:solidFill>
              <a:srgbClr val="1E3A8A">
                <a:alpha val="1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1" name="Picture 31"/>
          <p:cNvPicPr>
            <a:picLocks noChangeAspect="1"/>
          </p:cNvPicPr>
          <p:nvPr/>
        </p:nvPicPr>
        <p:blipFill>
          <a:blip r:embed="rId3"/>
          <a:srcRect/>
          <a:stretch>
            <a:fillRect/>
          </a:stretch>
        </p:blipFill>
        <p:spPr>
          <a:xfrm>
            <a:off x="6858000" y="4127500"/>
            <a:ext cx="304800" cy="304800"/>
          </a:xfrm>
          <a:prstGeom prst="rect">
            <a:avLst/>
          </a:prstGeom>
          <a:ln w="12700">
            <a:noFill/>
            <a:prstDash val="solid"/>
          </a:ln>
        </p:spPr>
      </p:pic>
      <p:sp>
        <p:nvSpPr>
          <p:cNvPr id="32" name="AutoShape 32"/>
          <p:cNvSpPr/>
          <p:nvPr/>
        </p:nvSpPr>
        <p:spPr>
          <a:xfrm>
            <a:off x="7239000" y="4000500"/>
            <a:ext cx="1905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F3 返回探针</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支持探测函数执行后的返回状态，精准捕获异常返回码与错误路径。</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33"/>
          <p:cNvSpPr/>
          <p:nvPr/>
        </p:nvSpPr>
        <p:spPr>
          <a:xfrm>
            <a:off x="6731000" y="5080000"/>
            <a:ext cx="2476500" cy="952500"/>
          </a:xfrm>
          <a:prstGeom prst="roundRect">
            <a:avLst>
              <a:gd name="adj" fmla="val 0"/>
            </a:avLst>
          </a:prstGeom>
          <a:solidFill>
            <a:srgbClr val="FFFFFF">
              <a:alpha val="100000"/>
            </a:srgbClr>
          </a:solidFill>
          <a:ln w="12700" cap="flat" cmpd="sng">
            <a:solidFill>
              <a:srgbClr val="1E3A8A">
                <a:alpha val="1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4" name="Picture 34"/>
          <p:cNvPicPr>
            <a:picLocks noChangeAspect="1"/>
          </p:cNvPicPr>
          <p:nvPr/>
        </p:nvPicPr>
        <p:blipFill>
          <a:blip r:embed="rId4"/>
          <a:srcRect/>
          <a:stretch>
            <a:fillRect/>
          </a:stretch>
        </p:blipFill>
        <p:spPr>
          <a:xfrm>
            <a:off x="6858000" y="5270500"/>
            <a:ext cx="304800" cy="304800"/>
          </a:xfrm>
          <a:prstGeom prst="rect">
            <a:avLst/>
          </a:prstGeom>
          <a:ln w="12700">
            <a:noFill/>
            <a:prstDash val="solid"/>
          </a:ln>
        </p:spPr>
      </p:pic>
      <p:sp>
        <p:nvSpPr>
          <p:cNvPr id="35" name="AutoShape 35"/>
          <p:cNvSpPr/>
          <p:nvPr/>
        </p:nvSpPr>
        <p:spPr>
          <a:xfrm>
            <a:off x="7239000" y="5143500"/>
            <a:ext cx="1905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F4 安全清理</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探针卸载时自动恢复指令流，清理内存钩子，确保业务运行环境纯净。</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36"/>
          <p:cNvSpPr/>
          <p:nvPr/>
        </p:nvSpPr>
        <p:spPr>
          <a:xfrm>
            <a:off x="9334500" y="1651000"/>
            <a:ext cx="2476500" cy="952500"/>
          </a:xfrm>
          <a:prstGeom prst="roundRect">
            <a:avLst>
              <a:gd name="adj" fmla="val 0"/>
            </a:avLst>
          </a:prstGeom>
          <a:solidFill>
            <a:srgbClr val="FFFFFF">
              <a:alpha val="100000"/>
            </a:srgbClr>
          </a:solidFill>
          <a:ln w="12700" cap="flat" cmpd="sng">
            <a:solidFill>
              <a:srgbClr val="1E3A8A">
                <a:alpha val="1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7" name="Picture 37"/>
          <p:cNvPicPr>
            <a:picLocks noChangeAspect="1"/>
          </p:cNvPicPr>
          <p:nvPr/>
        </p:nvPicPr>
        <p:blipFill>
          <a:blip r:embed="rId5"/>
          <a:srcRect/>
          <a:stretch>
            <a:fillRect/>
          </a:stretch>
        </p:blipFill>
        <p:spPr>
          <a:xfrm>
            <a:off x="9461500" y="1841500"/>
            <a:ext cx="304800" cy="304800"/>
          </a:xfrm>
          <a:prstGeom prst="rect">
            <a:avLst/>
          </a:prstGeom>
          <a:ln w="12700">
            <a:noFill/>
            <a:prstDash val="solid"/>
          </a:ln>
        </p:spPr>
      </p:pic>
      <p:sp>
        <p:nvSpPr>
          <p:cNvPr id="38" name="AutoShape 38"/>
          <p:cNvSpPr/>
          <p:nvPr/>
        </p:nvSpPr>
        <p:spPr>
          <a:xfrm>
            <a:off x="9842500" y="1714500"/>
            <a:ext cx="1905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F5 动态开关</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提供全局与细粒度的探针启停控制，支持热更新配置，灵活应对调试场景。</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9" name="AutoShape 39"/>
          <p:cNvSpPr/>
          <p:nvPr/>
        </p:nvSpPr>
        <p:spPr>
          <a:xfrm>
            <a:off x="9334500" y="2794000"/>
            <a:ext cx="2476500" cy="952500"/>
          </a:xfrm>
          <a:prstGeom prst="roundRect">
            <a:avLst>
              <a:gd name="adj" fmla="val 0"/>
            </a:avLst>
          </a:prstGeom>
          <a:solidFill>
            <a:srgbClr val="FFFFFF">
              <a:alpha val="100000"/>
            </a:srgbClr>
          </a:solidFill>
          <a:ln w="12700" cap="flat" cmpd="sng">
            <a:solidFill>
              <a:srgbClr val="1E3A8A">
                <a:alpha val="1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40" name="Picture 40"/>
          <p:cNvPicPr>
            <a:picLocks noChangeAspect="1"/>
          </p:cNvPicPr>
          <p:nvPr/>
        </p:nvPicPr>
        <p:blipFill>
          <a:blip r:embed="rId6"/>
          <a:srcRect/>
          <a:stretch>
            <a:fillRect/>
          </a:stretch>
        </p:blipFill>
        <p:spPr>
          <a:xfrm>
            <a:off x="9461500" y="2984500"/>
            <a:ext cx="304800" cy="304800"/>
          </a:xfrm>
          <a:prstGeom prst="rect">
            <a:avLst/>
          </a:prstGeom>
          <a:ln w="12700">
            <a:noFill/>
            <a:prstDash val="solid"/>
          </a:ln>
        </p:spPr>
      </p:pic>
      <p:sp>
        <p:nvSpPr>
          <p:cNvPr id="41" name="AutoShape 41"/>
          <p:cNvSpPr/>
          <p:nvPr/>
        </p:nvSpPr>
        <p:spPr>
          <a:xfrm>
            <a:off x="9842500" y="2857500"/>
            <a:ext cx="1905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F6 多探针聚合</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支持同时挂载多个探针点，关联分析调用链路，构建完整的执行上下文。</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42"/>
          <p:cNvSpPr/>
          <p:nvPr/>
        </p:nvSpPr>
        <p:spPr>
          <a:xfrm>
            <a:off x="9334500" y="3937000"/>
            <a:ext cx="2476500" cy="952500"/>
          </a:xfrm>
          <a:prstGeom prst="roundRect">
            <a:avLst>
              <a:gd name="adj" fmla="val 0"/>
            </a:avLst>
          </a:prstGeom>
          <a:solidFill>
            <a:srgbClr val="FFFFFF">
              <a:alpha val="100000"/>
            </a:srgbClr>
          </a:solidFill>
          <a:ln w="12700" cap="flat" cmpd="sng">
            <a:solidFill>
              <a:srgbClr val="1E3A8A">
                <a:alpha val="1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43" name="Picture 43"/>
          <p:cNvPicPr>
            <a:picLocks noChangeAspect="1"/>
          </p:cNvPicPr>
          <p:nvPr/>
        </p:nvPicPr>
        <p:blipFill>
          <a:blip r:embed="rId7"/>
          <a:srcRect/>
          <a:stretch>
            <a:fillRect/>
          </a:stretch>
        </p:blipFill>
        <p:spPr>
          <a:xfrm>
            <a:off x="9461500" y="4127500"/>
            <a:ext cx="304800" cy="304800"/>
          </a:xfrm>
          <a:prstGeom prst="rect">
            <a:avLst/>
          </a:prstGeom>
          <a:ln w="12700">
            <a:noFill/>
            <a:prstDash val="solid"/>
          </a:ln>
        </p:spPr>
      </p:pic>
      <p:sp>
        <p:nvSpPr>
          <p:cNvPr id="44" name="AutoShape 44"/>
          <p:cNvSpPr/>
          <p:nvPr/>
        </p:nvSpPr>
        <p:spPr>
          <a:xfrm>
            <a:off x="9842500" y="4000500"/>
            <a:ext cx="1905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F7 多线程感知</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自动识别线程ID与状态，隔离多线程并发场景下的探针数据，避免混淆。</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45"/>
          <p:cNvSpPr/>
          <p:nvPr/>
        </p:nvSpPr>
        <p:spPr>
          <a:xfrm>
            <a:off x="9334500" y="5080000"/>
            <a:ext cx="2476500" cy="952500"/>
          </a:xfrm>
          <a:prstGeom prst="roundRect">
            <a:avLst>
              <a:gd name="adj" fmla="val 0"/>
            </a:avLst>
          </a:prstGeom>
          <a:solidFill>
            <a:srgbClr val="1E3A8A">
              <a:alpha val="5000"/>
            </a:srgbClr>
          </a:solidFill>
          <a:ln w="12700" cap="flat" cmpd="sng">
            <a:solidFill>
              <a:srgbClr val="1E3A8A">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46" name="Picture 46"/>
          <p:cNvPicPr>
            <a:picLocks noChangeAspect="1"/>
          </p:cNvPicPr>
          <p:nvPr/>
        </p:nvPicPr>
        <p:blipFill>
          <a:blip r:embed="rId8"/>
          <a:srcRect/>
          <a:stretch>
            <a:fillRect/>
          </a:stretch>
        </p:blipFill>
        <p:spPr>
          <a:xfrm>
            <a:off x="9461500" y="5270500"/>
            <a:ext cx="304800" cy="304800"/>
          </a:xfrm>
          <a:prstGeom prst="rect">
            <a:avLst/>
          </a:prstGeom>
          <a:ln w="12700">
            <a:noFill/>
            <a:prstDash val="solid"/>
          </a:ln>
        </p:spPr>
      </p:pic>
      <p:sp>
        <p:nvSpPr>
          <p:cNvPr id="47" name="AutoShape 47"/>
          <p:cNvSpPr/>
          <p:nvPr/>
        </p:nvSpPr>
        <p:spPr>
          <a:xfrm>
            <a:off x="9842500" y="5143500"/>
            <a:ext cx="1905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极致轻量内核</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底层采用汇编级Hook，资源占用极低，对目标进程性能影响微乎其微。</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Entry Probe 实现</a:t>
            </a:r>
            <a:endParaRPr lang="en-US" sz="1100"/>
          </a:p>
        </p:txBody>
      </p:sp>
      <p:sp>
        <p:nvSpPr>
          <p:cNvPr id="3" name="AutoShape 3"/>
          <p:cNvSpPr/>
          <p:nvPr/>
        </p:nvSpPr>
        <p:spPr>
          <a:xfrm>
            <a:off x="508000" y="1143000"/>
            <a:ext cx="11176000" cy="25400"/>
          </a:xfrm>
          <a:prstGeom prst="roundRect">
            <a:avLst>
              <a:gd name="adj" fmla="val 0"/>
            </a:avLst>
          </a:prstGeom>
          <a:solidFill>
            <a:srgbClr val="0A2463">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508000" y="1651000"/>
            <a:ext cx="5334000" cy="1333500"/>
          </a:xfrm>
          <a:prstGeom prst="roundRect">
            <a:avLst>
              <a:gd name="adj" fmla="val 0"/>
            </a:avLst>
          </a:prstGeom>
          <a:solidFill>
            <a:srgbClr val="3B82F6">
              <a:alpha val="8000"/>
            </a:srgbClr>
          </a:solidFill>
          <a:ln w="12700" cap="flat" cmpd="sng">
            <a:solidFill>
              <a:srgbClr val="3B82F6">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508000" y="1651000"/>
            <a:ext cx="76200" cy="1333500"/>
          </a:xfrm>
          <a:prstGeom prst="roundRect">
            <a:avLst>
              <a:gd name="adj" fmla="val 0"/>
            </a:avLst>
          </a:prstGeom>
          <a:solidFill>
            <a:srgbClr val="3B82F6">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762000" y="1841500"/>
            <a:ext cx="406400" cy="406400"/>
          </a:xfrm>
          <a:prstGeom prst="rect">
            <a:avLst/>
          </a:prstGeom>
          <a:ln w="12700">
            <a:noFill/>
            <a:prstDash val="solid"/>
          </a:ln>
        </p:spPr>
      </p:pic>
      <p:sp>
        <p:nvSpPr>
          <p:cNvPr id="7" name="AutoShape 7"/>
          <p:cNvSpPr/>
          <p:nvPr/>
        </p:nvSpPr>
        <p:spPr>
          <a:xfrm>
            <a:off x="1397000" y="1778000"/>
            <a:ext cx="4191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ABI 规范参数捕获</a:t>
            </a:r>
            <a:endParaRPr lang="en-US" sz="1100"/>
          </a:p>
        </p:txBody>
      </p:sp>
      <p:sp>
        <p:nvSpPr>
          <p:cNvPr id="8" name="AutoShape 8"/>
          <p:cNvSpPr/>
          <p:nvPr/>
        </p:nvSpPr>
        <p:spPr>
          <a:xfrm>
            <a:off x="1397000" y="2222500"/>
            <a:ext cx="4191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严格遵循 x86_64 System V 调用约定，自动捕获函数调用的前 6 个寄存器参数（RDI, RSI, RDX, RCX, R8, R9），确保参数完整性。</a:t>
            </a:r>
            <a:endParaRPr lang="en-US" sz="1100"/>
          </a:p>
        </p:txBody>
      </p:sp>
      <p:sp>
        <p:nvSpPr>
          <p:cNvPr id="9" name="AutoShape 9"/>
          <p:cNvSpPr/>
          <p:nvPr/>
        </p:nvSpPr>
        <p:spPr>
          <a:xfrm>
            <a:off x="508000" y="3302000"/>
            <a:ext cx="5334000" cy="1333500"/>
          </a:xfrm>
          <a:prstGeom prst="roundRect">
            <a:avLst>
              <a:gd name="adj" fmla="val 0"/>
            </a:avLst>
          </a:prstGeom>
          <a:solidFill>
            <a:srgbClr val="3B82F6">
              <a:alpha val="8000"/>
            </a:srgbClr>
          </a:solidFill>
          <a:ln w="12700" cap="flat" cmpd="sng">
            <a:solidFill>
              <a:srgbClr val="3B82F6">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508000" y="3302000"/>
            <a:ext cx="76200" cy="1333500"/>
          </a:xfrm>
          <a:prstGeom prst="roundRect">
            <a:avLst>
              <a:gd name="adj" fmla="val 0"/>
            </a:avLst>
          </a:prstGeom>
          <a:solidFill>
            <a:srgbClr val="3B82F6">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2"/>
          <a:srcRect/>
          <a:stretch>
            <a:fillRect/>
          </a:stretch>
        </p:blipFill>
        <p:spPr>
          <a:xfrm>
            <a:off x="762000" y="3492500"/>
            <a:ext cx="406400" cy="406400"/>
          </a:xfrm>
          <a:prstGeom prst="rect">
            <a:avLst/>
          </a:prstGeom>
          <a:ln w="12700">
            <a:noFill/>
            <a:prstDash val="solid"/>
          </a:ln>
        </p:spPr>
      </p:pic>
      <p:sp>
        <p:nvSpPr>
          <p:cNvPr id="12" name="AutoShape 12"/>
          <p:cNvSpPr/>
          <p:nvPr/>
        </p:nvSpPr>
        <p:spPr>
          <a:xfrm>
            <a:off x="1397000" y="3429000"/>
            <a:ext cx="4191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全链路元数据埋点</a:t>
            </a:r>
            <a:endParaRPr lang="en-US" sz="1100"/>
          </a:p>
        </p:txBody>
      </p:sp>
      <p:sp>
        <p:nvSpPr>
          <p:cNvPr id="13" name="AutoShape 13"/>
          <p:cNvSpPr/>
          <p:nvPr/>
        </p:nvSpPr>
        <p:spPr>
          <a:xfrm>
            <a:off x="1397000" y="3873500"/>
            <a:ext cx="4191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在探针触发瞬间，实时采集进程 ID (PID)、线程 ID (TID) 以及高精度时间戳，构建完整的调用上下文溯源信息。</a:t>
            </a:r>
            <a:endParaRPr lang="en-US" sz="1100"/>
          </a:p>
        </p:txBody>
      </p:sp>
      <p:sp>
        <p:nvSpPr>
          <p:cNvPr id="14" name="AutoShape 14"/>
          <p:cNvSpPr/>
          <p:nvPr/>
        </p:nvSpPr>
        <p:spPr>
          <a:xfrm>
            <a:off x="508000" y="4953000"/>
            <a:ext cx="5334000" cy="1333500"/>
          </a:xfrm>
          <a:prstGeom prst="roundRect">
            <a:avLst>
              <a:gd name="adj" fmla="val 0"/>
            </a:avLst>
          </a:prstGeom>
          <a:solidFill>
            <a:srgbClr val="3B82F6">
              <a:alpha val="8000"/>
            </a:srgbClr>
          </a:solidFill>
          <a:ln w="12700" cap="flat" cmpd="sng">
            <a:solidFill>
              <a:srgbClr val="3B82F6">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508000" y="4953000"/>
            <a:ext cx="76200" cy="1333500"/>
          </a:xfrm>
          <a:prstGeom prst="roundRect">
            <a:avLst>
              <a:gd name="adj" fmla="val 0"/>
            </a:avLst>
          </a:prstGeom>
          <a:solidFill>
            <a:srgbClr val="3B82F6">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6" name="Picture 16"/>
          <p:cNvPicPr>
            <a:picLocks noChangeAspect="1"/>
          </p:cNvPicPr>
          <p:nvPr/>
        </p:nvPicPr>
        <p:blipFill>
          <a:blip r:embed="rId3"/>
          <a:srcRect/>
          <a:stretch>
            <a:fillRect/>
          </a:stretch>
        </p:blipFill>
        <p:spPr>
          <a:xfrm>
            <a:off x="762000" y="5143500"/>
            <a:ext cx="406400" cy="406400"/>
          </a:xfrm>
          <a:prstGeom prst="rect">
            <a:avLst/>
          </a:prstGeom>
          <a:ln w="12700">
            <a:noFill/>
            <a:prstDash val="solid"/>
          </a:ln>
        </p:spPr>
      </p:pic>
      <p:sp>
        <p:nvSpPr>
          <p:cNvPr id="17" name="AutoShape 17"/>
          <p:cNvSpPr/>
          <p:nvPr/>
        </p:nvSpPr>
        <p:spPr>
          <a:xfrm>
            <a:off x="1397000" y="5080000"/>
            <a:ext cx="4191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零拷贝环形缓冲区写入</a:t>
            </a:r>
            <a:endParaRPr lang="en-US" sz="1100"/>
          </a:p>
        </p:txBody>
      </p:sp>
      <p:sp>
        <p:nvSpPr>
          <p:cNvPr id="18" name="AutoShape 18"/>
          <p:cNvSpPr/>
          <p:nvPr/>
        </p:nvSpPr>
        <p:spPr>
          <a:xfrm>
            <a:off x="1397000" y="5524500"/>
            <a:ext cx="4191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采用无锁 Ring Buffer 机制，将捕获数据直接写入共享内存，避免内核态与用户态频繁拷贝，最大化降低探针运行时开销。</a:t>
            </a:r>
            <a:endParaRPr lang="en-US" sz="1100"/>
          </a:p>
        </p:txBody>
      </p:sp>
      <p:cxnSp>
        <p:nvCxnSpPr>
          <p:cNvPr id="19" name="Connector 19"/>
          <p:cNvCxnSpPr/>
          <p:nvPr/>
        </p:nvCxnSpPr>
        <p:spPr>
          <a:xfrm rot="5390581">
            <a:off x="3905250" y="3962409"/>
            <a:ext cx="4635500" cy="12700"/>
          </a:xfrm>
          <a:prstGeom prst="straightConnector1">
            <a:avLst/>
          </a:prstGeom>
          <a:solidFill>
            <a:srgbClr val="DEE0E3">
              <a:alpha val="100000"/>
            </a:srgbClr>
          </a:solidFill>
          <a:ln w="12700" cap="flat" cmpd="sng">
            <a:solidFill>
              <a:srgbClr val="0A2463">
                <a:alpha val="15000"/>
              </a:srgbClr>
            </a:solidFill>
            <a:prstDash val="dash"/>
            <a:round/>
            <a:headEnd type="none" w="med" len="med"/>
            <a:tailEnd type="none" w="med" len="med"/>
          </a:ln>
        </p:spPr>
      </p:cxnSp>
      <p:sp>
        <p:nvSpPr>
          <p:cNvPr id="20" name="AutoShape 20"/>
          <p:cNvSpPr/>
          <p:nvPr/>
        </p:nvSpPr>
        <p:spPr>
          <a:xfrm>
            <a:off x="6477000" y="1651000"/>
            <a:ext cx="5207000" cy="2286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1" name="AutoShape 21"/>
          <p:cNvSpPr/>
          <p:nvPr/>
        </p:nvSpPr>
        <p:spPr>
          <a:xfrm>
            <a:off x="6731000" y="2032000"/>
            <a:ext cx="1270000" cy="1270000"/>
          </a:xfrm>
          <a:prstGeom prst="ellipse">
            <a:avLst/>
          </a:prstGeom>
          <a:solidFill>
            <a:srgbClr val="3B82F6">
              <a:alpha val="10000"/>
            </a:srgbClr>
          </a:solidFill>
          <a:ln w="25400" cap="flat" cmpd="sng">
            <a:solidFill>
              <a:srgbClr val="3B82F6">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6858000" y="2476500"/>
            <a:ext cx="10160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4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Ring</a:t>
            </a:r>
            <a:endParaRPr lang="en-US" sz="1100"/>
          </a:p>
        </p:txBody>
      </p:sp>
      <p:cxnSp>
        <p:nvCxnSpPr>
          <p:cNvPr id="23" name="Connector 23"/>
          <p:cNvCxnSpPr/>
          <p:nvPr/>
        </p:nvCxnSpPr>
        <p:spPr>
          <a:xfrm rot="-114549">
            <a:off x="8128106" y="2152650"/>
            <a:ext cx="381000" cy="12700"/>
          </a:xfrm>
          <a:prstGeom prst="straightConnector1">
            <a:avLst/>
          </a:prstGeom>
          <a:solidFill>
            <a:srgbClr val="DEE0E3">
              <a:alpha val="100000"/>
            </a:srgbClr>
          </a:solidFill>
          <a:ln w="25400" cap="flat" cmpd="sng">
            <a:solidFill>
              <a:srgbClr val="EF4444">
                <a:alpha val="100000"/>
              </a:srgbClr>
            </a:solidFill>
            <a:prstDash val="solid"/>
            <a:round/>
            <a:headEnd type="none" w="lg" len="lg"/>
            <a:tailEnd type="arrow" w="sm" len="sm"/>
          </a:ln>
        </p:spPr>
      </p:cxnSp>
      <p:sp>
        <p:nvSpPr>
          <p:cNvPr id="24" name="AutoShape 24"/>
          <p:cNvSpPr/>
          <p:nvPr/>
        </p:nvSpPr>
        <p:spPr>
          <a:xfrm>
            <a:off x="8572500" y="2032000"/>
            <a:ext cx="2921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5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Write Pointer (Head)</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原子操作移动，覆盖旧数据，保证写入无阻塞</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5" name="Connector 25"/>
          <p:cNvCxnSpPr/>
          <p:nvPr/>
        </p:nvCxnSpPr>
        <p:spPr>
          <a:xfrm rot="-114549">
            <a:off x="8128106" y="3168650"/>
            <a:ext cx="381000" cy="12700"/>
          </a:xfrm>
          <a:prstGeom prst="straightConnector1">
            <a:avLst/>
          </a:prstGeom>
          <a:solidFill>
            <a:srgbClr val="DEE0E3">
              <a:alpha val="100000"/>
            </a:srgbClr>
          </a:solidFill>
          <a:ln w="25400" cap="flat" cmpd="sng">
            <a:solidFill>
              <a:srgbClr val="10B981">
                <a:alpha val="100000"/>
              </a:srgbClr>
            </a:solidFill>
            <a:prstDash val="solid"/>
            <a:round/>
            <a:headEnd type="none" w="lg" len="lg"/>
            <a:tailEnd type="arrow" w="sm" len="sm"/>
          </a:ln>
        </p:spPr>
      </p:cxnSp>
      <p:sp>
        <p:nvSpPr>
          <p:cNvPr id="26" name="AutoShape 26"/>
          <p:cNvSpPr/>
          <p:nvPr/>
        </p:nvSpPr>
        <p:spPr>
          <a:xfrm>
            <a:off x="8572500" y="2984500"/>
            <a:ext cx="2921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5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Read Pointer (Tail)</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用户态异步读取，不干扰内核写入流程</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6477000" y="4318000"/>
            <a:ext cx="5207000" cy="1968500"/>
          </a:xfrm>
          <a:prstGeom prst="roundRect">
            <a:avLst>
              <a:gd name="adj" fmla="val 0"/>
            </a:avLst>
          </a:prstGeom>
          <a:solidFill>
            <a:srgbClr val="1F2937">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8" name="AutoShape 28"/>
          <p:cNvSpPr/>
          <p:nvPr/>
        </p:nvSpPr>
        <p:spPr>
          <a:xfrm>
            <a:off x="6477000" y="4318000"/>
            <a:ext cx="5207000" cy="304800"/>
          </a:xfrm>
          <a:prstGeom prst="roundRect">
            <a:avLst>
              <a:gd name="adj" fmla="val 0"/>
            </a:avLst>
          </a:prstGeom>
          <a:solidFill>
            <a:srgbClr val="FFFFFF">
              <a:alpha val="5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9" name="AutoShape 29"/>
          <p:cNvSpPr/>
          <p:nvPr/>
        </p:nvSpPr>
        <p:spPr>
          <a:xfrm>
            <a:off x="6604000" y="4356100"/>
            <a:ext cx="3810000" cy="254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0" i="0" u="none" strike="noStrike">
                <a:solidFill>
                  <a:srgbClr val="FFFFFF">
                    <a:alpha val="60000"/>
                  </a:srgbClr>
                </a:solidFill>
                <a:latin typeface="Consolas" panose="020B0609020204030204"/>
                <a:ea typeface="Consolas" panose="020B0609020204030204"/>
                <a:cs typeface="Consolas" panose="020B0609020204030204"/>
                <a:sym typeface="Consolas" panose="020B0609020204030204"/>
              </a:rPr>
              <a:t>entry_stub_asm.s (Pseudo Code)</a:t>
            </a:r>
            <a:endParaRPr lang="en-US" sz="1100"/>
          </a:p>
        </p:txBody>
      </p:sp>
      <p:sp>
        <p:nvSpPr>
          <p:cNvPr id="30" name="AutoShape 30"/>
          <p:cNvSpPr/>
          <p:nvPr/>
        </p:nvSpPr>
        <p:spPr>
          <a:xfrm>
            <a:off x="6604000" y="4762500"/>
            <a:ext cx="4953000" cy="1397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200" b="0" i="0" u="none" strike="noStrike">
                <a:solidFill>
                  <a:srgbClr val="C084FC"/>
                </a:solidFill>
                <a:latin typeface="Consolas" panose="020B0609020204030204"/>
                <a:ea typeface="Consolas" panose="020B0609020204030204"/>
                <a:cs typeface="Consolas" panose="020B0609020204030204"/>
                <a:sym typeface="Consolas" panose="020B0609020204030204"/>
              </a:rPr>
              <a:t>asm volatile</a:t>
            </a:r>
            <a:r>
              <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A5F3FC"/>
                </a:solidFill>
                <a:latin typeface="Consolas" panose="020B0609020204030204"/>
                <a:ea typeface="Consolas" panose="020B0609020204030204"/>
                <a:cs typeface="Consolas" panose="020B0609020204030204"/>
                <a:sym typeface="Consolas" panose="020B0609020204030204"/>
              </a:rPr>
              <a:t>"movq %%rdi, 0x00(%%r15)\n"</a:t>
            </a:r>
            <a:r>
              <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rPr>
              <a:t>// Capture 1st arg</a:t>
            </a:r>
            <a:endParaRPr lang="en-US" sz="1100"/>
          </a:p>
          <a:p>
            <a:pPr marL="0" indent="0" algn="l">
              <a:lnSpc>
                <a:spcPct val="108000"/>
              </a:lnSpc>
            </a:pPr>
            <a:r>
              <a:rPr lang="en-US" sz="1200" b="0" i="0" u="none" strike="noStrike">
                <a:solidFill>
                  <a:srgbClr val="A5F3FC"/>
                </a:solidFill>
                <a:latin typeface="Consolas" panose="020B0609020204030204"/>
                <a:ea typeface="Consolas" panose="020B0609020204030204"/>
                <a:cs typeface="Consolas" panose="020B0609020204030204"/>
                <a:sym typeface="Consolas" panose="020B0609020204030204"/>
              </a:rPr>
              <a:t>"movq %%rsp, 0x28(%%r15)\n"</a:t>
            </a:r>
            <a:r>
              <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rPr>
              <a:t>// Save stack frame</a:t>
            </a:r>
            <a:endPar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C084FC"/>
                </a:solidFill>
                <a:latin typeface="Consolas" panose="020B0609020204030204"/>
                <a:ea typeface="Consolas" panose="020B0609020204030204"/>
                <a:cs typeface="Consolas" panose="020B0609020204030204"/>
                <a:sym typeface="Consolas" panose="020B0609020204030204"/>
              </a:rPr>
              <a:t>"call"</a:t>
            </a:r>
            <a:r>
              <a:rPr lang="en-US" sz="1200" b="0" i="0" u="none" strike="noStrike">
                <a:solidFill>
                  <a:srgbClr val="34D399"/>
                </a:solidFill>
                <a:latin typeface="Consolas" panose="020B0609020204030204"/>
                <a:ea typeface="Consolas" panose="020B0609020204030204"/>
                <a:cs typeface="Consolas" panose="020B0609020204030204"/>
                <a:sym typeface="Consolas" panose="020B0609020204030204"/>
              </a:rPr>
              <a:t>ring_buffer_write</a:t>
            </a:r>
            <a:r>
              <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rPr>
              <a:t>; // Fast path write</a:t>
            </a:r>
            <a:endPar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rPr>
              <a:t>: :</a:t>
            </a:r>
            <a:r>
              <a:rPr lang="en-US" sz="1200" b="0" i="0" u="none" strike="noStrike">
                <a:solidFill>
                  <a:srgbClr val="FBBF24"/>
                </a:solidFill>
                <a:latin typeface="Consolas" panose="020B0609020204030204"/>
                <a:ea typeface="Consolas" panose="020B0609020204030204"/>
                <a:cs typeface="Consolas" panose="020B0609020204030204"/>
                <a:sym typeface="Consolas" panose="020B0609020204030204"/>
              </a:rPr>
              <a:t>"a"</a:t>
            </a:r>
            <a:r>
              <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rPr>
              <a:t>(pid),</a:t>
            </a:r>
            <a:r>
              <a:rPr lang="en-US" sz="1200" b="0" i="0" u="none" strike="noStrike">
                <a:solidFill>
                  <a:srgbClr val="FBBF24"/>
                </a:solidFill>
                <a:latin typeface="Consolas" panose="020B0609020204030204"/>
                <a:ea typeface="Consolas" panose="020B0609020204030204"/>
                <a:cs typeface="Consolas" panose="020B0609020204030204"/>
                <a:sym typeface="Consolas" panose="020B0609020204030204"/>
              </a:rPr>
              <a:t>"b"</a:t>
            </a:r>
            <a:r>
              <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rPr>
              <a:t>(tid) :</a:t>
            </a:r>
            <a:r>
              <a:rPr lang="en-US" sz="1200" b="0" i="0" u="none" strike="noStrike">
                <a:solidFill>
                  <a:srgbClr val="F87171"/>
                </a:solidFill>
                <a:latin typeface="Consolas" panose="020B0609020204030204"/>
                <a:ea typeface="Consolas" panose="020B0609020204030204"/>
                <a:cs typeface="Consolas" panose="020B0609020204030204"/>
                <a:sym typeface="Consolas" panose="020B0609020204030204"/>
              </a:rPr>
              <a:t>"memory"</a:t>
            </a:r>
            <a:r>
              <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rPr>
              <a:t>);</a:t>
            </a:r>
            <a:endParaRPr lang="en-US" sz="1200" b="0" i="0" u="none" strike="noStrike">
              <a:solidFill>
                <a:srgbClr val="E5E7EB"/>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762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0A3D62"/>
                </a:solidFill>
                <a:latin typeface="Noto Sans SC" panose="020B0200000000000000" charset="-122"/>
                <a:ea typeface="Noto Sans SC" panose="020B0200000000000000" charset="-122"/>
                <a:cs typeface="Noto Sans SC" panose="020B0200000000000000" charset="-122"/>
                <a:sym typeface="Noto Sans SC" panose="020B0200000000000000" charset="-122"/>
              </a:rPr>
              <a:t>Return Probe 实现</a:t>
            </a:r>
            <a:endParaRPr lang="en-US" sz="1100"/>
          </a:p>
        </p:txBody>
      </p:sp>
      <p:sp>
        <p:nvSpPr>
          <p:cNvPr id="3" name="AutoShape 3"/>
          <p:cNvSpPr/>
          <p:nvPr/>
        </p:nvSpPr>
        <p:spPr>
          <a:xfrm>
            <a:off x="508000" y="1651000"/>
            <a:ext cx="3556000" cy="1397000"/>
          </a:xfrm>
          <a:prstGeom prst="roundRect">
            <a:avLst>
              <a:gd name="adj" fmla="val 0"/>
            </a:avLst>
          </a:prstGeom>
          <a:solidFill>
            <a:srgbClr val="27AE60">
              <a:alpha val="10000"/>
            </a:srgbClr>
          </a:solidFill>
          <a:ln w="25400" cap="flat" cmpd="sng">
            <a:solidFill>
              <a:srgbClr val="27AE60">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4" name="Picture 4"/>
          <p:cNvPicPr>
            <a:picLocks noChangeAspect="1"/>
          </p:cNvPicPr>
          <p:nvPr/>
        </p:nvPicPr>
        <p:blipFill>
          <a:blip r:embed="rId1"/>
          <a:srcRect/>
          <a:stretch>
            <a:fillRect/>
          </a:stretch>
        </p:blipFill>
        <p:spPr>
          <a:xfrm>
            <a:off x="698500" y="1841500"/>
            <a:ext cx="406400" cy="406400"/>
          </a:xfrm>
          <a:prstGeom prst="rect">
            <a:avLst/>
          </a:prstGeom>
          <a:ln w="12700">
            <a:noFill/>
            <a:prstDash val="solid"/>
          </a:ln>
        </p:spPr>
      </p:pic>
      <p:sp>
        <p:nvSpPr>
          <p:cNvPr id="5" name="AutoShape 5"/>
          <p:cNvSpPr/>
          <p:nvPr/>
        </p:nvSpPr>
        <p:spPr>
          <a:xfrm>
            <a:off x="1270000" y="1778000"/>
            <a:ext cx="2667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捕获返回值 (RAX寄存器)</a:t>
            </a:r>
            <a:endParaRPr lang="en-US" sz="1100"/>
          </a:p>
          <a:p>
            <a:pPr marL="0" indent="0" algn="l">
              <a:lnSpc>
                <a:spcPct val="108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基于x86_64架构约定，函数返回值默认存储于RAX寄存器。探针在ret指令触发时拦截该寄存器，精准提取返回数据。</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508000" y="3302000"/>
            <a:ext cx="3556000" cy="1397000"/>
          </a:xfrm>
          <a:prstGeom prst="roundRect">
            <a:avLst>
              <a:gd name="adj" fmla="val 0"/>
            </a:avLst>
          </a:prstGeom>
          <a:solidFill>
            <a:srgbClr val="27AE60">
              <a:alpha val="10000"/>
            </a:srgbClr>
          </a:solidFill>
          <a:ln w="25400" cap="flat" cmpd="sng">
            <a:solidFill>
              <a:srgbClr val="27AE60">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2"/>
          <a:srcRect/>
          <a:stretch>
            <a:fillRect/>
          </a:stretch>
        </p:blipFill>
        <p:spPr>
          <a:xfrm>
            <a:off x="698500" y="3492500"/>
            <a:ext cx="406400" cy="406400"/>
          </a:xfrm>
          <a:prstGeom prst="rect">
            <a:avLst/>
          </a:prstGeom>
          <a:ln w="12700">
            <a:noFill/>
            <a:prstDash val="solid"/>
          </a:ln>
        </p:spPr>
      </p:pic>
      <p:sp>
        <p:nvSpPr>
          <p:cNvPr id="8" name="AutoShape 8"/>
          <p:cNvSpPr/>
          <p:nvPr/>
        </p:nvSpPr>
        <p:spPr>
          <a:xfrm>
            <a:off x="1270000" y="3429000"/>
            <a:ext cx="2667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高精度 Duration 计算</a:t>
            </a:r>
            <a:endParaRPr lang="en-US" sz="1100"/>
          </a:p>
          <a:p>
            <a:pPr marL="0" indent="0" algn="l">
              <a:lnSpc>
                <a:spcPct val="108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在Entry探针记录时间戳t1，Return探针记录t2，利用硬件TSC计数器计算纳秒级耗时：duration_ns = t2 - t1，误差微乎其微。</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08000" y="4826000"/>
            <a:ext cx="3556000" cy="1397000"/>
          </a:xfrm>
          <a:prstGeom prst="roundRect">
            <a:avLst>
              <a:gd name="adj" fmla="val 0"/>
            </a:avLst>
          </a:prstGeom>
          <a:solidFill>
            <a:srgbClr val="27AE60">
              <a:alpha val="10000"/>
            </a:srgbClr>
          </a:solidFill>
          <a:ln w="25400" cap="flat" cmpd="sng">
            <a:solidFill>
              <a:srgbClr val="27AE60">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3"/>
          <a:srcRect/>
          <a:stretch>
            <a:fillRect/>
          </a:stretch>
        </p:blipFill>
        <p:spPr>
          <a:xfrm>
            <a:off x="698500" y="5016500"/>
            <a:ext cx="406400" cy="406400"/>
          </a:xfrm>
          <a:prstGeom prst="rect">
            <a:avLst/>
          </a:prstGeom>
          <a:ln w="12700">
            <a:noFill/>
            <a:prstDash val="solid"/>
          </a:ln>
        </p:spPr>
      </p:pic>
      <p:sp>
        <p:nvSpPr>
          <p:cNvPr id="11" name="AutoShape 11"/>
          <p:cNvSpPr/>
          <p:nvPr/>
        </p:nvSpPr>
        <p:spPr>
          <a:xfrm>
            <a:off x="1270000" y="4953000"/>
            <a:ext cx="2667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Shadow Stack 安全校验</a:t>
            </a:r>
            <a:endParaRPr lang="en-US" sz="1100"/>
          </a:p>
          <a:p>
            <a:pPr marL="0" indent="0" algn="l">
              <a:lnSpc>
                <a:spcPct val="108000"/>
              </a:lnSpc>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维护独立的影子调用栈，Entry时Push上下文，Return时强制Pop匹配。有效防御ROP攻击与栈帧劫持，确保调用链路完整性。</a:t>
            </a:r>
            <a:endPar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5390450">
            <a:off x="2159000" y="3930659"/>
            <a:ext cx="45720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3" name="AutoShape 13"/>
          <p:cNvSpPr/>
          <p:nvPr/>
        </p:nvSpPr>
        <p:spPr>
          <a:xfrm>
            <a:off x="4699000" y="1651000"/>
            <a:ext cx="3175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0A3D62"/>
                </a:solidFill>
                <a:latin typeface="Noto Sans SC" panose="020B0200000000000000" charset="-122"/>
                <a:ea typeface="Noto Sans SC" panose="020B0200000000000000" charset="-122"/>
                <a:cs typeface="Noto Sans SC" panose="020B0200000000000000" charset="-122"/>
                <a:sym typeface="Noto Sans SC" panose="020B0200000000000000" charset="-122"/>
              </a:rPr>
              <a:t>01. 时序计算模型</a:t>
            </a:r>
            <a:endParaRPr lang="en-US" sz="1100"/>
          </a:p>
        </p:txBody>
      </p:sp>
      <p:sp>
        <p:nvSpPr>
          <p:cNvPr id="14" name="AutoShape 14"/>
          <p:cNvSpPr/>
          <p:nvPr/>
        </p:nvSpPr>
        <p:spPr>
          <a:xfrm>
            <a:off x="4699000" y="2540000"/>
            <a:ext cx="3175000" cy="2286000"/>
          </a:xfrm>
          <a:prstGeom prst="roundRect">
            <a:avLst>
              <a:gd name="adj" fmla="val 0"/>
            </a:avLst>
          </a:prstGeom>
          <a:solidFill>
            <a:srgbClr val="3498DB">
              <a:alpha val="8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4953000" y="2921000"/>
            <a:ext cx="152400" cy="152400"/>
          </a:xfrm>
          <a:prstGeom prst="ellipse">
            <a:avLst/>
          </a:prstGeom>
          <a:solidFill>
            <a:srgbClr val="3498D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5207000" y="2857500"/>
            <a:ext cx="2540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3498DB"/>
                </a:solidFill>
                <a:latin typeface="Noto Sans SC" panose="020B0200000000000000" charset="-122"/>
                <a:ea typeface="Noto Sans SC" panose="020B0200000000000000" charset="-122"/>
                <a:cs typeface="Noto Sans SC" panose="020B0200000000000000" charset="-122"/>
                <a:sym typeface="Noto Sans SC" panose="020B0200000000000000" charset="-122"/>
              </a:rPr>
              <a:t>Entry (T1): 触发探针</a:t>
            </a:r>
            <a:endParaRPr lang="en-US" sz="1100"/>
          </a:p>
          <a:p>
            <a:pPr marL="0" indent="0" algn="l">
              <a:lnSpc>
                <a:spcPct val="125000"/>
              </a:lnSpc>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记录指令指针(RIP)与硬件时间戳。</a:t>
            </a:r>
            <a:endPar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7" name="Connector 17"/>
          <p:cNvCxnSpPr/>
          <p:nvPr/>
        </p:nvCxnSpPr>
        <p:spPr>
          <a:xfrm rot="5314073">
            <a:off x="4775200" y="3930729"/>
            <a:ext cx="508000" cy="12700"/>
          </a:xfrm>
          <a:prstGeom prst="line">
            <a:avLst/>
          </a:prstGeom>
          <a:solidFill>
            <a:srgbClr val="DEE0E3">
              <a:alpha val="100000"/>
            </a:srgbClr>
          </a:solidFill>
          <a:ln w="25400" cap="flat" cmpd="sng">
            <a:solidFill>
              <a:srgbClr val="C8C8C8">
                <a:alpha val="100000"/>
              </a:srgbClr>
            </a:solidFill>
            <a:prstDash val="dot"/>
            <a:round/>
            <a:headEnd type="none" w="lg" len="lg"/>
            <a:tailEnd type="none" w="lg" len="lg"/>
          </a:ln>
        </p:spPr>
      </p:cxnSp>
      <p:sp>
        <p:nvSpPr>
          <p:cNvPr id="18" name="AutoShape 18"/>
          <p:cNvSpPr/>
          <p:nvPr/>
        </p:nvSpPr>
        <p:spPr>
          <a:xfrm>
            <a:off x="4953000" y="4254500"/>
            <a:ext cx="152400" cy="152400"/>
          </a:xfrm>
          <a:prstGeom prst="ellipse">
            <a:avLst/>
          </a:prstGeom>
          <a:solidFill>
            <a:srgbClr val="27AE60">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5207000" y="4191000"/>
            <a:ext cx="2540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Return (T2): 拦截返回</a:t>
            </a:r>
            <a:endParaRPr lang="en-US" sz="1100"/>
          </a:p>
          <a:p>
            <a:pPr marL="0" indent="0" algn="l">
              <a:lnSpc>
                <a:spcPct val="125000"/>
              </a:lnSpc>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计算差值：Duration = T2 - T1。</a:t>
            </a:r>
            <a:endPar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4699000" y="5334000"/>
            <a:ext cx="3175000" cy="889000"/>
          </a:xfrm>
          <a:prstGeom prst="roundRect">
            <a:avLst>
              <a:gd name="adj" fmla="val 0"/>
            </a:avLst>
          </a:prstGeom>
          <a:solidFill>
            <a:srgbClr val="EBF5FB">
              <a:alpha val="100000"/>
            </a:srgbClr>
          </a:solidFill>
          <a:ln w="12700" cap="flat" cmpd="sng">
            <a:solidFill>
              <a:srgbClr val="3498DB">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1" name="AutoShape 21"/>
          <p:cNvSpPr/>
          <p:nvPr/>
        </p:nvSpPr>
        <p:spPr>
          <a:xfrm>
            <a:off x="4826000" y="5461000"/>
            <a:ext cx="2921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纳秒级精度消除了系统调用开销影响，真实反映函数执行周期。</a:t>
            </a:r>
            <a:endParaRPr lang="en-US" sz="1100"/>
          </a:p>
        </p:txBody>
      </p:sp>
      <p:cxnSp>
        <p:nvCxnSpPr>
          <p:cNvPr id="22" name="Connector 22"/>
          <p:cNvCxnSpPr/>
          <p:nvPr/>
        </p:nvCxnSpPr>
        <p:spPr>
          <a:xfrm rot="5390450">
            <a:off x="5842000" y="3930659"/>
            <a:ext cx="45720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23" name="AutoShape 23"/>
          <p:cNvSpPr/>
          <p:nvPr/>
        </p:nvSpPr>
        <p:spPr>
          <a:xfrm>
            <a:off x="8382000" y="1651000"/>
            <a:ext cx="3302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0A3D62"/>
                </a:solidFill>
                <a:latin typeface="Noto Sans SC" panose="020B0200000000000000" charset="-122"/>
                <a:ea typeface="Noto Sans SC" panose="020B0200000000000000" charset="-122"/>
                <a:cs typeface="Noto Sans SC" panose="020B0200000000000000" charset="-122"/>
                <a:sym typeface="Noto Sans SC" panose="020B0200000000000000" charset="-122"/>
              </a:rPr>
              <a:t>02. Shadow Stack 机制</a:t>
            </a:r>
            <a:endParaRPr lang="en-US" sz="1100"/>
          </a:p>
        </p:txBody>
      </p:sp>
      <p:sp>
        <p:nvSpPr>
          <p:cNvPr id="24" name="AutoShape 24"/>
          <p:cNvSpPr/>
          <p:nvPr/>
        </p:nvSpPr>
        <p:spPr>
          <a:xfrm>
            <a:off x="8382000" y="2540000"/>
            <a:ext cx="3302000" cy="2286000"/>
          </a:xfrm>
          <a:prstGeom prst="roundRect">
            <a:avLst>
              <a:gd name="adj" fmla="val 0"/>
            </a:avLst>
          </a:prstGeom>
          <a:solidFill>
            <a:srgbClr val="27AE60">
              <a:alpha val="8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5" name="AutoShape 25"/>
          <p:cNvSpPr/>
          <p:nvPr/>
        </p:nvSpPr>
        <p:spPr>
          <a:xfrm>
            <a:off x="8636000" y="4191000"/>
            <a:ext cx="2794000" cy="444500"/>
          </a:xfrm>
          <a:prstGeom prst="roundRect">
            <a:avLst>
              <a:gd name="adj" fmla="val 0"/>
            </a:avLst>
          </a:prstGeom>
          <a:solidFill>
            <a:srgbClr val="3498DB">
              <a:alpha val="6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6" name="AutoShape 26"/>
          <p:cNvSpPr/>
          <p:nvPr/>
        </p:nvSpPr>
        <p:spPr>
          <a:xfrm>
            <a:off x="8636000" y="4254500"/>
            <a:ext cx="2794000" cy="3175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Stack: Push Entry Context (RIP)</a:t>
            </a:r>
            <a:endParaRPr lang="en-US" sz="1100"/>
          </a:p>
        </p:txBody>
      </p:sp>
      <p:sp>
        <p:nvSpPr>
          <p:cNvPr id="27" name="AutoShape 27"/>
          <p:cNvSpPr/>
          <p:nvPr/>
        </p:nvSpPr>
        <p:spPr>
          <a:xfrm>
            <a:off x="8636000" y="3429000"/>
            <a:ext cx="2794000" cy="444500"/>
          </a:xfrm>
          <a:prstGeom prst="roundRect">
            <a:avLst>
              <a:gd name="adj" fmla="val 0"/>
            </a:avLst>
          </a:prstGeom>
          <a:solidFill>
            <a:srgbClr val="27AE60">
              <a:alpha val="6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8" name="AutoShape 28"/>
          <p:cNvSpPr/>
          <p:nvPr/>
        </p:nvSpPr>
        <p:spPr>
          <a:xfrm>
            <a:off x="8636000" y="3492500"/>
            <a:ext cx="2794000" cy="3175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Check: Pop &amp; Match Return Addr</a:t>
            </a:r>
            <a:endParaRPr lang="en-US" sz="1100"/>
          </a:p>
        </p:txBody>
      </p:sp>
      <p:cxnSp>
        <p:nvCxnSpPr>
          <p:cNvPr id="29" name="Connector 29"/>
          <p:cNvCxnSpPr/>
          <p:nvPr/>
        </p:nvCxnSpPr>
        <p:spPr>
          <a:xfrm rot="5228255">
            <a:off x="10414000" y="3168809"/>
            <a:ext cx="254000" cy="12700"/>
          </a:xfrm>
          <a:prstGeom prst="line">
            <a:avLst/>
          </a:prstGeom>
          <a:solidFill>
            <a:srgbClr val="DEE0E3">
              <a:alpha val="100000"/>
            </a:srgbClr>
          </a:solidFill>
          <a:ln w="25400" cap="flat" cmpd="sng">
            <a:solidFill>
              <a:srgbClr val="27AE60">
                <a:alpha val="100000"/>
              </a:srgbClr>
            </a:solidFill>
            <a:prstDash val="solid"/>
            <a:round/>
            <a:headEnd type="none" w="lg" len="lg"/>
            <a:tailEnd type="arrow" w="sm" len="sm"/>
          </a:ln>
        </p:spPr>
      </p:cxnSp>
      <p:sp>
        <p:nvSpPr>
          <p:cNvPr id="30" name="AutoShape 30"/>
          <p:cNvSpPr/>
          <p:nvPr/>
        </p:nvSpPr>
        <p:spPr>
          <a:xfrm>
            <a:off x="8382000" y="2667000"/>
            <a:ext cx="2032000" cy="317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0"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 严格校验调用一致性</a:t>
            </a:r>
            <a:endParaRPr lang="en-US" sz="1100"/>
          </a:p>
        </p:txBody>
      </p:sp>
      <p:sp>
        <p:nvSpPr>
          <p:cNvPr id="31" name="AutoShape 31"/>
          <p:cNvSpPr/>
          <p:nvPr/>
        </p:nvSpPr>
        <p:spPr>
          <a:xfrm>
            <a:off x="8382000" y="5334000"/>
            <a:ext cx="3302000" cy="889000"/>
          </a:xfrm>
          <a:prstGeom prst="roundRect">
            <a:avLst>
              <a:gd name="adj" fmla="val 0"/>
            </a:avLst>
          </a:prstGeom>
          <a:solidFill>
            <a:srgbClr val="E9F7EF">
              <a:alpha val="100000"/>
            </a:srgbClr>
          </a:solidFill>
          <a:ln w="12700" cap="flat" cmpd="sng">
            <a:solidFill>
              <a:srgbClr val="27AE60">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2" name="AutoShape 32"/>
          <p:cNvSpPr/>
          <p:nvPr/>
        </p:nvSpPr>
        <p:spPr>
          <a:xfrm>
            <a:off x="8509000" y="5461000"/>
            <a:ext cx="3048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影子栈独立于普通数据栈，仅存储返回地址。当发生Ret指令时，若地址不匹配则触发异常阻断。</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多线程与稳定性设计</a:t>
            </a:r>
            <a:endParaRPr lang="en-US" sz="1100"/>
          </a:p>
        </p:txBody>
      </p:sp>
      <p:cxnSp>
        <p:nvCxnSpPr>
          <p:cNvPr id="3" name="Connector 3"/>
          <p:cNvCxnSpPr/>
          <p:nvPr/>
        </p:nvCxnSpPr>
        <p:spPr>
          <a:xfrm rot="-3906">
            <a:off x="508004" y="1136650"/>
            <a:ext cx="11176000" cy="12700"/>
          </a:xfrm>
          <a:prstGeom prst="straightConnector1">
            <a:avLst/>
          </a:prstGeom>
          <a:solidFill>
            <a:srgbClr val="DEE0E3">
              <a:alpha val="100000"/>
            </a:srgbClr>
          </a:solidFill>
          <a:ln w="12700" cap="flat" cmpd="sng">
            <a:solidFill>
              <a:srgbClr val="0A2463">
                <a:alpha val="15000"/>
              </a:srgbClr>
            </a:solidFill>
            <a:prstDash val="solid"/>
            <a:round/>
            <a:headEnd type="none" w="med" len="med"/>
            <a:tailEnd type="none" w="med" len="med"/>
          </a:ln>
        </p:spPr>
      </p:cxnSp>
      <p:sp>
        <p:nvSpPr>
          <p:cNvPr id="4" name="AutoShape 4"/>
          <p:cNvSpPr/>
          <p:nvPr/>
        </p:nvSpPr>
        <p:spPr>
          <a:xfrm>
            <a:off x="508000" y="1651000"/>
            <a:ext cx="5524500" cy="2222500"/>
          </a:xfrm>
          <a:prstGeom prst="roundRect">
            <a:avLst>
              <a:gd name="adj" fmla="val 0"/>
            </a:avLst>
          </a:prstGeom>
          <a:solidFill>
            <a:srgbClr val="FFFFFF">
              <a:alpha val="100000"/>
            </a:srgbClr>
          </a:solidFill>
          <a:ln w="12700" cap="flat" cmpd="sng">
            <a:solidFill>
              <a:srgbClr val="3E97FF">
                <a:alpha val="4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508000" y="1651000"/>
            <a:ext cx="5524500" cy="76200"/>
          </a:xfrm>
          <a:prstGeom prst="roundRect">
            <a:avLst>
              <a:gd name="adj" fmla="val 0"/>
            </a:avLst>
          </a:prstGeom>
          <a:solidFill>
            <a:srgbClr val="3E97FF">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762000" y="1968500"/>
            <a:ext cx="711200" cy="711200"/>
          </a:xfrm>
          <a:prstGeom prst="roundRect">
            <a:avLst>
              <a:gd name="adj" fmla="val 0"/>
            </a:avLst>
          </a:prstGeom>
          <a:solidFill>
            <a:srgbClr val="3E97FF">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1"/>
          <a:srcRect/>
          <a:stretch>
            <a:fillRect/>
          </a:stretch>
        </p:blipFill>
        <p:spPr>
          <a:xfrm>
            <a:off x="863600" y="2070100"/>
            <a:ext cx="508000" cy="508000"/>
          </a:xfrm>
          <a:prstGeom prst="rect">
            <a:avLst/>
          </a:prstGeom>
          <a:ln w="12700">
            <a:noFill/>
            <a:prstDash val="solid"/>
          </a:ln>
        </p:spPr>
      </p:pic>
      <p:sp>
        <p:nvSpPr>
          <p:cNvPr id="8" name="AutoShape 8"/>
          <p:cNvSpPr/>
          <p:nvPr/>
        </p:nvSpPr>
        <p:spPr>
          <a:xfrm>
            <a:off x="1778000" y="1905000"/>
            <a:ext cx="4000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暂停所有线程后 Patch 机制</a:t>
            </a:r>
            <a:endParaRPr lang="en-US" sz="1100"/>
          </a:p>
        </p:txBody>
      </p:sp>
      <p:cxnSp>
        <p:nvCxnSpPr>
          <p:cNvPr id="9" name="Connector 9"/>
          <p:cNvCxnSpPr/>
          <p:nvPr/>
        </p:nvCxnSpPr>
        <p:spPr>
          <a:xfrm rot="-10913">
            <a:off x="1778010" y="2533650"/>
            <a:ext cx="4000500" cy="12700"/>
          </a:xfrm>
          <a:prstGeom prst="straightConnector1">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10" name="AutoShape 10"/>
          <p:cNvSpPr/>
          <p:nvPr/>
        </p:nvSpPr>
        <p:spPr>
          <a:xfrm>
            <a:off x="1778000" y="2667000"/>
            <a:ext cx="40005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300" b="0" i="0" u="none" strike="noStrike">
                <a:solidFill>
                  <a:srgbClr val="555B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在进行热更新时，首先原子化暂停所有工作线程，消除执行流的不确定性，从根本上避免了Patch过程中因指令交错执行引发的竞态条件与内存不一致问题。</a:t>
            </a:r>
            <a:endParaRPr lang="en-US" sz="1100"/>
          </a:p>
        </p:txBody>
      </p:sp>
      <p:sp>
        <p:nvSpPr>
          <p:cNvPr id="11" name="AutoShape 11"/>
          <p:cNvSpPr/>
          <p:nvPr/>
        </p:nvSpPr>
        <p:spPr>
          <a:xfrm>
            <a:off x="6159500" y="1651000"/>
            <a:ext cx="5524500" cy="2222500"/>
          </a:xfrm>
          <a:prstGeom prst="roundRect">
            <a:avLst>
              <a:gd name="adj" fmla="val 0"/>
            </a:avLst>
          </a:prstGeom>
          <a:solidFill>
            <a:srgbClr val="FFFFFF">
              <a:alpha val="100000"/>
            </a:srgbClr>
          </a:solidFill>
          <a:ln w="12700" cap="flat" cmpd="sng">
            <a:solidFill>
              <a:srgbClr val="48C774">
                <a:alpha val="4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6159500" y="1651000"/>
            <a:ext cx="5524500" cy="76200"/>
          </a:xfrm>
          <a:prstGeom prst="roundRect">
            <a:avLst>
              <a:gd name="adj" fmla="val 0"/>
            </a:avLst>
          </a:prstGeom>
          <a:solidFill>
            <a:srgbClr val="48C774">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6413500" y="1968500"/>
            <a:ext cx="711200" cy="711200"/>
          </a:xfrm>
          <a:prstGeom prst="roundRect">
            <a:avLst>
              <a:gd name="adj" fmla="val 0"/>
            </a:avLst>
          </a:prstGeom>
          <a:solidFill>
            <a:srgbClr val="48C774">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2"/>
          <a:srcRect/>
          <a:stretch>
            <a:fillRect/>
          </a:stretch>
        </p:blipFill>
        <p:spPr>
          <a:xfrm>
            <a:off x="6515100" y="2070100"/>
            <a:ext cx="508000" cy="508000"/>
          </a:xfrm>
          <a:prstGeom prst="rect">
            <a:avLst/>
          </a:prstGeom>
          <a:ln w="12700">
            <a:noFill/>
            <a:prstDash val="solid"/>
          </a:ln>
        </p:spPr>
      </p:pic>
      <p:sp>
        <p:nvSpPr>
          <p:cNvPr id="15" name="AutoShape 15"/>
          <p:cNvSpPr/>
          <p:nvPr/>
        </p:nvSpPr>
        <p:spPr>
          <a:xfrm>
            <a:off x="7429500" y="1905000"/>
            <a:ext cx="4000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每线程独立 Shadow Stack 隔离</a:t>
            </a:r>
            <a:endParaRPr lang="en-US" sz="1100"/>
          </a:p>
        </p:txBody>
      </p:sp>
      <p:cxnSp>
        <p:nvCxnSpPr>
          <p:cNvPr id="16" name="Connector 16"/>
          <p:cNvCxnSpPr/>
          <p:nvPr/>
        </p:nvCxnSpPr>
        <p:spPr>
          <a:xfrm rot="-10913">
            <a:off x="7429510" y="2533650"/>
            <a:ext cx="4000500" cy="12700"/>
          </a:xfrm>
          <a:prstGeom prst="straightConnector1">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17" name="AutoShape 17"/>
          <p:cNvSpPr/>
          <p:nvPr/>
        </p:nvSpPr>
        <p:spPr>
          <a:xfrm>
            <a:off x="7429500" y="2667000"/>
            <a:ext cx="40005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300" b="0" i="0" u="none" strike="noStrike">
                <a:solidFill>
                  <a:srgbClr val="555B66"/>
                </a:solidFill>
                <a:latin typeface="Noto Sans SC" panose="020B0200000000000000" charset="-122"/>
                <a:ea typeface="Noto Sans SC" panose="020B0200000000000000" charset="-122"/>
                <a:cs typeface="Noto Sans SC" panose="020B0200000000000000" charset="-122"/>
                <a:sym typeface="Noto Sans SC" panose="020B0200000000000000" charset="-122"/>
              </a:rPr>
              <a:t>为每个线程分配独立的影子栈结构，严格隔离线程上下文数据。有效防止栈溢出攻击及线程间的栈数据污染，确保函数调用栈的完整性与执行安全性。</a:t>
            </a:r>
            <a:endParaRPr lang="en-US" sz="1100"/>
          </a:p>
        </p:txBody>
      </p:sp>
      <p:sp>
        <p:nvSpPr>
          <p:cNvPr id="18" name="AutoShape 18"/>
          <p:cNvSpPr/>
          <p:nvPr/>
        </p:nvSpPr>
        <p:spPr>
          <a:xfrm>
            <a:off x="508000" y="4191000"/>
            <a:ext cx="5524500" cy="2222500"/>
          </a:xfrm>
          <a:prstGeom prst="roundRect">
            <a:avLst>
              <a:gd name="adj" fmla="val 0"/>
            </a:avLst>
          </a:prstGeom>
          <a:solidFill>
            <a:srgbClr val="FFFFFF">
              <a:alpha val="100000"/>
            </a:srgbClr>
          </a:solidFill>
          <a:ln w="12700" cap="flat" cmpd="sng">
            <a:solidFill>
              <a:srgbClr val="FFDD57">
                <a:alpha val="6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508000" y="4191000"/>
            <a:ext cx="5524500" cy="76200"/>
          </a:xfrm>
          <a:prstGeom prst="roundRect">
            <a:avLst>
              <a:gd name="adj" fmla="val 0"/>
            </a:avLst>
          </a:prstGeom>
          <a:solidFill>
            <a:srgbClr val="F59E0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0" name="AutoShape 20"/>
          <p:cNvSpPr/>
          <p:nvPr/>
        </p:nvSpPr>
        <p:spPr>
          <a:xfrm>
            <a:off x="762000" y="4508500"/>
            <a:ext cx="711200" cy="711200"/>
          </a:xfrm>
          <a:prstGeom prst="roundRect">
            <a:avLst>
              <a:gd name="adj" fmla="val 0"/>
            </a:avLst>
          </a:prstGeom>
          <a:solidFill>
            <a:srgbClr val="F59E0B">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1" name="Picture 21"/>
          <p:cNvPicPr>
            <a:picLocks noChangeAspect="1"/>
          </p:cNvPicPr>
          <p:nvPr/>
        </p:nvPicPr>
        <p:blipFill>
          <a:blip r:embed="rId3"/>
          <a:srcRect/>
          <a:stretch>
            <a:fillRect/>
          </a:stretch>
        </p:blipFill>
        <p:spPr>
          <a:xfrm>
            <a:off x="863600" y="4610100"/>
            <a:ext cx="508000" cy="508000"/>
          </a:xfrm>
          <a:prstGeom prst="rect">
            <a:avLst/>
          </a:prstGeom>
          <a:ln w="12700">
            <a:noFill/>
            <a:prstDash val="solid"/>
          </a:ln>
        </p:spPr>
      </p:pic>
      <p:sp>
        <p:nvSpPr>
          <p:cNvPr id="22" name="AutoShape 22"/>
          <p:cNvSpPr/>
          <p:nvPr/>
        </p:nvSpPr>
        <p:spPr>
          <a:xfrm>
            <a:off x="1778000" y="4445000"/>
            <a:ext cx="4000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高频信号压力测试验证</a:t>
            </a:r>
            <a:endParaRPr lang="en-US" sz="1100"/>
          </a:p>
        </p:txBody>
      </p:sp>
      <p:cxnSp>
        <p:nvCxnSpPr>
          <p:cNvPr id="23" name="Connector 23"/>
          <p:cNvCxnSpPr/>
          <p:nvPr/>
        </p:nvCxnSpPr>
        <p:spPr>
          <a:xfrm rot="-10913">
            <a:off x="1778010" y="5073650"/>
            <a:ext cx="4000500" cy="12700"/>
          </a:xfrm>
          <a:prstGeom prst="straightConnector1">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24" name="AutoShape 24"/>
          <p:cNvSpPr/>
          <p:nvPr/>
        </p:nvSpPr>
        <p:spPr>
          <a:xfrm>
            <a:off x="1778000" y="5207000"/>
            <a:ext cx="40005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300" b="0" i="0" u="none" strike="noStrike">
                <a:solidFill>
                  <a:srgbClr val="555B66"/>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构建信号冲击探针，模拟极端并发场景下的高频信号注入。通过在极限压力下的长时间运行，暴露系统在信号处理、线程调度方面的稳定性边界与潜在漏洞。</a:t>
            </a:r>
            <a:endParaRPr lang="en-US" sz="1100"/>
          </a:p>
        </p:txBody>
      </p:sp>
      <p:sp>
        <p:nvSpPr>
          <p:cNvPr id="25" name="AutoShape 25"/>
          <p:cNvSpPr/>
          <p:nvPr/>
        </p:nvSpPr>
        <p:spPr>
          <a:xfrm>
            <a:off x="6159500" y="4191000"/>
            <a:ext cx="5524500" cy="2222500"/>
          </a:xfrm>
          <a:prstGeom prst="roundRect">
            <a:avLst>
              <a:gd name="adj" fmla="val 0"/>
            </a:avLst>
          </a:prstGeom>
          <a:solidFill>
            <a:srgbClr val="FFFFFF">
              <a:alpha val="100000"/>
            </a:srgbClr>
          </a:solidFill>
          <a:ln w="12700" cap="flat" cmpd="sng">
            <a:solidFill>
              <a:srgbClr val="FF7979">
                <a:alpha val="4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6" name="AutoShape 26"/>
          <p:cNvSpPr/>
          <p:nvPr/>
        </p:nvSpPr>
        <p:spPr>
          <a:xfrm>
            <a:off x="6159500" y="4191000"/>
            <a:ext cx="5524500" cy="76200"/>
          </a:xfrm>
          <a:prstGeom prst="roundRect">
            <a:avLst>
              <a:gd name="adj" fmla="val 0"/>
            </a:avLst>
          </a:prstGeom>
          <a:solidFill>
            <a:srgbClr val="FF7979">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AutoShape 27"/>
          <p:cNvSpPr/>
          <p:nvPr/>
        </p:nvSpPr>
        <p:spPr>
          <a:xfrm>
            <a:off x="6413500" y="4508500"/>
            <a:ext cx="711200" cy="711200"/>
          </a:xfrm>
          <a:prstGeom prst="roundRect">
            <a:avLst>
              <a:gd name="adj" fmla="val 0"/>
            </a:avLst>
          </a:prstGeom>
          <a:solidFill>
            <a:srgbClr val="FF7979">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8" name="Picture 28"/>
          <p:cNvPicPr>
            <a:picLocks noChangeAspect="1"/>
          </p:cNvPicPr>
          <p:nvPr/>
        </p:nvPicPr>
        <p:blipFill>
          <a:blip r:embed="rId4"/>
          <a:srcRect/>
          <a:stretch>
            <a:fillRect/>
          </a:stretch>
        </p:blipFill>
        <p:spPr>
          <a:xfrm>
            <a:off x="6515100" y="4610100"/>
            <a:ext cx="508000" cy="508000"/>
          </a:xfrm>
          <a:prstGeom prst="rect">
            <a:avLst/>
          </a:prstGeom>
          <a:ln w="12700">
            <a:noFill/>
            <a:prstDash val="solid"/>
          </a:ln>
        </p:spPr>
      </p:pic>
      <p:sp>
        <p:nvSpPr>
          <p:cNvPr id="29" name="AutoShape 29"/>
          <p:cNvSpPr/>
          <p:nvPr/>
        </p:nvSpPr>
        <p:spPr>
          <a:xfrm>
            <a:off x="7429500" y="4445000"/>
            <a:ext cx="4000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Detach 指令无损回滚机制</a:t>
            </a:r>
            <a:endParaRPr lang="en-US" sz="1100"/>
          </a:p>
        </p:txBody>
      </p:sp>
      <p:cxnSp>
        <p:nvCxnSpPr>
          <p:cNvPr id="30" name="Connector 30"/>
          <p:cNvCxnSpPr/>
          <p:nvPr/>
        </p:nvCxnSpPr>
        <p:spPr>
          <a:xfrm rot="-10913">
            <a:off x="7429510" y="5073650"/>
            <a:ext cx="4000500" cy="12700"/>
          </a:xfrm>
          <a:prstGeom prst="straightConnector1">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31" name="AutoShape 31"/>
          <p:cNvSpPr/>
          <p:nvPr/>
        </p:nvSpPr>
        <p:spPr>
          <a:xfrm>
            <a:off x="7429500" y="5207000"/>
            <a:ext cx="40005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300" b="0" i="0" u="none" strike="noStrike">
                <a:solidFill>
                  <a:srgbClr val="555B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在动态插桩结束后，自动恢复被Patch的原始二进制指令，确保代码段恢复至初始状态。杜绝因指令残留导致的后续执行异常，保障系统生命周期的纯净性。</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174B89"/>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关键技术难点</a:t>
            </a:r>
            <a:endParaRPr lang="en-US" sz="1100"/>
          </a:p>
        </p:txBody>
      </p:sp>
      <p:cxnSp>
        <p:nvCxnSpPr>
          <p:cNvPr id="3" name="Connector 3"/>
          <p:cNvCxnSpPr/>
          <p:nvPr/>
        </p:nvCxnSpPr>
        <p:spPr>
          <a:xfrm rot="-3906">
            <a:off x="508004" y="1390650"/>
            <a:ext cx="11176000" cy="12700"/>
          </a:xfrm>
          <a:prstGeom prst="line">
            <a:avLst/>
          </a:prstGeom>
          <a:solidFill>
            <a:srgbClr val="DEE0E3">
              <a:alpha val="100000"/>
            </a:srgbClr>
          </a:solidFill>
          <a:ln w="12700" cap="flat" cmpd="sng">
            <a:solidFill>
              <a:srgbClr val="174B89">
                <a:alpha val="20000"/>
              </a:srgbClr>
            </a:solidFill>
            <a:prstDash val="solid"/>
            <a:round/>
            <a:headEnd type="none" w="med" len="med"/>
            <a:tailEnd type="none" w="med" len="med"/>
          </a:ln>
        </p:spPr>
      </p:cxnSp>
      <p:sp>
        <p:nvSpPr>
          <p:cNvPr id="4" name="AutoShape 4"/>
          <p:cNvSpPr/>
          <p:nvPr/>
        </p:nvSpPr>
        <p:spPr>
          <a:xfrm>
            <a:off x="508000" y="2032000"/>
            <a:ext cx="2108200" cy="3556000"/>
          </a:xfrm>
          <a:prstGeom prst="roundRect">
            <a:avLst>
              <a:gd name="adj" fmla="val 0"/>
            </a:avLst>
          </a:prstGeom>
          <a:solidFill>
            <a:srgbClr val="FFFFFF">
              <a:alpha val="100000"/>
            </a:srgbClr>
          </a:solidFill>
          <a:ln w="12700" cap="flat" cmpd="sng">
            <a:solidFill>
              <a:srgbClr val="F59E0B">
                <a:alpha val="6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508000" y="2032000"/>
            <a:ext cx="2108200" cy="76200"/>
          </a:xfrm>
          <a:prstGeom prst="roundRect">
            <a:avLst>
              <a:gd name="adj" fmla="val 0"/>
            </a:avLst>
          </a:prstGeom>
          <a:solidFill>
            <a:srgbClr val="F59E0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698500" y="2349500"/>
            <a:ext cx="406400" cy="406400"/>
          </a:xfrm>
          <a:prstGeom prst="rect">
            <a:avLst/>
          </a:prstGeom>
          <a:ln w="12700">
            <a:noFill/>
            <a:prstDash val="solid"/>
          </a:ln>
        </p:spPr>
      </p:pic>
      <p:sp>
        <p:nvSpPr>
          <p:cNvPr id="7" name="AutoShape 7"/>
          <p:cNvSpPr/>
          <p:nvPr/>
        </p:nvSpPr>
        <p:spPr>
          <a:xfrm>
            <a:off x="698500" y="2984500"/>
            <a:ext cx="1727200" cy="762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ASLR/PIE</a:t>
            </a:r>
            <a:b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地址解析</a:t>
            </a:r>
            <a:endParaRPr lang="en-US" sz="1100"/>
          </a:p>
        </p:txBody>
      </p:sp>
      <p:cxnSp>
        <p:nvCxnSpPr>
          <p:cNvPr id="8" name="Connector 8"/>
          <p:cNvCxnSpPr/>
          <p:nvPr/>
        </p:nvCxnSpPr>
        <p:spPr>
          <a:xfrm rot="-25277">
            <a:off x="698523" y="3930650"/>
            <a:ext cx="17272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9" name="AutoShape 9"/>
          <p:cNvSpPr/>
          <p:nvPr/>
        </p:nvSpPr>
        <p:spPr>
          <a:xfrm>
            <a:off x="698500" y="4191000"/>
            <a:ext cx="17272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3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应对地址空间随机化机制，精准定位内存基址，突破动态加载带来的地址模糊屏障，确保寻址准确性。</a:t>
            </a:r>
            <a:endParaRPr lang="en-US" sz="1100"/>
          </a:p>
        </p:txBody>
      </p:sp>
      <p:sp>
        <p:nvSpPr>
          <p:cNvPr id="10" name="AutoShape 10"/>
          <p:cNvSpPr/>
          <p:nvPr/>
        </p:nvSpPr>
        <p:spPr>
          <a:xfrm>
            <a:off x="508000" y="5842000"/>
            <a:ext cx="2108200" cy="558800"/>
          </a:xfrm>
          <a:prstGeom prst="roundRect">
            <a:avLst>
              <a:gd name="adj" fmla="val 0"/>
            </a:avLst>
          </a:prstGeom>
          <a:solidFill>
            <a:srgbClr val="10B981">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508000" y="5943600"/>
            <a:ext cx="21082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技术难点已攻克</a:t>
            </a:r>
            <a:endParaRPr lang="en-US" sz="1100"/>
          </a:p>
        </p:txBody>
      </p:sp>
      <p:sp>
        <p:nvSpPr>
          <p:cNvPr id="12" name="AutoShape 12"/>
          <p:cNvSpPr/>
          <p:nvPr/>
        </p:nvSpPr>
        <p:spPr>
          <a:xfrm>
            <a:off x="2819400" y="2032000"/>
            <a:ext cx="2108200" cy="3556000"/>
          </a:xfrm>
          <a:prstGeom prst="roundRect">
            <a:avLst>
              <a:gd name="adj" fmla="val 0"/>
            </a:avLst>
          </a:prstGeom>
          <a:solidFill>
            <a:srgbClr val="FFFFFF">
              <a:alpha val="100000"/>
            </a:srgbClr>
          </a:solidFill>
          <a:ln w="12700" cap="flat" cmpd="sng">
            <a:solidFill>
              <a:srgbClr val="F59E0B">
                <a:alpha val="6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2819400" y="2032000"/>
            <a:ext cx="2108200" cy="76200"/>
          </a:xfrm>
          <a:prstGeom prst="roundRect">
            <a:avLst>
              <a:gd name="adj" fmla="val 0"/>
            </a:avLst>
          </a:prstGeom>
          <a:solidFill>
            <a:srgbClr val="F59E0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2"/>
          <a:srcRect/>
          <a:stretch>
            <a:fillRect/>
          </a:stretch>
        </p:blipFill>
        <p:spPr>
          <a:xfrm>
            <a:off x="3009900" y="2349500"/>
            <a:ext cx="406400" cy="406400"/>
          </a:xfrm>
          <a:prstGeom prst="rect">
            <a:avLst/>
          </a:prstGeom>
          <a:ln w="12700">
            <a:noFill/>
            <a:prstDash val="solid"/>
          </a:ln>
        </p:spPr>
      </p:pic>
      <p:sp>
        <p:nvSpPr>
          <p:cNvPr id="15" name="AutoShape 15"/>
          <p:cNvSpPr/>
          <p:nvPr/>
        </p:nvSpPr>
        <p:spPr>
          <a:xfrm>
            <a:off x="3009900" y="2984500"/>
            <a:ext cx="1727200" cy="762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ELF</a:t>
            </a:r>
            <a:b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符号解析</a:t>
            </a:r>
            <a:endParaRPr lang="en-US" sz="1100"/>
          </a:p>
        </p:txBody>
      </p:sp>
      <p:cxnSp>
        <p:nvCxnSpPr>
          <p:cNvPr id="16" name="Connector 16"/>
          <p:cNvCxnSpPr/>
          <p:nvPr/>
        </p:nvCxnSpPr>
        <p:spPr>
          <a:xfrm rot="-25277">
            <a:off x="3009923" y="3930650"/>
            <a:ext cx="17272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7" name="AutoShape 17"/>
          <p:cNvSpPr/>
          <p:nvPr/>
        </p:nvSpPr>
        <p:spPr>
          <a:xfrm>
            <a:off x="3009900" y="4191000"/>
            <a:ext cx="17272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3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深度解析复杂的ELF文件符号表结构，完美处理动态链接库与静态符号重定位过程中的各类边界异常情况。</a:t>
            </a:r>
            <a:endParaRPr lang="en-US" sz="1100"/>
          </a:p>
        </p:txBody>
      </p:sp>
      <p:sp>
        <p:nvSpPr>
          <p:cNvPr id="18" name="AutoShape 18"/>
          <p:cNvSpPr/>
          <p:nvPr/>
        </p:nvSpPr>
        <p:spPr>
          <a:xfrm>
            <a:off x="2819400" y="5842000"/>
            <a:ext cx="2108200" cy="558800"/>
          </a:xfrm>
          <a:prstGeom prst="roundRect">
            <a:avLst>
              <a:gd name="adj" fmla="val 0"/>
            </a:avLst>
          </a:prstGeom>
          <a:solidFill>
            <a:srgbClr val="10B981">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2819400" y="5943600"/>
            <a:ext cx="21082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技术难点已攻克</a:t>
            </a:r>
            <a:endParaRPr lang="en-US" sz="1100"/>
          </a:p>
        </p:txBody>
      </p:sp>
      <p:sp>
        <p:nvSpPr>
          <p:cNvPr id="20" name="AutoShape 20"/>
          <p:cNvSpPr/>
          <p:nvPr/>
        </p:nvSpPr>
        <p:spPr>
          <a:xfrm>
            <a:off x="5130800" y="2032000"/>
            <a:ext cx="2108200" cy="3556000"/>
          </a:xfrm>
          <a:prstGeom prst="roundRect">
            <a:avLst>
              <a:gd name="adj" fmla="val 0"/>
            </a:avLst>
          </a:prstGeom>
          <a:solidFill>
            <a:srgbClr val="FFFFFF">
              <a:alpha val="100000"/>
            </a:srgbClr>
          </a:solidFill>
          <a:ln w="12700" cap="flat" cmpd="sng">
            <a:solidFill>
              <a:srgbClr val="F59E0B">
                <a:alpha val="6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1" name="AutoShape 21"/>
          <p:cNvSpPr/>
          <p:nvPr/>
        </p:nvSpPr>
        <p:spPr>
          <a:xfrm>
            <a:off x="5130800" y="2032000"/>
            <a:ext cx="2108200" cy="76200"/>
          </a:xfrm>
          <a:prstGeom prst="roundRect">
            <a:avLst>
              <a:gd name="adj" fmla="val 0"/>
            </a:avLst>
          </a:prstGeom>
          <a:solidFill>
            <a:srgbClr val="F59E0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2" name="Picture 22"/>
          <p:cNvPicPr>
            <a:picLocks noChangeAspect="1"/>
          </p:cNvPicPr>
          <p:nvPr/>
        </p:nvPicPr>
        <p:blipFill>
          <a:blip r:embed="rId3"/>
          <a:srcRect/>
          <a:stretch>
            <a:fillRect/>
          </a:stretch>
        </p:blipFill>
        <p:spPr>
          <a:xfrm>
            <a:off x="5321300" y="2349500"/>
            <a:ext cx="406400" cy="406400"/>
          </a:xfrm>
          <a:prstGeom prst="rect">
            <a:avLst/>
          </a:prstGeom>
          <a:ln w="12700">
            <a:noFill/>
            <a:prstDash val="solid"/>
          </a:ln>
        </p:spPr>
      </p:pic>
      <p:sp>
        <p:nvSpPr>
          <p:cNvPr id="23" name="AutoShape 23"/>
          <p:cNvSpPr/>
          <p:nvPr/>
        </p:nvSpPr>
        <p:spPr>
          <a:xfrm>
            <a:off x="5321300" y="2984500"/>
            <a:ext cx="1727200" cy="762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跨进程</a:t>
            </a:r>
            <a:b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远程 mmap</a:t>
            </a:r>
            <a:endParaRPr lang="en-US" sz="1100"/>
          </a:p>
        </p:txBody>
      </p:sp>
      <p:cxnSp>
        <p:nvCxnSpPr>
          <p:cNvPr id="24" name="Connector 24"/>
          <p:cNvCxnSpPr/>
          <p:nvPr/>
        </p:nvCxnSpPr>
        <p:spPr>
          <a:xfrm rot="-25277">
            <a:off x="5321323" y="3930650"/>
            <a:ext cx="17272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25" name="AutoShape 25"/>
          <p:cNvSpPr/>
          <p:nvPr/>
        </p:nvSpPr>
        <p:spPr>
          <a:xfrm>
            <a:off x="5321300" y="4191000"/>
            <a:ext cx="17272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3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突破进程隔离限制，精细化管控跨进程内存映射的权限与地址分配，解决远程映射的稳定性与一致性难题。</a:t>
            </a:r>
            <a:endParaRPr lang="en-US" sz="1100"/>
          </a:p>
        </p:txBody>
      </p:sp>
      <p:sp>
        <p:nvSpPr>
          <p:cNvPr id="26" name="AutoShape 26"/>
          <p:cNvSpPr/>
          <p:nvPr/>
        </p:nvSpPr>
        <p:spPr>
          <a:xfrm>
            <a:off x="5130800" y="5842000"/>
            <a:ext cx="2108200" cy="558800"/>
          </a:xfrm>
          <a:prstGeom prst="roundRect">
            <a:avLst>
              <a:gd name="adj" fmla="val 0"/>
            </a:avLst>
          </a:prstGeom>
          <a:solidFill>
            <a:srgbClr val="10B981">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AutoShape 27"/>
          <p:cNvSpPr/>
          <p:nvPr/>
        </p:nvSpPr>
        <p:spPr>
          <a:xfrm>
            <a:off x="5130800" y="5943600"/>
            <a:ext cx="21082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技术难点已攻克</a:t>
            </a:r>
            <a:endParaRPr lang="en-US" sz="1100"/>
          </a:p>
        </p:txBody>
      </p:sp>
      <p:sp>
        <p:nvSpPr>
          <p:cNvPr id="28" name="AutoShape 28"/>
          <p:cNvSpPr/>
          <p:nvPr/>
        </p:nvSpPr>
        <p:spPr>
          <a:xfrm>
            <a:off x="7442200" y="2032000"/>
            <a:ext cx="2108200" cy="3556000"/>
          </a:xfrm>
          <a:prstGeom prst="roundRect">
            <a:avLst>
              <a:gd name="adj" fmla="val 0"/>
            </a:avLst>
          </a:prstGeom>
          <a:solidFill>
            <a:srgbClr val="FFFFFF">
              <a:alpha val="100000"/>
            </a:srgbClr>
          </a:solidFill>
          <a:ln w="12700" cap="flat" cmpd="sng">
            <a:solidFill>
              <a:srgbClr val="F59E0B">
                <a:alpha val="6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9" name="AutoShape 29"/>
          <p:cNvSpPr/>
          <p:nvPr/>
        </p:nvSpPr>
        <p:spPr>
          <a:xfrm>
            <a:off x="7442200" y="2032000"/>
            <a:ext cx="2108200" cy="76200"/>
          </a:xfrm>
          <a:prstGeom prst="roundRect">
            <a:avLst>
              <a:gd name="adj" fmla="val 0"/>
            </a:avLst>
          </a:prstGeom>
          <a:solidFill>
            <a:srgbClr val="F59E0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0" name="Picture 30"/>
          <p:cNvPicPr>
            <a:picLocks noChangeAspect="1"/>
          </p:cNvPicPr>
          <p:nvPr/>
        </p:nvPicPr>
        <p:blipFill>
          <a:blip r:embed="rId4"/>
          <a:srcRect/>
          <a:stretch>
            <a:fillRect/>
          </a:stretch>
        </p:blipFill>
        <p:spPr>
          <a:xfrm>
            <a:off x="7632700" y="2349500"/>
            <a:ext cx="406400" cy="406400"/>
          </a:xfrm>
          <a:prstGeom prst="rect">
            <a:avLst/>
          </a:prstGeom>
          <a:ln w="12700">
            <a:noFill/>
            <a:prstDash val="solid"/>
          </a:ln>
        </p:spPr>
      </p:pic>
      <p:sp>
        <p:nvSpPr>
          <p:cNvPr id="31" name="AutoShape 31"/>
          <p:cNvSpPr/>
          <p:nvPr/>
        </p:nvSpPr>
        <p:spPr>
          <a:xfrm>
            <a:off x="7632700" y="2984500"/>
            <a:ext cx="1727200" cy="762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x86_64</a:t>
            </a:r>
            <a:b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指令长度解析</a:t>
            </a:r>
            <a:endParaRPr lang="en-US" sz="1100"/>
          </a:p>
        </p:txBody>
      </p:sp>
      <p:cxnSp>
        <p:nvCxnSpPr>
          <p:cNvPr id="32" name="Connector 32"/>
          <p:cNvCxnSpPr/>
          <p:nvPr/>
        </p:nvCxnSpPr>
        <p:spPr>
          <a:xfrm rot="-25277">
            <a:off x="7632723" y="3930650"/>
            <a:ext cx="17272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33" name="AutoShape 33"/>
          <p:cNvSpPr/>
          <p:nvPr/>
        </p:nvSpPr>
        <p:spPr>
          <a:xfrm>
            <a:off x="7632700" y="4191000"/>
            <a:ext cx="17272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3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攻克变长指令集的动态解码难题，智能识别指令边界，有效应对多态指令变形与混淆技术带来的解析挑战。</a:t>
            </a:r>
            <a:endParaRPr lang="en-US" sz="1100"/>
          </a:p>
        </p:txBody>
      </p:sp>
      <p:sp>
        <p:nvSpPr>
          <p:cNvPr id="34" name="AutoShape 34"/>
          <p:cNvSpPr/>
          <p:nvPr/>
        </p:nvSpPr>
        <p:spPr>
          <a:xfrm>
            <a:off x="7442200" y="5842000"/>
            <a:ext cx="2108200" cy="558800"/>
          </a:xfrm>
          <a:prstGeom prst="roundRect">
            <a:avLst>
              <a:gd name="adj" fmla="val 0"/>
            </a:avLst>
          </a:prstGeom>
          <a:solidFill>
            <a:srgbClr val="10B981">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5" name="AutoShape 35"/>
          <p:cNvSpPr/>
          <p:nvPr/>
        </p:nvSpPr>
        <p:spPr>
          <a:xfrm>
            <a:off x="7442200" y="5943600"/>
            <a:ext cx="21082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技术难点已攻克</a:t>
            </a:r>
            <a:endParaRPr lang="en-US" sz="1100"/>
          </a:p>
        </p:txBody>
      </p:sp>
      <p:sp>
        <p:nvSpPr>
          <p:cNvPr id="36" name="AutoShape 36"/>
          <p:cNvSpPr/>
          <p:nvPr/>
        </p:nvSpPr>
        <p:spPr>
          <a:xfrm>
            <a:off x="9753600" y="2032000"/>
            <a:ext cx="2108200" cy="3556000"/>
          </a:xfrm>
          <a:prstGeom prst="roundRect">
            <a:avLst>
              <a:gd name="adj" fmla="val 0"/>
            </a:avLst>
          </a:prstGeom>
          <a:solidFill>
            <a:srgbClr val="FFFFFF">
              <a:alpha val="100000"/>
            </a:srgbClr>
          </a:solidFill>
          <a:ln w="12700" cap="flat" cmpd="sng">
            <a:solidFill>
              <a:srgbClr val="F59E0B">
                <a:alpha val="6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7" name="AutoShape 37"/>
          <p:cNvSpPr/>
          <p:nvPr/>
        </p:nvSpPr>
        <p:spPr>
          <a:xfrm>
            <a:off x="9753600" y="2032000"/>
            <a:ext cx="2108200" cy="76200"/>
          </a:xfrm>
          <a:prstGeom prst="roundRect">
            <a:avLst>
              <a:gd name="adj" fmla="val 0"/>
            </a:avLst>
          </a:prstGeom>
          <a:solidFill>
            <a:srgbClr val="F59E0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8" name="Picture 38"/>
          <p:cNvPicPr>
            <a:picLocks noChangeAspect="1"/>
          </p:cNvPicPr>
          <p:nvPr/>
        </p:nvPicPr>
        <p:blipFill>
          <a:blip r:embed="rId5"/>
          <a:srcRect/>
          <a:stretch>
            <a:fillRect/>
          </a:stretch>
        </p:blipFill>
        <p:spPr>
          <a:xfrm>
            <a:off x="9944100" y="2349500"/>
            <a:ext cx="406400" cy="406400"/>
          </a:xfrm>
          <a:prstGeom prst="rect">
            <a:avLst/>
          </a:prstGeom>
          <a:ln w="12700">
            <a:noFill/>
            <a:prstDash val="solid"/>
          </a:ln>
        </p:spPr>
      </p:pic>
      <p:sp>
        <p:nvSpPr>
          <p:cNvPr id="39" name="AutoShape 39"/>
          <p:cNvSpPr/>
          <p:nvPr/>
        </p:nvSpPr>
        <p:spPr>
          <a:xfrm>
            <a:off x="9944100" y="2984500"/>
            <a:ext cx="1727200" cy="762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IFUNC</a:t>
            </a:r>
            <a:b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动态函数处理</a:t>
            </a:r>
            <a:endParaRPr lang="en-US" sz="1100"/>
          </a:p>
        </p:txBody>
      </p:sp>
      <p:cxnSp>
        <p:nvCxnSpPr>
          <p:cNvPr id="40" name="Connector 40"/>
          <p:cNvCxnSpPr/>
          <p:nvPr/>
        </p:nvCxnSpPr>
        <p:spPr>
          <a:xfrm rot="-25277">
            <a:off x="9944123" y="3930650"/>
            <a:ext cx="17272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41" name="AutoShape 41"/>
          <p:cNvSpPr/>
          <p:nvPr/>
        </p:nvSpPr>
        <p:spPr>
          <a:xfrm>
            <a:off x="9944100" y="4191000"/>
            <a:ext cx="17272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3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深入解析动态函数解析机制，精准处理运行时函数地址的延迟绑定逻辑，适配多架构下的函数动态选择策略。</a:t>
            </a:r>
            <a:endParaRPr lang="en-US" sz="1100"/>
          </a:p>
        </p:txBody>
      </p:sp>
      <p:sp>
        <p:nvSpPr>
          <p:cNvPr id="42" name="AutoShape 42"/>
          <p:cNvSpPr/>
          <p:nvPr/>
        </p:nvSpPr>
        <p:spPr>
          <a:xfrm>
            <a:off x="9753600" y="5842000"/>
            <a:ext cx="2108200" cy="558800"/>
          </a:xfrm>
          <a:prstGeom prst="roundRect">
            <a:avLst>
              <a:gd name="adj" fmla="val 0"/>
            </a:avLst>
          </a:prstGeom>
          <a:solidFill>
            <a:srgbClr val="10B981">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3" name="AutoShape 43"/>
          <p:cNvSpPr/>
          <p:nvPr/>
        </p:nvSpPr>
        <p:spPr>
          <a:xfrm>
            <a:off x="9753600" y="5943600"/>
            <a:ext cx="21082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技术难点已攻克</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测试验证</a:t>
            </a:r>
            <a:endParaRPr lang="en-US" sz="1100"/>
          </a:p>
        </p:txBody>
      </p:sp>
      <p:sp>
        <p:nvSpPr>
          <p:cNvPr id="3" name="AutoShape 3"/>
          <p:cNvSpPr/>
          <p:nvPr/>
        </p:nvSpPr>
        <p:spPr>
          <a:xfrm>
            <a:off x="508000" y="1079500"/>
            <a:ext cx="11176000" cy="25400"/>
          </a:xfrm>
          <a:prstGeom prst="roundRect">
            <a:avLst>
              <a:gd name="adj" fmla="val 0"/>
            </a:avLst>
          </a:prstGeom>
          <a:solidFill>
            <a:srgbClr val="0A2463">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508000" y="1397000"/>
            <a:ext cx="2667000" cy="2159000"/>
          </a:xfrm>
          <a:prstGeom prst="roundRect">
            <a:avLst>
              <a:gd name="adj" fmla="val 0"/>
            </a:avLst>
          </a:prstGeom>
          <a:solidFill>
            <a:srgbClr val="FFFFFF">
              <a:alpha val="100000"/>
            </a:srgbClr>
          </a:solidFill>
          <a:ln w="12700" cap="flat" cmpd="sng">
            <a:solidFill>
              <a:srgbClr val="0A2463">
                <a:alpha val="8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508000" y="1397000"/>
            <a:ext cx="2667000" cy="508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698500" y="1651000"/>
            <a:ext cx="304800" cy="304800"/>
          </a:xfrm>
          <a:prstGeom prst="rect">
            <a:avLst/>
          </a:prstGeom>
          <a:ln w="12700">
            <a:noFill/>
            <a:prstDash val="solid"/>
          </a:ln>
        </p:spPr>
      </p:pic>
      <p:sp>
        <p:nvSpPr>
          <p:cNvPr id="7" name="AutoShape 7"/>
          <p:cNvSpPr/>
          <p:nvPr/>
        </p:nvSpPr>
        <p:spPr>
          <a:xfrm>
            <a:off x="1143000" y="1612900"/>
            <a:ext cx="1905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基础函数测试</a:t>
            </a:r>
            <a:endParaRPr lang="en-US" sz="1100"/>
          </a:p>
        </p:txBody>
      </p:sp>
      <p:cxnSp>
        <p:nvCxnSpPr>
          <p:cNvPr id="8" name="Connector 8"/>
          <p:cNvCxnSpPr/>
          <p:nvPr/>
        </p:nvCxnSpPr>
        <p:spPr>
          <a:xfrm rot="-19098">
            <a:off x="698518" y="2152650"/>
            <a:ext cx="2286000" cy="12700"/>
          </a:xfrm>
          <a:prstGeom prst="line">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9" name="AutoShape 9"/>
          <p:cNvSpPr/>
          <p:nvPr/>
        </p:nvSpPr>
        <p:spPr>
          <a:xfrm>
            <a:off x="635000" y="2286000"/>
            <a:ext cx="24130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全面验证 getpid、malloc、strlen、write 等核心系统调用。重点检查参数传递逻辑与返回值的准确性，确保基础接口无异常报错。</a:t>
            </a:r>
            <a:endParaRPr lang="en-US" sz="1100"/>
          </a:p>
        </p:txBody>
      </p:sp>
      <p:sp>
        <p:nvSpPr>
          <p:cNvPr id="10" name="AutoShape 10"/>
          <p:cNvSpPr/>
          <p:nvPr/>
        </p:nvSpPr>
        <p:spPr>
          <a:xfrm>
            <a:off x="3302000" y="1397000"/>
            <a:ext cx="2667000" cy="2159000"/>
          </a:xfrm>
          <a:prstGeom prst="roundRect">
            <a:avLst>
              <a:gd name="adj" fmla="val 0"/>
            </a:avLst>
          </a:prstGeom>
          <a:solidFill>
            <a:srgbClr val="FFFFFF">
              <a:alpha val="100000"/>
            </a:srgbClr>
          </a:solidFill>
          <a:ln w="12700" cap="flat" cmpd="sng">
            <a:solidFill>
              <a:srgbClr val="0A2463">
                <a:alpha val="8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3302000" y="1397000"/>
            <a:ext cx="2667000" cy="508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2" name="Picture 12"/>
          <p:cNvPicPr>
            <a:picLocks noChangeAspect="1"/>
          </p:cNvPicPr>
          <p:nvPr/>
        </p:nvPicPr>
        <p:blipFill>
          <a:blip r:embed="rId1"/>
          <a:srcRect/>
          <a:stretch>
            <a:fillRect/>
          </a:stretch>
        </p:blipFill>
        <p:spPr>
          <a:xfrm>
            <a:off x="3492500" y="1651000"/>
            <a:ext cx="304800" cy="304800"/>
          </a:xfrm>
          <a:prstGeom prst="rect">
            <a:avLst/>
          </a:prstGeom>
          <a:ln w="12700">
            <a:noFill/>
            <a:prstDash val="solid"/>
          </a:ln>
        </p:spPr>
      </p:pic>
      <p:sp>
        <p:nvSpPr>
          <p:cNvPr id="13" name="AutoShape 13"/>
          <p:cNvSpPr/>
          <p:nvPr/>
        </p:nvSpPr>
        <p:spPr>
          <a:xfrm>
            <a:off x="3937000" y="1612900"/>
            <a:ext cx="1905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多线程安全验证</a:t>
            </a:r>
            <a:endParaRPr lang="en-US" sz="1100"/>
          </a:p>
        </p:txBody>
      </p:sp>
      <p:cxnSp>
        <p:nvCxnSpPr>
          <p:cNvPr id="14" name="Connector 14"/>
          <p:cNvCxnSpPr/>
          <p:nvPr/>
        </p:nvCxnSpPr>
        <p:spPr>
          <a:xfrm rot="-19098">
            <a:off x="3492518" y="2152650"/>
            <a:ext cx="2286000" cy="12700"/>
          </a:xfrm>
          <a:prstGeom prst="line">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15" name="AutoShape 15"/>
          <p:cNvSpPr/>
          <p:nvPr/>
        </p:nvSpPr>
        <p:spPr>
          <a:xfrm>
            <a:off x="3429000" y="2286000"/>
            <a:ext cx="24130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构建多线程竞争环境，模拟高频 getpid 调用与 malloc 内存动态分配。验证线程锁机制有效性，无数据竞争与资源死锁现象。</a:t>
            </a:r>
            <a:endParaRPr lang="en-US" sz="1100"/>
          </a:p>
        </p:txBody>
      </p:sp>
      <p:sp>
        <p:nvSpPr>
          <p:cNvPr id="16" name="AutoShape 16"/>
          <p:cNvSpPr/>
          <p:nvPr/>
        </p:nvSpPr>
        <p:spPr>
          <a:xfrm>
            <a:off x="508000" y="3937000"/>
            <a:ext cx="2667000" cy="2159000"/>
          </a:xfrm>
          <a:prstGeom prst="roundRect">
            <a:avLst>
              <a:gd name="adj" fmla="val 0"/>
            </a:avLst>
          </a:prstGeom>
          <a:solidFill>
            <a:srgbClr val="FFFFFF">
              <a:alpha val="100000"/>
            </a:srgbClr>
          </a:solidFill>
          <a:ln w="12700" cap="flat" cmpd="sng">
            <a:solidFill>
              <a:srgbClr val="0A2463">
                <a:alpha val="8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7" name="AutoShape 17"/>
          <p:cNvSpPr/>
          <p:nvPr/>
        </p:nvSpPr>
        <p:spPr>
          <a:xfrm>
            <a:off x="508000" y="3937000"/>
            <a:ext cx="2667000" cy="508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nvPicPr>
        <p:blipFill>
          <a:blip r:embed="rId1"/>
          <a:srcRect/>
          <a:stretch>
            <a:fillRect/>
          </a:stretch>
        </p:blipFill>
        <p:spPr>
          <a:xfrm>
            <a:off x="698500" y="4191000"/>
            <a:ext cx="304800" cy="304800"/>
          </a:xfrm>
          <a:prstGeom prst="rect">
            <a:avLst/>
          </a:prstGeom>
          <a:ln w="12700">
            <a:noFill/>
            <a:prstDash val="solid"/>
          </a:ln>
        </p:spPr>
      </p:pic>
      <p:sp>
        <p:nvSpPr>
          <p:cNvPr id="19" name="AutoShape 19"/>
          <p:cNvSpPr/>
          <p:nvPr/>
        </p:nvSpPr>
        <p:spPr>
          <a:xfrm>
            <a:off x="1143000" y="4152900"/>
            <a:ext cx="1905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16并发探针压测</a:t>
            </a:r>
            <a:endParaRPr lang="en-US" sz="1100"/>
          </a:p>
        </p:txBody>
      </p:sp>
      <p:cxnSp>
        <p:nvCxnSpPr>
          <p:cNvPr id="20" name="Connector 20"/>
          <p:cNvCxnSpPr/>
          <p:nvPr/>
        </p:nvCxnSpPr>
        <p:spPr>
          <a:xfrm rot="-19098">
            <a:off x="698518" y="4692650"/>
            <a:ext cx="2286000" cy="12700"/>
          </a:xfrm>
          <a:prstGeom prst="line">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21" name="AutoShape 21"/>
          <p:cNvSpPr/>
          <p:nvPr/>
        </p:nvSpPr>
        <p:spPr>
          <a:xfrm>
            <a:off x="635000" y="4826000"/>
            <a:ext cx="24130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部署16路并发探针进行持续高频请求，监测系统响应延迟与吞吐量。在极限负载下，核心服务无丢包、无超时，表现稳定。</a:t>
            </a:r>
            <a:endParaRPr lang="en-US" sz="1100"/>
          </a:p>
        </p:txBody>
      </p:sp>
      <p:sp>
        <p:nvSpPr>
          <p:cNvPr id="22" name="AutoShape 22"/>
          <p:cNvSpPr/>
          <p:nvPr/>
        </p:nvSpPr>
        <p:spPr>
          <a:xfrm>
            <a:off x="3302000" y="3937000"/>
            <a:ext cx="2667000" cy="2159000"/>
          </a:xfrm>
          <a:prstGeom prst="roundRect">
            <a:avLst>
              <a:gd name="adj" fmla="val 0"/>
            </a:avLst>
          </a:prstGeom>
          <a:solidFill>
            <a:srgbClr val="FFFFFF">
              <a:alpha val="100000"/>
            </a:srgbClr>
          </a:solidFill>
          <a:ln w="12700" cap="flat" cmpd="sng">
            <a:solidFill>
              <a:srgbClr val="0A2463">
                <a:alpha val="8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3302000" y="3937000"/>
            <a:ext cx="2667000" cy="508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4" name="Picture 24"/>
          <p:cNvPicPr>
            <a:picLocks noChangeAspect="1"/>
          </p:cNvPicPr>
          <p:nvPr/>
        </p:nvPicPr>
        <p:blipFill>
          <a:blip r:embed="rId1"/>
          <a:srcRect/>
          <a:stretch>
            <a:fillRect/>
          </a:stretch>
        </p:blipFill>
        <p:spPr>
          <a:xfrm>
            <a:off x="3492500" y="4191000"/>
            <a:ext cx="304800" cy="304800"/>
          </a:xfrm>
          <a:prstGeom prst="rect">
            <a:avLst/>
          </a:prstGeom>
          <a:ln w="12700">
            <a:noFill/>
            <a:prstDash val="solid"/>
          </a:ln>
        </p:spPr>
      </p:pic>
      <p:sp>
        <p:nvSpPr>
          <p:cNvPr id="25" name="AutoShape 25"/>
          <p:cNvSpPr/>
          <p:nvPr/>
        </p:nvSpPr>
        <p:spPr>
          <a:xfrm>
            <a:off x="3937000" y="4152900"/>
            <a:ext cx="1905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边界与异常场景</a:t>
            </a:r>
            <a:endParaRPr lang="en-US" sz="1100"/>
          </a:p>
        </p:txBody>
      </p:sp>
      <p:cxnSp>
        <p:nvCxnSpPr>
          <p:cNvPr id="26" name="Connector 26"/>
          <p:cNvCxnSpPr/>
          <p:nvPr/>
        </p:nvCxnSpPr>
        <p:spPr>
          <a:xfrm rot="-19098">
            <a:off x="3492518" y="4692650"/>
            <a:ext cx="2286000" cy="12700"/>
          </a:xfrm>
          <a:prstGeom prst="line">
            <a:avLst/>
          </a:prstGeom>
          <a:solidFill>
            <a:srgbClr val="DEE0E3">
              <a:alpha val="100000"/>
            </a:srgbClr>
          </a:solidFill>
          <a:ln w="12700" cap="flat" cmpd="sng">
            <a:solidFill>
              <a:srgbClr val="000000">
                <a:alpha val="5000"/>
              </a:srgbClr>
            </a:solidFill>
            <a:prstDash val="dash"/>
            <a:round/>
            <a:headEnd type="none" w="med" len="med"/>
            <a:tailEnd type="none" w="med" len="med"/>
          </a:ln>
        </p:spPr>
      </p:cxnSp>
      <p:sp>
        <p:nvSpPr>
          <p:cNvPr id="27" name="AutoShape 27"/>
          <p:cNvSpPr/>
          <p:nvPr/>
        </p:nvSpPr>
        <p:spPr>
          <a:xfrm>
            <a:off x="3429000" y="4826000"/>
            <a:ext cx="2413000" cy="1143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覆盖浮点寄存器上下文保护、SIGINT/SIGTERM信号高频发送等极端场景。验证系统的容错机制与异常恢复能力，确保鲁棒性。</a:t>
            </a:r>
            <a:endParaRPr lang="en-US" sz="1100"/>
          </a:p>
        </p:txBody>
      </p:sp>
      <p:cxnSp>
        <p:nvCxnSpPr>
          <p:cNvPr id="28" name="Connector 28"/>
          <p:cNvCxnSpPr/>
          <p:nvPr/>
        </p:nvCxnSpPr>
        <p:spPr>
          <a:xfrm rot="5390450">
            <a:off x="4064000" y="3803659"/>
            <a:ext cx="45720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29" name="AutoShape 29"/>
          <p:cNvSpPr/>
          <p:nvPr/>
        </p:nvSpPr>
        <p:spPr>
          <a:xfrm>
            <a:off x="6540500" y="1524000"/>
            <a:ext cx="1714500" cy="3302000"/>
          </a:xfrm>
          <a:prstGeom prst="roundRect">
            <a:avLst>
              <a:gd name="adj" fmla="val 0"/>
            </a:avLst>
          </a:prstGeom>
          <a:solidFill>
            <a:srgbClr val="FFFFFF">
              <a:alpha val="100000"/>
            </a:srgbClr>
          </a:solidFill>
          <a:ln w="12700" cap="flat" cmpd="sng">
            <a:solidFill>
              <a:srgbClr val="0A2463">
                <a:alpha val="8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0" name="Picture 30"/>
          <p:cNvPicPr>
            <a:picLocks noChangeAspect="1"/>
          </p:cNvPicPr>
          <p:nvPr/>
        </p:nvPicPr>
        <p:blipFill>
          <a:blip r:embed="rId2"/>
          <a:srcRect/>
          <a:stretch>
            <a:fillRect/>
          </a:stretch>
        </p:blipFill>
        <p:spPr>
          <a:xfrm>
            <a:off x="7112000" y="1778000"/>
            <a:ext cx="558800" cy="558800"/>
          </a:xfrm>
          <a:prstGeom prst="rect">
            <a:avLst/>
          </a:prstGeom>
          <a:ln w="12700">
            <a:noFill/>
            <a:prstDash val="solid"/>
          </a:ln>
        </p:spPr>
      </p:pic>
      <p:sp>
        <p:nvSpPr>
          <p:cNvPr id="31" name="AutoShape 31"/>
          <p:cNvSpPr/>
          <p:nvPr/>
        </p:nvSpPr>
        <p:spPr>
          <a:xfrm>
            <a:off x="6604000" y="2667000"/>
            <a:ext cx="15875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逻辑正确性</a:t>
            </a:r>
            <a:endParaRPr lang="en-US" sz="1100"/>
          </a:p>
        </p:txBody>
      </p:sp>
      <p:cxnSp>
        <p:nvCxnSpPr>
          <p:cNvPr id="32" name="Connector 32"/>
          <p:cNvCxnSpPr/>
          <p:nvPr/>
        </p:nvCxnSpPr>
        <p:spPr>
          <a:xfrm rot="-32738">
            <a:off x="6731030" y="3295650"/>
            <a:ext cx="1333500" cy="12700"/>
          </a:xfrm>
          <a:prstGeom prst="line">
            <a:avLst/>
          </a:prstGeom>
          <a:solidFill>
            <a:srgbClr val="DEE0E3">
              <a:alpha val="100000"/>
            </a:srgbClr>
          </a:solidFill>
          <a:ln w="25400" cap="flat" cmpd="sng">
            <a:solidFill>
              <a:srgbClr val="2563EB">
                <a:alpha val="20000"/>
              </a:srgbClr>
            </a:solidFill>
            <a:prstDash val="solid"/>
            <a:round/>
            <a:headEnd type="none" w="lg" len="lg"/>
            <a:tailEnd type="none" w="lg" len="lg"/>
          </a:ln>
        </p:spPr>
      </p:cxnSp>
      <p:sp>
        <p:nvSpPr>
          <p:cNvPr id="33" name="AutoShape 33"/>
          <p:cNvSpPr/>
          <p:nvPr/>
        </p:nvSpPr>
        <p:spPr>
          <a:xfrm>
            <a:off x="6604000" y="3556000"/>
            <a:ext cx="1587500" cy="1079500"/>
          </a:xfrm>
          <a:prstGeom prst="rect">
            <a:avLst/>
          </a:prstGeom>
          <a:noFill/>
          <a:ln w="12700" cap="flat" cmpd="sng">
            <a:noFill/>
            <a:prstDash val="solid"/>
            <a:round/>
          </a:ln>
        </p:spPr>
        <p:txBody>
          <a:bodyPr vert="horz" wrap="square" lIns="0" tIns="0" rIns="0" bIns="0" rtlCol="0" anchor="ctr">
            <a:noAutofit/>
          </a:bodyPr>
          <a:lstStyle/>
          <a:p>
            <a:pPr marL="0" indent="0" algn="just">
              <a:lnSpc>
                <a:spcPct val="108000"/>
              </a:lnSpc>
              <a:defRPr/>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全量参数校验通过，返回值与预期结果100%匹配，无逻辑漏洞与执行偏差。</a:t>
            </a:r>
            <a:endParaRPr lang="en-US" sz="1100"/>
          </a:p>
        </p:txBody>
      </p:sp>
      <p:sp>
        <p:nvSpPr>
          <p:cNvPr id="34" name="AutoShape 34"/>
          <p:cNvSpPr/>
          <p:nvPr/>
        </p:nvSpPr>
        <p:spPr>
          <a:xfrm>
            <a:off x="8382000" y="1524000"/>
            <a:ext cx="1714500" cy="3302000"/>
          </a:xfrm>
          <a:prstGeom prst="roundRect">
            <a:avLst>
              <a:gd name="adj" fmla="val 0"/>
            </a:avLst>
          </a:prstGeom>
          <a:solidFill>
            <a:srgbClr val="FFFFFF">
              <a:alpha val="100000"/>
            </a:srgbClr>
          </a:solidFill>
          <a:ln w="12700" cap="flat" cmpd="sng">
            <a:solidFill>
              <a:srgbClr val="0A2463">
                <a:alpha val="8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35" name="Picture 35"/>
          <p:cNvPicPr>
            <a:picLocks noChangeAspect="1"/>
          </p:cNvPicPr>
          <p:nvPr/>
        </p:nvPicPr>
        <p:blipFill>
          <a:blip r:embed="rId3"/>
          <a:srcRect/>
          <a:stretch>
            <a:fillRect/>
          </a:stretch>
        </p:blipFill>
        <p:spPr>
          <a:xfrm>
            <a:off x="8953500" y="1778000"/>
            <a:ext cx="558800" cy="558800"/>
          </a:xfrm>
          <a:prstGeom prst="rect">
            <a:avLst/>
          </a:prstGeom>
          <a:ln w="12700">
            <a:noFill/>
            <a:prstDash val="solid"/>
          </a:ln>
        </p:spPr>
      </p:pic>
      <p:sp>
        <p:nvSpPr>
          <p:cNvPr id="36" name="AutoShape 36"/>
          <p:cNvSpPr/>
          <p:nvPr/>
        </p:nvSpPr>
        <p:spPr>
          <a:xfrm>
            <a:off x="8445500" y="2667000"/>
            <a:ext cx="15875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运行稳定性</a:t>
            </a:r>
            <a:endParaRPr lang="en-US" sz="1100"/>
          </a:p>
        </p:txBody>
      </p:sp>
      <p:cxnSp>
        <p:nvCxnSpPr>
          <p:cNvPr id="37" name="Connector 37"/>
          <p:cNvCxnSpPr/>
          <p:nvPr/>
        </p:nvCxnSpPr>
        <p:spPr>
          <a:xfrm rot="-32738">
            <a:off x="8572530" y="3295650"/>
            <a:ext cx="1333500" cy="12700"/>
          </a:xfrm>
          <a:prstGeom prst="line">
            <a:avLst/>
          </a:prstGeom>
          <a:solidFill>
            <a:srgbClr val="DEE0E3">
              <a:alpha val="100000"/>
            </a:srgbClr>
          </a:solidFill>
          <a:ln w="25400" cap="flat" cmpd="sng">
            <a:solidFill>
              <a:srgbClr val="10B981">
                <a:alpha val="20000"/>
              </a:srgbClr>
            </a:solidFill>
            <a:prstDash val="solid"/>
            <a:round/>
            <a:headEnd type="none" w="lg" len="lg"/>
            <a:tailEnd type="none" w="lg" len="lg"/>
          </a:ln>
        </p:spPr>
      </p:cxnSp>
      <p:sp>
        <p:nvSpPr>
          <p:cNvPr id="38" name="AutoShape 38"/>
          <p:cNvSpPr/>
          <p:nvPr/>
        </p:nvSpPr>
        <p:spPr>
          <a:xfrm>
            <a:off x="8445500" y="3556000"/>
            <a:ext cx="1587500" cy="1079500"/>
          </a:xfrm>
          <a:prstGeom prst="rect">
            <a:avLst/>
          </a:prstGeom>
          <a:noFill/>
          <a:ln w="12700" cap="flat" cmpd="sng">
            <a:noFill/>
            <a:prstDash val="solid"/>
            <a:round/>
          </a:ln>
        </p:spPr>
        <p:txBody>
          <a:bodyPr vert="horz" wrap="square" lIns="0" tIns="0" rIns="0" bIns="0" rtlCol="0" anchor="ctr">
            <a:noAutofit/>
          </a:bodyPr>
          <a:lstStyle/>
          <a:p>
            <a:pPr marL="0" indent="0" algn="just">
              <a:lnSpc>
                <a:spcPct val="108000"/>
              </a:lnSpc>
              <a:defRPr/>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历经7*24小时多线程重复清理测试，系统无内存泄漏、无进程崩溃，资源占用平稳。</a:t>
            </a:r>
            <a:endParaRPr lang="en-US" sz="1100"/>
          </a:p>
        </p:txBody>
      </p:sp>
      <p:sp>
        <p:nvSpPr>
          <p:cNvPr id="39" name="AutoShape 39"/>
          <p:cNvSpPr/>
          <p:nvPr/>
        </p:nvSpPr>
        <p:spPr>
          <a:xfrm>
            <a:off x="10160000" y="1524000"/>
            <a:ext cx="1714500" cy="3302000"/>
          </a:xfrm>
          <a:prstGeom prst="roundRect">
            <a:avLst>
              <a:gd name="adj" fmla="val 0"/>
            </a:avLst>
          </a:prstGeom>
          <a:solidFill>
            <a:srgbClr val="FFFFFF">
              <a:alpha val="100000"/>
            </a:srgbClr>
          </a:solidFill>
          <a:ln w="12700" cap="flat" cmpd="sng">
            <a:solidFill>
              <a:srgbClr val="0A2463">
                <a:alpha val="8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40" name="Picture 40"/>
          <p:cNvPicPr>
            <a:picLocks noChangeAspect="1"/>
          </p:cNvPicPr>
          <p:nvPr/>
        </p:nvPicPr>
        <p:blipFill>
          <a:blip r:embed="rId4"/>
          <a:srcRect/>
          <a:stretch>
            <a:fillRect/>
          </a:stretch>
        </p:blipFill>
        <p:spPr>
          <a:xfrm>
            <a:off x="10731500" y="1778000"/>
            <a:ext cx="558800" cy="558800"/>
          </a:xfrm>
          <a:prstGeom prst="rect">
            <a:avLst/>
          </a:prstGeom>
          <a:ln w="12700">
            <a:noFill/>
            <a:prstDash val="solid"/>
          </a:ln>
        </p:spPr>
      </p:pic>
      <p:sp>
        <p:nvSpPr>
          <p:cNvPr id="41" name="AutoShape 41"/>
          <p:cNvSpPr/>
          <p:nvPr/>
        </p:nvSpPr>
        <p:spPr>
          <a:xfrm>
            <a:off x="10223500" y="2667000"/>
            <a:ext cx="15875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8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功能全覆盖</a:t>
            </a:r>
            <a:endParaRPr lang="en-US" sz="1100"/>
          </a:p>
        </p:txBody>
      </p:sp>
      <p:cxnSp>
        <p:nvCxnSpPr>
          <p:cNvPr id="42" name="Connector 42"/>
          <p:cNvCxnSpPr/>
          <p:nvPr/>
        </p:nvCxnSpPr>
        <p:spPr>
          <a:xfrm rot="-32738">
            <a:off x="10350530" y="3295650"/>
            <a:ext cx="1333500" cy="12700"/>
          </a:xfrm>
          <a:prstGeom prst="line">
            <a:avLst/>
          </a:prstGeom>
          <a:solidFill>
            <a:srgbClr val="DEE0E3">
              <a:alpha val="100000"/>
            </a:srgbClr>
          </a:solidFill>
          <a:ln w="25400" cap="flat" cmpd="sng">
            <a:solidFill>
              <a:srgbClr val="F59E0B">
                <a:alpha val="20000"/>
              </a:srgbClr>
            </a:solidFill>
            <a:prstDash val="solid"/>
            <a:round/>
            <a:headEnd type="none" w="lg" len="lg"/>
            <a:tailEnd type="none" w="lg" len="lg"/>
          </a:ln>
        </p:spPr>
      </p:cxnSp>
      <p:sp>
        <p:nvSpPr>
          <p:cNvPr id="43" name="AutoShape 43"/>
          <p:cNvSpPr/>
          <p:nvPr/>
        </p:nvSpPr>
        <p:spPr>
          <a:xfrm>
            <a:off x="10223500" y="3556000"/>
            <a:ext cx="1587500" cy="1079500"/>
          </a:xfrm>
          <a:prstGeom prst="rect">
            <a:avLst/>
          </a:prstGeom>
          <a:noFill/>
          <a:ln w="12700" cap="flat" cmpd="sng">
            <a:noFill/>
            <a:prstDash val="solid"/>
            <a:round/>
          </a:ln>
        </p:spPr>
        <p:txBody>
          <a:bodyPr vert="horz" wrap="square" lIns="0" tIns="0" rIns="0" bIns="0" rtlCol="0" anchor="ctr">
            <a:noAutofit/>
          </a:bodyPr>
          <a:lstStyle/>
          <a:p>
            <a:pPr marL="0" indent="0" algn="just">
              <a:lnSpc>
                <a:spcPct val="108000"/>
              </a:lnSpc>
              <a:defRPr/>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F1-F7功能模块实现100%代码覆盖，核心执行路径与异常处理分支均已纳入验证范围。</a:t>
            </a:r>
            <a:endParaRPr lang="en-US" sz="1100"/>
          </a:p>
        </p:txBody>
      </p:sp>
      <p:sp>
        <p:nvSpPr>
          <p:cNvPr id="44" name="AutoShape 44"/>
          <p:cNvSpPr/>
          <p:nvPr/>
        </p:nvSpPr>
        <p:spPr>
          <a:xfrm>
            <a:off x="6540500" y="5207000"/>
            <a:ext cx="5334000" cy="1079500"/>
          </a:xfrm>
          <a:prstGeom prst="roundRect">
            <a:avLst>
              <a:gd name="adj" fmla="val 0"/>
            </a:avLst>
          </a:prstGeom>
          <a:solidFill>
            <a:srgbClr val="0A2463">
              <a:alpha val="5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5" name="AutoShape 45"/>
          <p:cNvSpPr/>
          <p:nvPr/>
        </p:nvSpPr>
        <p:spPr>
          <a:xfrm>
            <a:off x="6540500" y="5207000"/>
            <a:ext cx="50800" cy="1079500"/>
          </a:xfrm>
          <a:prstGeom prst="roundRect">
            <a:avLst>
              <a:gd name="adj" fmla="val 0"/>
            </a:avLst>
          </a:prstGeom>
          <a:solidFill>
            <a:srgbClr val="0A2463">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6" name="AutoShape 46"/>
          <p:cNvSpPr/>
          <p:nvPr/>
        </p:nvSpPr>
        <p:spPr>
          <a:xfrm>
            <a:off x="6731000" y="5334000"/>
            <a:ext cx="4953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本次测试验证全面覆盖基础接口、多线程、高并发及异常边界四大核心场景，所有关键指标均达到预期标准，系统具备极高的可靠性与稳定性，已通过验收评审，可正式投入生产环境使用。</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0A2463"/>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性能结果</a:t>
            </a:r>
            <a:endParaRPr lang="en-US" sz="1100"/>
          </a:p>
        </p:txBody>
      </p:sp>
      <p:sp>
        <p:nvSpPr>
          <p:cNvPr id="3" name="AutoShape 3"/>
          <p:cNvSpPr/>
          <p:nvPr/>
        </p:nvSpPr>
        <p:spPr>
          <a:xfrm>
            <a:off x="508000" y="1079500"/>
            <a:ext cx="11176000" cy="25400"/>
          </a:xfrm>
          <a:prstGeom prst="roundRect">
            <a:avLst>
              <a:gd name="adj" fmla="val 0"/>
            </a:avLst>
          </a:prstGeom>
          <a:solidFill>
            <a:srgbClr val="0A2463">
              <a:alpha val="1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508000" y="1397000"/>
            <a:ext cx="5524500" cy="22860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508000" y="1397000"/>
            <a:ext cx="76200" cy="2286000"/>
          </a:xfrm>
          <a:prstGeom prst="roundRect">
            <a:avLst>
              <a:gd name="adj" fmla="val 0"/>
            </a:avLst>
          </a:prstGeom>
          <a:solidFill>
            <a:srgbClr val="2563E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762000" y="1587500"/>
            <a:ext cx="4953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WSL2 entry-only 单次调用开销</a:t>
            </a:r>
            <a:endParaRPr lang="en-US" sz="1100"/>
          </a:p>
        </p:txBody>
      </p:sp>
      <p:sp>
        <p:nvSpPr>
          <p:cNvPr id="7" name="AutoShape 7"/>
          <p:cNvSpPr/>
          <p:nvPr/>
        </p:nvSpPr>
        <p:spPr>
          <a:xfrm>
            <a:off x="762000" y="2159000"/>
            <a:ext cx="2794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6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293</a:t>
            </a:r>
            <a:endParaRPr lang="en-US" sz="1100"/>
          </a:p>
        </p:txBody>
      </p:sp>
      <p:cxnSp>
        <p:nvCxnSpPr>
          <p:cNvPr id="8" name="Connector 8"/>
          <p:cNvCxnSpPr/>
          <p:nvPr/>
        </p:nvCxnSpPr>
        <p:spPr>
          <a:xfrm rot="5357030">
            <a:off x="3302000" y="2724190"/>
            <a:ext cx="1016000" cy="12700"/>
          </a:xfrm>
          <a:prstGeom prst="line">
            <a:avLst/>
          </a:prstGeom>
          <a:solidFill>
            <a:srgbClr val="DEE0E3">
              <a:alpha val="100000"/>
            </a:srgbClr>
          </a:solidFill>
          <a:ln w="12700" cap="flat" cmpd="sng">
            <a:solidFill>
              <a:srgbClr val="2563EB">
                <a:alpha val="20000"/>
              </a:srgbClr>
            </a:solidFill>
            <a:prstDash val="dash"/>
            <a:round/>
            <a:headEnd type="none" w="med" len="med"/>
            <a:tailEnd type="none" w="med" len="med"/>
          </a:ln>
        </p:spPr>
      </p:cxnSp>
      <p:sp>
        <p:nvSpPr>
          <p:cNvPr id="9" name="AutoShape 9"/>
          <p:cNvSpPr/>
          <p:nvPr/>
        </p:nvSpPr>
        <p:spPr>
          <a:xfrm>
            <a:off x="3937000" y="2286000"/>
            <a:ext cx="1905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ns / call</a:t>
            </a:r>
            <a:b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基础开销极低，接近硬件原生指令执行效率，无明显阻塞。</a:t>
            </a:r>
            <a:endParaRPr lang="en-US" sz="1100"/>
          </a:p>
        </p:txBody>
      </p:sp>
      <p:sp>
        <p:nvSpPr>
          <p:cNvPr id="10" name="AutoShape 10"/>
          <p:cNvSpPr/>
          <p:nvPr/>
        </p:nvSpPr>
        <p:spPr>
          <a:xfrm>
            <a:off x="6286500" y="1397000"/>
            <a:ext cx="5524500" cy="2286000"/>
          </a:xfrm>
          <a:prstGeom prst="roundRect">
            <a:avLst>
              <a:gd name="adj" fmla="val 0"/>
            </a:avLst>
          </a:prstGeom>
          <a:solidFill>
            <a:srgbClr val="FFFFFF">
              <a:alpha val="100000"/>
            </a:srgbClr>
          </a:solidFill>
          <a:ln w="12700" cap="flat" cmpd="sng">
            <a:solidFill>
              <a:srgbClr val="0EA5E9">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6286500" y="1397000"/>
            <a:ext cx="76200" cy="2286000"/>
          </a:xfrm>
          <a:prstGeom prst="roundRect">
            <a:avLst>
              <a:gd name="adj" fmla="val 0"/>
            </a:avLst>
          </a:prstGeom>
          <a:solidFill>
            <a:srgbClr val="0EA5E9">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6540500" y="1587500"/>
            <a:ext cx="4953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完整生命周期 (entry+return) 开销</a:t>
            </a:r>
            <a:endParaRPr lang="en-US" sz="1100"/>
          </a:p>
        </p:txBody>
      </p:sp>
      <p:sp>
        <p:nvSpPr>
          <p:cNvPr id="13" name="AutoShape 13"/>
          <p:cNvSpPr/>
          <p:nvPr/>
        </p:nvSpPr>
        <p:spPr>
          <a:xfrm>
            <a:off x="6540500" y="2159000"/>
            <a:ext cx="2794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6400" b="1" i="0" u="none" strike="noStrike">
                <a:solidFill>
                  <a:srgbClr val="0EA5E9"/>
                </a:solidFill>
                <a:latin typeface="Noto Sans SC" panose="020B0200000000000000" charset="-122"/>
                <a:ea typeface="Noto Sans SC" panose="020B0200000000000000" charset="-122"/>
                <a:cs typeface="Noto Sans SC" panose="020B0200000000000000" charset="-122"/>
                <a:sym typeface="Noto Sans SC" panose="020B0200000000000000" charset="-122"/>
              </a:rPr>
              <a:t>563</a:t>
            </a:r>
            <a:endParaRPr lang="en-US" sz="1100"/>
          </a:p>
        </p:txBody>
      </p:sp>
      <p:cxnSp>
        <p:nvCxnSpPr>
          <p:cNvPr id="14" name="Connector 14"/>
          <p:cNvCxnSpPr/>
          <p:nvPr/>
        </p:nvCxnSpPr>
        <p:spPr>
          <a:xfrm rot="5357030">
            <a:off x="9080500" y="2724190"/>
            <a:ext cx="1016000" cy="12700"/>
          </a:xfrm>
          <a:prstGeom prst="line">
            <a:avLst/>
          </a:prstGeom>
          <a:solidFill>
            <a:srgbClr val="DEE0E3">
              <a:alpha val="100000"/>
            </a:srgbClr>
          </a:solidFill>
          <a:ln w="12700" cap="flat" cmpd="sng">
            <a:solidFill>
              <a:srgbClr val="0EA5E9">
                <a:alpha val="20000"/>
              </a:srgbClr>
            </a:solidFill>
            <a:prstDash val="dash"/>
            <a:round/>
            <a:headEnd type="none" w="med" len="med"/>
            <a:tailEnd type="none" w="med" len="med"/>
          </a:ln>
        </p:spPr>
      </p:cxnSp>
      <p:sp>
        <p:nvSpPr>
          <p:cNvPr id="15" name="AutoShape 15"/>
          <p:cNvSpPr/>
          <p:nvPr/>
        </p:nvSpPr>
        <p:spPr>
          <a:xfrm>
            <a:off x="9715500" y="2286000"/>
            <a:ext cx="1905000" cy="1016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ns / call</a:t>
            </a:r>
            <a:b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包含完整的进入与返回流程，依然保持纳秒级的高效响应。</a:t>
            </a:r>
            <a:endParaRPr lang="en-US" sz="1100"/>
          </a:p>
        </p:txBody>
      </p:sp>
      <p:sp>
        <p:nvSpPr>
          <p:cNvPr id="16" name="AutoShape 16"/>
          <p:cNvSpPr/>
          <p:nvPr/>
        </p:nvSpPr>
        <p:spPr>
          <a:xfrm>
            <a:off x="508000" y="4064000"/>
            <a:ext cx="6858000" cy="2286000"/>
          </a:xfrm>
          <a:prstGeom prst="roundRect">
            <a:avLst>
              <a:gd name="adj" fmla="val 0"/>
            </a:avLst>
          </a:prstGeom>
          <a:solidFill>
            <a:srgbClr val="FFFFFF">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7" name="Picture 17"/>
          <p:cNvPicPr>
            <a:picLocks noChangeAspect="1"/>
          </p:cNvPicPr>
          <p:nvPr/>
        </p:nvPicPr>
        <p:blipFill>
          <a:blip r:embed="rId1"/>
          <a:srcRect/>
          <a:stretch>
            <a:fillRect/>
          </a:stretch>
        </p:blipFill>
        <p:spPr>
          <a:xfrm>
            <a:off x="635000" y="4191000"/>
            <a:ext cx="6604000" cy="2032000"/>
          </a:xfrm>
          <a:prstGeom prst="rect">
            <a:avLst/>
          </a:prstGeom>
          <a:ln w="12700">
            <a:noFill/>
            <a:prstDash val="solid"/>
          </a:ln>
        </p:spPr>
      </p:pic>
      <p:sp>
        <p:nvSpPr>
          <p:cNvPr id="18" name="AutoShape 18"/>
          <p:cNvSpPr/>
          <p:nvPr/>
        </p:nvSpPr>
        <p:spPr>
          <a:xfrm>
            <a:off x="7747000" y="4064000"/>
            <a:ext cx="3937000" cy="1079500"/>
          </a:xfrm>
          <a:prstGeom prst="roundRect">
            <a:avLst>
              <a:gd name="adj" fmla="val 0"/>
            </a:avLst>
          </a:prstGeom>
          <a:solidFill>
            <a:srgbClr val="10B981">
              <a:alpha val="8000"/>
            </a:srgbClr>
          </a:solidFill>
          <a:ln w="12700" cap="flat" cmpd="sng">
            <a:solidFill>
              <a:srgbClr val="10B981">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9" name="Picture 19"/>
          <p:cNvPicPr>
            <a:picLocks noChangeAspect="1"/>
          </p:cNvPicPr>
          <p:nvPr/>
        </p:nvPicPr>
        <p:blipFill>
          <a:blip r:embed="rId2"/>
          <a:srcRect/>
          <a:stretch>
            <a:fillRect/>
          </a:stretch>
        </p:blipFill>
        <p:spPr>
          <a:xfrm>
            <a:off x="7937500" y="4254500"/>
            <a:ext cx="406400" cy="406400"/>
          </a:xfrm>
          <a:prstGeom prst="rect">
            <a:avLst/>
          </a:prstGeom>
          <a:ln w="12700">
            <a:noFill/>
            <a:prstDash val="solid"/>
          </a:ln>
        </p:spPr>
      </p:pic>
      <p:sp>
        <p:nvSpPr>
          <p:cNvPr id="20" name="AutoShape 20"/>
          <p:cNvSpPr/>
          <p:nvPr/>
        </p:nvSpPr>
        <p:spPr>
          <a:xfrm>
            <a:off x="8509000" y="4191000"/>
            <a:ext cx="2984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VM 环境性能跃升 57%</a:t>
            </a:r>
            <a:endParaRPr lang="en-US" sz="1100"/>
          </a:p>
          <a:p>
            <a:pPr marL="0" indent="0" algn="l">
              <a:lnSpc>
                <a:spcPct val="100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相比传统 kernel uprobe entry 方案，LightProbe 在虚拟化环境中展现出极致的轻量化优势。</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7747000" y="5334000"/>
            <a:ext cx="3937000" cy="1079500"/>
          </a:xfrm>
          <a:prstGeom prst="roundRect">
            <a:avLst>
              <a:gd name="adj" fmla="val 0"/>
            </a:avLst>
          </a:prstGeom>
          <a:solidFill>
            <a:srgbClr val="2563EB">
              <a:alpha val="8000"/>
            </a:srgbClr>
          </a:solidFill>
          <a:ln w="12700" cap="flat" cmpd="sng">
            <a:solidFill>
              <a:srgbClr val="2563EB">
                <a:alpha val="30000"/>
              </a:srgbClr>
            </a:solid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2" name="Picture 22"/>
          <p:cNvPicPr>
            <a:picLocks noChangeAspect="1"/>
          </p:cNvPicPr>
          <p:nvPr/>
        </p:nvPicPr>
        <p:blipFill>
          <a:blip r:embed="rId3"/>
          <a:srcRect/>
          <a:stretch>
            <a:fillRect/>
          </a:stretch>
        </p:blipFill>
        <p:spPr>
          <a:xfrm>
            <a:off x="7937500" y="5524500"/>
            <a:ext cx="406400" cy="406400"/>
          </a:xfrm>
          <a:prstGeom prst="rect">
            <a:avLst/>
          </a:prstGeom>
          <a:ln w="12700">
            <a:noFill/>
            <a:prstDash val="solid"/>
          </a:ln>
        </p:spPr>
      </p:pic>
      <p:sp>
        <p:nvSpPr>
          <p:cNvPr id="23" name="AutoShape 23"/>
          <p:cNvSpPr/>
          <p:nvPr/>
        </p:nvSpPr>
        <p:spPr>
          <a:xfrm>
            <a:off x="8509000" y="5461000"/>
            <a:ext cx="2984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16 探针高并发稳定通过</a:t>
            </a:r>
            <a:endParaRPr lang="en-US" sz="1100"/>
          </a:p>
          <a:p>
            <a:pPr marL="0" indent="0" algn="l">
              <a:lnSpc>
                <a:spcPct val="100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在多探针并发挂载场景下，系统无丢包、无延迟抖动，保持线性扩展能力。</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3200" b="1" i="0" u="none" strike="noStrike">
                <a:solidFill>
                  <a:srgbClr val="1C375D"/>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p:txBody>
      </p:sp>
      <p:sp>
        <p:nvSpPr>
          <p:cNvPr id="3" name="AutoShape 3"/>
          <p:cNvSpPr/>
          <p:nvPr/>
        </p:nvSpPr>
        <p:spPr>
          <a:xfrm>
            <a:off x="508000" y="1524000"/>
            <a:ext cx="2603500" cy="76200"/>
          </a:xfrm>
          <a:prstGeom prst="roundRect">
            <a:avLst>
              <a:gd name="adj" fmla="val 0"/>
            </a:avLst>
          </a:prstGeom>
          <a:solidFill>
            <a:srgbClr val="3B82F6">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508000" y="1714500"/>
            <a:ext cx="2603500" cy="3492500"/>
          </a:xfrm>
          <a:prstGeom prst="roundRect">
            <a:avLst>
              <a:gd name="adj" fmla="val 0"/>
            </a:avLst>
          </a:prstGeom>
          <a:solidFill>
            <a:srgbClr val="FFFFFF">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5" name="Picture 5"/>
          <p:cNvPicPr>
            <a:picLocks noChangeAspect="1"/>
          </p:cNvPicPr>
          <p:nvPr/>
        </p:nvPicPr>
        <p:blipFill>
          <a:blip r:embed="rId1"/>
          <a:srcRect/>
          <a:stretch>
            <a:fillRect/>
          </a:stretch>
        </p:blipFill>
        <p:spPr>
          <a:xfrm>
            <a:off x="698500" y="1968500"/>
            <a:ext cx="406400" cy="406400"/>
          </a:xfrm>
          <a:prstGeom prst="rect">
            <a:avLst/>
          </a:prstGeom>
          <a:ln w="12700">
            <a:noFill/>
            <a:prstDash val="solid"/>
          </a:ln>
        </p:spPr>
      </p:pic>
      <p:sp>
        <p:nvSpPr>
          <p:cNvPr id="6" name="AutoShape 6"/>
          <p:cNvSpPr/>
          <p:nvPr/>
        </p:nvSpPr>
        <p:spPr>
          <a:xfrm>
            <a:off x="1206500" y="1930400"/>
            <a:ext cx="177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核心创新突破</a:t>
            </a:r>
            <a:endParaRPr lang="en-US" sz="1100"/>
          </a:p>
        </p:txBody>
      </p:sp>
      <p:cxnSp>
        <p:nvCxnSpPr>
          <p:cNvPr id="7" name="Connector 7"/>
          <p:cNvCxnSpPr/>
          <p:nvPr/>
        </p:nvCxnSpPr>
        <p:spPr>
          <a:xfrm rot="-19643">
            <a:off x="698518" y="2597150"/>
            <a:ext cx="2222500" cy="12700"/>
          </a:xfrm>
          <a:prstGeom prst="straightConnector1">
            <a:avLst/>
          </a:prstGeom>
          <a:solidFill>
            <a:srgbClr val="DEE0E3">
              <a:alpha val="100000"/>
            </a:srgbClr>
          </a:solidFill>
          <a:ln w="12700" cap="flat" cmpd="sng">
            <a:solidFill>
              <a:srgbClr val="3B82F6">
                <a:alpha val="20000"/>
              </a:srgbClr>
            </a:solidFill>
            <a:prstDash val="dash"/>
            <a:round/>
            <a:headEnd type="none" w="med" len="med"/>
            <a:tailEnd type="none" w="med" len="med"/>
          </a:ln>
        </p:spPr>
      </p:cxnSp>
      <p:sp>
        <p:nvSpPr>
          <p:cNvPr id="8" name="AutoShape 8"/>
          <p:cNvSpPr/>
          <p:nvPr/>
        </p:nvSpPr>
        <p:spPr>
          <a:xfrm>
            <a:off x="635000" y="2794000"/>
            <a:ext cx="2349500" cy="215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实现了纯用户态的动态探针技术，无需加载内核模块，彻底消除了内核态调试带来的安全风险与环境限制，真正做到对目标程序的零侵入、零修改部署。</a:t>
            </a:r>
            <a:endParaRPr lang="en-US" sz="1100"/>
          </a:p>
        </p:txBody>
      </p:sp>
      <p:sp>
        <p:nvSpPr>
          <p:cNvPr id="9" name="AutoShape 9"/>
          <p:cNvSpPr/>
          <p:nvPr/>
        </p:nvSpPr>
        <p:spPr>
          <a:xfrm>
            <a:off x="3365500" y="1524000"/>
            <a:ext cx="2603500" cy="76200"/>
          </a:xfrm>
          <a:prstGeom prst="roundRect">
            <a:avLst>
              <a:gd name="adj" fmla="val 0"/>
            </a:avLst>
          </a:prstGeom>
          <a:solidFill>
            <a:srgbClr val="10B981">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3365500" y="1714500"/>
            <a:ext cx="2603500" cy="3492500"/>
          </a:xfrm>
          <a:prstGeom prst="roundRect">
            <a:avLst>
              <a:gd name="adj" fmla="val 0"/>
            </a:avLst>
          </a:prstGeom>
          <a:solidFill>
            <a:srgbClr val="FFFFFF">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2"/>
          <a:srcRect/>
          <a:stretch>
            <a:fillRect/>
          </a:stretch>
        </p:blipFill>
        <p:spPr>
          <a:xfrm>
            <a:off x="3556000" y="1968500"/>
            <a:ext cx="406400" cy="406400"/>
          </a:xfrm>
          <a:prstGeom prst="rect">
            <a:avLst/>
          </a:prstGeom>
          <a:ln w="12700">
            <a:noFill/>
            <a:prstDash val="solid"/>
          </a:ln>
        </p:spPr>
      </p:pic>
      <p:sp>
        <p:nvSpPr>
          <p:cNvPr id="12" name="AutoShape 12"/>
          <p:cNvSpPr/>
          <p:nvPr/>
        </p:nvSpPr>
        <p:spPr>
          <a:xfrm>
            <a:off x="4064000" y="1930400"/>
            <a:ext cx="177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功能完备度</a:t>
            </a:r>
            <a:endParaRPr lang="en-US" sz="1100"/>
          </a:p>
        </p:txBody>
      </p:sp>
      <p:cxnSp>
        <p:nvCxnSpPr>
          <p:cNvPr id="13" name="Connector 13"/>
          <p:cNvCxnSpPr/>
          <p:nvPr/>
        </p:nvCxnSpPr>
        <p:spPr>
          <a:xfrm rot="-19643">
            <a:off x="3556018" y="2597150"/>
            <a:ext cx="22225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14" name="AutoShape 14"/>
          <p:cNvSpPr/>
          <p:nvPr/>
        </p:nvSpPr>
        <p:spPr>
          <a:xfrm>
            <a:off x="3492500" y="2794000"/>
            <a:ext cx="2349500" cy="215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支持Entry/Return全链路拦截、多线程安全观测，完美解析IFUNC动态符号，并提供结构化的事件导出机制，覆盖了生产环境调试的核心场景需求。</a:t>
            </a:r>
            <a:endParaRPr lang="en-US" sz="1100"/>
          </a:p>
        </p:txBody>
      </p:sp>
      <p:sp>
        <p:nvSpPr>
          <p:cNvPr id="15" name="AutoShape 15"/>
          <p:cNvSpPr/>
          <p:nvPr/>
        </p:nvSpPr>
        <p:spPr>
          <a:xfrm>
            <a:off x="6223000" y="1524000"/>
            <a:ext cx="2603500" cy="76200"/>
          </a:xfrm>
          <a:prstGeom prst="roundRect">
            <a:avLst>
              <a:gd name="adj" fmla="val 0"/>
            </a:avLst>
          </a:prstGeom>
          <a:solidFill>
            <a:srgbClr val="06B6D4">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6223000" y="1714500"/>
            <a:ext cx="2603500" cy="3492500"/>
          </a:xfrm>
          <a:prstGeom prst="roundRect">
            <a:avLst>
              <a:gd name="adj" fmla="val 0"/>
            </a:avLst>
          </a:prstGeom>
          <a:solidFill>
            <a:srgbClr val="FFFFFF">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7" name="Picture 17"/>
          <p:cNvPicPr>
            <a:picLocks noChangeAspect="1"/>
          </p:cNvPicPr>
          <p:nvPr/>
        </p:nvPicPr>
        <p:blipFill>
          <a:blip r:embed="rId3"/>
          <a:srcRect/>
          <a:stretch>
            <a:fillRect/>
          </a:stretch>
        </p:blipFill>
        <p:spPr>
          <a:xfrm>
            <a:off x="6413500" y="1968500"/>
            <a:ext cx="406400" cy="406400"/>
          </a:xfrm>
          <a:prstGeom prst="rect">
            <a:avLst/>
          </a:prstGeom>
          <a:ln w="12700">
            <a:noFill/>
            <a:prstDash val="solid"/>
          </a:ln>
        </p:spPr>
      </p:pic>
      <p:sp>
        <p:nvSpPr>
          <p:cNvPr id="18" name="AutoShape 18"/>
          <p:cNvSpPr/>
          <p:nvPr/>
        </p:nvSpPr>
        <p:spPr>
          <a:xfrm>
            <a:off x="6921500" y="1930400"/>
            <a:ext cx="177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工程化落地</a:t>
            </a:r>
            <a:endParaRPr lang="en-US" sz="1100"/>
          </a:p>
        </p:txBody>
      </p:sp>
      <p:cxnSp>
        <p:nvCxnSpPr>
          <p:cNvPr id="19" name="Connector 19"/>
          <p:cNvCxnSpPr/>
          <p:nvPr/>
        </p:nvCxnSpPr>
        <p:spPr>
          <a:xfrm rot="-19643">
            <a:off x="6413518" y="2597150"/>
            <a:ext cx="2222500" cy="12700"/>
          </a:xfrm>
          <a:prstGeom prst="straightConnector1">
            <a:avLst/>
          </a:prstGeom>
          <a:solidFill>
            <a:srgbClr val="DEE0E3">
              <a:alpha val="100000"/>
            </a:srgbClr>
          </a:solidFill>
          <a:ln w="12700" cap="flat" cmpd="sng">
            <a:solidFill>
              <a:srgbClr val="06B6D4">
                <a:alpha val="20000"/>
              </a:srgbClr>
            </a:solidFill>
            <a:prstDash val="dash"/>
            <a:round/>
            <a:headEnd type="none" w="med" len="med"/>
            <a:tailEnd type="none" w="med" len="med"/>
          </a:ln>
        </p:spPr>
      </p:cxnSp>
      <p:sp>
        <p:nvSpPr>
          <p:cNvPr id="20" name="AutoShape 20"/>
          <p:cNvSpPr/>
          <p:nvPr/>
        </p:nvSpPr>
        <p:spPr>
          <a:xfrm>
            <a:off x="6350000" y="2794000"/>
            <a:ext cx="2349500" cy="215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采用高内聚低耦合的模块化架构，配套完善的CLI工具链与自动化测试脚本。建立了完整的Benchmark性能基准体系，确保工具在生产环境的稳定性。</a:t>
            </a:r>
            <a:endParaRPr lang="en-US" sz="1100"/>
          </a:p>
        </p:txBody>
      </p:sp>
      <p:sp>
        <p:nvSpPr>
          <p:cNvPr id="21" name="AutoShape 21"/>
          <p:cNvSpPr/>
          <p:nvPr/>
        </p:nvSpPr>
        <p:spPr>
          <a:xfrm>
            <a:off x="9080500" y="1524000"/>
            <a:ext cx="2603500" cy="76200"/>
          </a:xfrm>
          <a:prstGeom prst="roundRect">
            <a:avLst>
              <a:gd name="adj" fmla="val 0"/>
            </a:avLst>
          </a:prstGeom>
          <a:solidFill>
            <a:srgbClr val="F97316">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9080500" y="1714500"/>
            <a:ext cx="2603500" cy="3492500"/>
          </a:xfrm>
          <a:prstGeom prst="roundRect">
            <a:avLst>
              <a:gd name="adj" fmla="val 0"/>
            </a:avLst>
          </a:prstGeom>
          <a:solidFill>
            <a:srgbClr val="FFFFFF">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3" name="Picture 23"/>
          <p:cNvPicPr>
            <a:picLocks noChangeAspect="1"/>
          </p:cNvPicPr>
          <p:nvPr/>
        </p:nvPicPr>
        <p:blipFill>
          <a:blip r:embed="rId4"/>
          <a:srcRect/>
          <a:stretch>
            <a:fillRect/>
          </a:stretch>
        </p:blipFill>
        <p:spPr>
          <a:xfrm>
            <a:off x="9271000" y="1968500"/>
            <a:ext cx="406400" cy="406400"/>
          </a:xfrm>
          <a:prstGeom prst="rect">
            <a:avLst/>
          </a:prstGeom>
          <a:ln w="12700">
            <a:noFill/>
            <a:prstDash val="solid"/>
          </a:ln>
        </p:spPr>
      </p:pic>
      <p:sp>
        <p:nvSpPr>
          <p:cNvPr id="24" name="AutoShape 24"/>
          <p:cNvSpPr/>
          <p:nvPr/>
        </p:nvSpPr>
        <p:spPr>
          <a:xfrm>
            <a:off x="9779000" y="1930400"/>
            <a:ext cx="177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未来演进方向</a:t>
            </a:r>
            <a:endParaRPr lang="en-US" sz="1100"/>
          </a:p>
        </p:txBody>
      </p:sp>
      <p:cxnSp>
        <p:nvCxnSpPr>
          <p:cNvPr id="25" name="Connector 25"/>
          <p:cNvCxnSpPr/>
          <p:nvPr/>
        </p:nvCxnSpPr>
        <p:spPr>
          <a:xfrm rot="-19643">
            <a:off x="9271018" y="2597150"/>
            <a:ext cx="2222500" cy="12700"/>
          </a:xfrm>
          <a:prstGeom prst="straightConnector1">
            <a:avLst/>
          </a:prstGeom>
          <a:solidFill>
            <a:srgbClr val="DEE0E3">
              <a:alpha val="100000"/>
            </a:srgbClr>
          </a:solidFill>
          <a:ln w="12700" cap="flat" cmpd="sng">
            <a:solidFill>
              <a:srgbClr val="F97316">
                <a:alpha val="20000"/>
              </a:srgbClr>
            </a:solidFill>
            <a:prstDash val="dash"/>
            <a:round/>
            <a:headEnd type="none" w="med" len="med"/>
            <a:tailEnd type="none" w="med" len="med"/>
          </a:ln>
        </p:spPr>
      </p:cxnSp>
      <p:sp>
        <p:nvSpPr>
          <p:cNvPr id="26" name="AutoShape 26"/>
          <p:cNvSpPr/>
          <p:nvPr/>
        </p:nvSpPr>
        <p:spPr>
          <a:xfrm>
            <a:off x="9207500" y="2794000"/>
            <a:ext cx="2349500" cy="215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持续优化Attach/Detach的毫秒级延迟；解决状态文件的高并发读写瓶颈；进一步扩展对ARM、RISC-V等异构架构的全面支持，适配更多复杂环境。</a:t>
            </a:r>
            <a:endParaRPr lang="en-US" sz="1100"/>
          </a:p>
        </p:txBody>
      </p:sp>
      <p:cxnSp>
        <p:nvCxnSpPr>
          <p:cNvPr id="27" name="Connector 27"/>
          <p:cNvCxnSpPr/>
          <p:nvPr/>
        </p:nvCxnSpPr>
        <p:spPr>
          <a:xfrm rot="-3906">
            <a:off x="508004" y="5645150"/>
            <a:ext cx="11176000" cy="12700"/>
          </a:xfrm>
          <a:prstGeom prst="straightConnector1">
            <a:avLst/>
          </a:prstGeom>
          <a:solidFill>
            <a:srgbClr val="DEE0E3">
              <a:alpha val="100000"/>
            </a:srgbClr>
          </a:solidFill>
          <a:ln w="12700" cap="flat" cmpd="sng">
            <a:solidFill>
              <a:srgbClr val="1C375D">
                <a:alpha val="15000"/>
              </a:srgbClr>
            </a:solidFill>
            <a:prstDash val="solid"/>
            <a:round/>
            <a:headEnd type="none" w="med" len="med"/>
            <a:tailEnd type="none" w="med" len="med"/>
          </a:ln>
        </p:spPr>
      </p:cxnSp>
      <p:sp>
        <p:nvSpPr>
          <p:cNvPr id="28" name="AutoShape 28"/>
          <p:cNvSpPr/>
          <p:nvPr/>
        </p:nvSpPr>
        <p:spPr>
          <a:xfrm>
            <a:off x="508000" y="5842000"/>
            <a:ext cx="8255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“让函数级动态观测进入生产现场，而不是让生产现场迁就调试工具，实现技术服务于业务的终极目标。”</a:t>
            </a:r>
            <a:endParaRPr lang="en-US" sz="1100"/>
          </a:p>
        </p:txBody>
      </p:sp>
      <p:sp>
        <p:nvSpPr>
          <p:cNvPr id="29" name="AutoShape 29"/>
          <p:cNvSpPr/>
          <p:nvPr/>
        </p:nvSpPr>
        <p:spPr>
          <a:xfrm>
            <a:off x="9080500" y="5905500"/>
            <a:ext cx="2603500" cy="508000"/>
          </a:xfrm>
          <a:prstGeom prst="rect">
            <a:avLst/>
          </a:prstGeom>
          <a:noFill/>
          <a:ln w="12700" cap="flat" cmpd="sng">
            <a:noFill/>
            <a:prstDash val="solid"/>
            <a:round/>
          </a:ln>
        </p:spPr>
        <p:txBody>
          <a:bodyPr vert="horz" wrap="square" lIns="0" tIns="0" rIns="0" bIns="0" rtlCol="0" anchor="ctr">
            <a:noAutofit/>
          </a:bodyPr>
          <a:lstStyle/>
          <a:p>
            <a:pPr marL="0" indent="0" algn="r">
              <a:lnSpc>
                <a:spcPct val="125000"/>
              </a:lnSpc>
              <a:defRPr/>
            </a:pPr>
            <a:r>
              <a:rPr lang="en-US" sz="2000" b="1" i="0" u="none" strike="noStrike">
                <a:solidFill>
                  <a:srgbClr val="1C375D"/>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pic>
        <p:nvPicPr>
          <p:cNvPr id="30" name="Picture 30"/>
          <p:cNvPicPr>
            <a:picLocks noChangeAspect="1"/>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95,&quot;left&quot;:40,&quot;top&quot;:400,&quot;width&quot;:880}"/>
</p:tagLst>
</file>

<file path=ppt/tags/tag2.xml><?xml version="1.0" encoding="utf-8"?>
<p:tagLst xmlns:p="http://schemas.openxmlformats.org/presentationml/2006/main">
  <p:tag name="KSO_WM_DIAGRAM_VIRTUALLY_FRAME" val="{&quot;height&quot;:95,&quot;left&quot;:40,&quot;top&quot;:400,&quot;width&quot;:880}"/>
</p:tagLst>
</file>

<file path=ppt/tags/tag3.xml><?xml version="1.0" encoding="utf-8"?>
<p:tagLst xmlns:p="http://schemas.openxmlformats.org/presentationml/2006/main">
  <p:tag name="KSO_WM_DIAGRAM_VIRTUALLY_FRAME" val="{&quot;height&quot;:95,&quot;left&quot;:40,&quot;top&quot;:400,&quot;width&quot;:880}"/>
</p:tagLst>
</file>

<file path=ppt/tags/tag4.xml><?xml version="1.0" encoding="utf-8"?>
<p:tagLst xmlns:p="http://schemas.openxmlformats.org/presentationml/2006/main">
  <p:tag name="KSO_WM_DIAGRAM_VIRTUALLY_FRAME" val="{&quot;height&quot;:95,&quot;left&quot;:40,&quot;top&quot;:400,&quot;width&quot;:880}"/>
</p:tagLst>
</file>

<file path=ppt/tags/tag5.xml><?xml version="1.0" encoding="utf-8"?>
<p:tagLst xmlns:p="http://schemas.openxmlformats.org/presentationml/2006/main">
  <p:tag name="KSO_WM_DIAGRAM_VIRTUALLY_FRAME" val="{&quot;height&quot;:95,&quot;left&quot;:40,&quot;top&quot;:400,&quot;width&quot;:880}"/>
</p:tagLst>
</file>

<file path=ppt/tags/tag6.xml><?xml version="1.0" encoding="utf-8"?>
<p:tagLst xmlns:p="http://schemas.openxmlformats.org/presentationml/2006/main">
  <p:tag name="KSO_WM_DIAGRAM_VIRTUALLY_FRAME" val="{&quot;height&quot;:95,&quot;left&quot;:40,&quot;top&quot;:400,&quot;width&quot;:880}"/>
</p:tagLst>
</file>

<file path=ppt/tags/tag7.xml><?xml version="1.0" encoding="utf-8"?>
<p:tagLst xmlns:p="http://schemas.openxmlformats.org/presentationml/2006/main">
  <p:tag name="KSO_WM_DIAGRAM_VIRTUALLY_FRAME" val="{&quot;height&quot;:95,&quot;left&quot;:40,&quot;top&quot;:400,&quot;width&quot;:880}"/>
</p:tagLst>
</file>

<file path=ppt/tags/tag8.xml><?xml version="1.0" encoding="utf-8"?>
<p:tagLst xmlns:p="http://schemas.openxmlformats.org/presentationml/2006/main">
  <p:tag name="KSO_WM_DIAGRAM_VIRTUALLY_FRAME" val="{&quot;height&quot;:95,&quot;left&quot;:40,&quot;top&quot;:400,&quot;width&quot;:880}"/>
</p:tagLst>
</file>

<file path=ppt/tags/tag9.xml><?xml version="1.0" encoding="utf-8"?>
<p:tagLst xmlns:p="http://schemas.openxmlformats.org/presentationml/2006/main">
  <p:tag name="KSO_WM_DIAGRAM_VIRTUALLY_FRAME" val="{&quot;height&quot;:95,&quot;left&quot;:40,&quot;top&quot;:400,&quot;width&quot;:880}"/>
</p:tagLst>
</file>

<file path=ppt/tags/tag10.xml><?xml version="1.0" encoding="utf-8"?>
<p:tagLst xmlns:p="http://schemas.openxmlformats.org/presentationml/2006/main">
  <p:tag name="KSO_WM_DIAGRAM_VIRTUALLY_FRAME" val="{&quot;height&quot;:95,&quot;left&quot;:40,&quot;top&quot;:400,&quot;width&quot;:880}"/>
</p:tagLst>
</file>

<file path=ppt/tags/tag11.xml><?xml version="1.0" encoding="utf-8"?>
<p:tagLst xmlns:p="http://schemas.openxmlformats.org/presentationml/2006/main">
  <p:tag name="KSO_WM_DIAGRAM_VIRTUALLY_FRAME" val="{&quot;height&quot;:95,&quot;left&quot;:40,&quot;top&quot;:400,&quot;width&quot;:880}"/>
</p:tagLst>
</file>

<file path=ppt/tags/tag12.xml><?xml version="1.0" encoding="utf-8"?>
<p:tagLst xmlns:p="http://schemas.openxmlformats.org/presentationml/2006/main">
  <p:tag name="KSO_WM_DIAGRAM_VIRTUALLY_FRAME" val="{&quot;height&quot;:95,&quot;left&quot;:40,&quot;top&quot;:400,&quot;width&quot;:8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8108</Words>
  <Application>WPS 演示</Application>
  <PresentationFormat/>
  <Paragraphs>866</Paragraphs>
  <Slides>18</Slides>
  <Notes>0</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18</vt:i4>
      </vt:variant>
    </vt:vector>
  </HeadingPairs>
  <TitlesOfParts>
    <vt:vector size="32" baseType="lpstr">
      <vt:lpstr>Arial</vt:lpstr>
      <vt:lpstr>宋体</vt:lpstr>
      <vt:lpstr>Wingdings</vt:lpstr>
      <vt:lpstr>Arial</vt:lpstr>
      <vt:lpstr>Noto Sans SC</vt:lpstr>
      <vt:lpstr>Songti SC</vt:lpstr>
      <vt:lpstr>Segoe Print</vt:lpstr>
      <vt:lpstr>Source Code Pro</vt:lpstr>
      <vt:lpstr>Consolas</vt:lpstr>
      <vt:lpstr>微软雅黑</vt:lpstr>
      <vt:lpstr>Arial Unicode MS</vt:lpstr>
      <vt:lpstr>Office 主题​​</vt:lpstr>
      <vt:lpstr>默认主题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黎耀辉</cp:lastModifiedBy>
  <cp:revision>1</cp:revision>
  <dcterms:created xsi:type="dcterms:W3CDTF">2026-06-24T09:19:47Z</dcterms:created>
  <dcterms:modified xsi:type="dcterms:W3CDTF">2026-06-24T09:19:47Z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{"Label":"1","ContentProducer":"001191110102MACQD9K64010000","ProduceID":"7654889028266216410","ReservedCode1":"","ContentPropagator":"","PropagateID":"","ReservedCode2":""}</vt:lpwstr>
  </property>
  <property fmtid="{D5CDD505-2E9C-101B-9397-08002B2CF9AE}" pid="3" name="ICV">
    <vt:lpwstr>FF615AFA8FCF49C28B7EE737C3455E11_12</vt:lpwstr>
  </property>
  <property fmtid="{D5CDD505-2E9C-101B-9397-08002B2CF9AE}" pid="4" name="KSOProductBuildVer">
    <vt:lpwstr>2052-12.1.0.26895</vt:lpwstr>
  </property>
</Properties>
</file>